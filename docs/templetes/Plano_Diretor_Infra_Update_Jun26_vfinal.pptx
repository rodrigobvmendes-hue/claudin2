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97" r:id="rId2"/>
    <p:sldId id="294" r:id="rId3"/>
    <p:sldId id="313" r:id="rId4"/>
    <p:sldId id="318" r:id="rId5"/>
    <p:sldId id="319" r:id="rId6"/>
    <p:sldId id="258" r:id="rId7"/>
    <p:sldId id="259" r:id="rId8"/>
    <p:sldId id="282" r:id="rId9"/>
    <p:sldId id="260" r:id="rId10"/>
    <p:sldId id="261" r:id="rId11"/>
    <p:sldId id="262" r:id="rId12"/>
    <p:sldId id="264" r:id="rId13"/>
    <p:sldId id="317" r:id="rId14"/>
    <p:sldId id="310" r:id="rId15"/>
    <p:sldId id="265" r:id="rId16"/>
    <p:sldId id="268" r:id="rId17"/>
    <p:sldId id="269" r:id="rId18"/>
    <p:sldId id="314" r:id="rId19"/>
    <p:sldId id="312" r:id="rId20"/>
    <p:sldId id="270" r:id="rId21"/>
    <p:sldId id="272" r:id="rId22"/>
    <p:sldId id="316" r:id="rId23"/>
    <p:sldId id="271" r:id="rId24"/>
    <p:sldId id="274" r:id="rId25"/>
    <p:sldId id="275" r:id="rId26"/>
    <p:sldId id="278" r:id="rId27"/>
    <p:sldId id="279" r:id="rId28"/>
    <p:sldId id="277" r:id="rId29"/>
    <p:sldId id="276" r:id="rId30"/>
    <p:sldId id="281" r:id="rId31"/>
    <p:sldId id="256" r:id="rId32"/>
    <p:sldId id="284" r:id="rId33"/>
    <p:sldId id="285" r:id="rId34"/>
    <p:sldId id="286" r:id="rId35"/>
    <p:sldId id="287" r:id="rId36"/>
    <p:sldId id="267" r:id="rId37"/>
    <p:sldId id="288" r:id="rId38"/>
    <p:sldId id="283" r:id="rId39"/>
    <p:sldId id="290" r:id="rId40"/>
    <p:sldId id="291" r:id="rId41"/>
    <p:sldId id="293" r:id="rId42"/>
    <p:sldId id="292" r:id="rId43"/>
    <p:sldId id="298" r:id="rId44"/>
    <p:sldId id="315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A4"/>
    <a:srgbClr val="00A859"/>
    <a:srgbClr val="E3E8ED"/>
    <a:srgbClr val="F39A00"/>
    <a:srgbClr val="F7F7F7"/>
    <a:srgbClr val="EB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0ED17-CDF5-48A7-96DA-0C8069059E01}" v="1" dt="2026-06-05T11:35:07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des, Rodrigo (Sao Paulo - BR)" userId="6c5a7a3e-df3e-4015-a3f5-4ea579108eaa" providerId="ADAL" clId="{D798682D-2404-4D53-B893-B0948AE6A9AF}"/>
    <pc:docChg chg="custSel addSld modSld sldOrd">
      <pc:chgData name="Mendes, Rodrigo (Sao Paulo - BR)" userId="6c5a7a3e-df3e-4015-a3f5-4ea579108eaa" providerId="ADAL" clId="{D798682D-2404-4D53-B893-B0948AE6A9AF}" dt="2026-06-05T11:39:44.006" v="72"/>
      <pc:docMkLst>
        <pc:docMk/>
      </pc:docMkLst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5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3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49" creationId="{28385085-49E0-592B-3A97-FD40A3FF605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58" creationId="{71322556-9C69-4567-B275-8DE51095A4C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6"/>
            <ac:spMk id="69" creationId="{0D581117-81DD-18C8-2544-964F06E13C88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5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5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30" creationId="{8A81CD3D-D3AE-5303-8EE1-294E16AB077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36" creationId="{FC3E5F9D-200B-5CB9-6432-5D2A1E56434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43" creationId="{2CE16D21-0DF7-2744-2242-6544267470F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0"/>
            <ac:spMk id="46" creationId="{472F3B7D-6E9A-1421-8228-947E1464434F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4"/>
            <ac:spMk id="21" creationId="{00000000-0000-0000-0000-000000000000}"/>
          </ac:spMkLst>
        </pc:spChg>
      </pc:sldChg>
      <pc:sldChg chg="delSp 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2" creationId="{00000000-0000-0000-0000-000000000000}"/>
          </ac:spMkLst>
        </pc:spChg>
        <pc:spChg chg="del">
          <ac:chgData name="Mendes, Rodrigo (Sao Paulo - BR)" userId="6c5a7a3e-df3e-4015-a3f5-4ea579108eaa" providerId="ADAL" clId="{D798682D-2404-4D53-B893-B0948AE6A9AF}" dt="2026-06-05T02:00:31.663" v="15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12" creationId="{F86C1457-06AF-BFF5-E7CC-D03A3F0E132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35" creationId="{C5A6462B-91B8-A3FE-D590-8399F938B21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0" creationId="{5BD57087-8C1D-B611-8DE2-6E94020B682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4" creationId="{45F29619-2EB6-DE67-08E0-392F4910075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5" creationId="{DD2365B5-C4A5-B57C-8D37-CA40C98F503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47" creationId="{C3B5CC2A-E420-6CF9-4DD9-D4483ED4088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5"/>
            <ac:spMk id="54" creationId="{C7A70805-4322-1138-37B3-FF4CFE238187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3767105462" sldId="26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767105462" sldId="267"/>
            <ac:spMk id="24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5" creationId="{86FF8B82-2580-1F9E-392F-3C143629E18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26" creationId="{A1D2721F-05CE-D15D-D5C4-00F9409B1DE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8"/>
            <ac:spMk id="30" creationId="{F251F014-2174-9108-25EE-371A1D6E14DE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6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69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28" creationId="{EE808338-08FE-7CF5-A824-7403CF5508B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0"/>
            <ac:spMk id="29" creationId="{B2E965CA-C916-1030-FB09-4855A6368EF4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3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43" creationId="{3E474573-0CA4-32F1-BD90-E397F67ACFCF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1"/>
            <ac:spMk id="46" creationId="{7E40B48E-9C20-6734-080A-736F5D378B62}"/>
          </ac:spMkLst>
        </pc:spChg>
      </pc:sldChg>
      <pc:sldChg chg="delSp 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3" creationId="{00000000-0000-0000-0000-000000000000}"/>
          </ac:spMkLst>
        </pc:spChg>
        <pc:spChg chg="del">
          <ac:chgData name="Mendes, Rodrigo (Sao Paulo - BR)" userId="6c5a7a3e-df3e-4015-a3f5-4ea579108eaa" providerId="ADAL" clId="{D798682D-2404-4D53-B893-B0948AE6A9AF}" dt="2026-06-05T01:59:21.027" v="3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Mendes, Rodrigo (Sao Paulo - BR)" userId="6c5a7a3e-df3e-4015-a3f5-4ea579108eaa" providerId="ADAL" clId="{D798682D-2404-4D53-B893-B0948AE6A9AF}" dt="2026-06-05T01:59:19.106" v="2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2"/>
            <ac:spMk id="2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40" creationId="{E432FC40-EA5B-9493-BF82-F702002961E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46" creationId="{12658FAE-CB08-15D6-47F4-815C2E3E429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47" creationId="{0B3E2D78-DA71-D077-DB13-9DB68A642E5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50" creationId="{D5143935-4C73-48BD-2EE3-514F02B44FBE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52" creationId="{5EF9466F-5FEB-BD72-B8B5-A5A42C9F059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4"/>
            <ac:spMk id="57" creationId="{CF5EE566-8E19-4B47-7A01-53CD98F9669A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5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18" creationId="{8AE68F9C-64ED-BA83-5F47-A5BD54E58C6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0" creationId="{667BA38E-21B3-09F0-8849-7F2B29D9C5E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1" creationId="{67456136-0767-9C9E-D929-EF1DB50A372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5" creationId="{4449B47E-13C1-2423-D894-BE605BBB46F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29" creationId="{6DE4ED5D-E053-DF53-0BE7-5A61FC7AE1C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33" creationId="{2A8CA795-A3E6-0F0A-FF37-B05FD37F5E2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6"/>
            <ac:spMk id="36" creationId="{2EA70813-1E88-705A-95A5-82BED0A3D81D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7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8"/>
        </pc:sldMkLst>
        <pc:spChg chg="mod">
          <ac:chgData name="Mendes, Rodrigo (Sao Paulo - BR)" userId="6c5a7a3e-df3e-4015-a3f5-4ea579108eaa" providerId="ADAL" clId="{D798682D-2404-4D53-B893-B0948AE6A9AF}" dt="2026-06-05T02:01:21.945" v="16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8"/>
            <ac:spMk id="34" creationId="{7D1FB35D-F7F5-3CFF-B702-13376172949A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7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79"/>
            <ac:spMk id="2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1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19" creationId="{C734DC1D-6A7F-3AD6-C80D-3894FDB1B9B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22" creationId="{B16B4BF3-87B5-38DE-13D0-D6362484B45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25" creationId="{E3DDC97A-7862-A570-BD9A-7D081B73CF7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31" creationId="{8DED630C-0C37-5C30-4F08-1AC849D734D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2"/>
            <ac:spMk id="36" creationId="{806B1224-2A61-52A0-766E-09E19D08E89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3"/>
            <ac:spMk id="22" creationId="{1C5044AA-8991-1C6B-3766-8C6BF773C25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4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2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2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5"/>
            <ac:spMk id="33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32" creationId="{D2EE33D0-8730-6E5E-A2C3-91FA9E007A9F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34" creationId="{A2185A70-8163-20F9-150B-CD1A802F48A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38" creationId="{18134513-96B1-8FA0-3C26-CD850699795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42" creationId="{7E7B32F1-D255-19E1-0FC0-FCD4B997417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47" creationId="{C6815743-0D43-95E7-C3B1-DD3AA1676D0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48" creationId="{084B9894-0A35-AE23-9E04-7F8926726B1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6"/>
            <ac:spMk id="50" creationId="{3E5E3B92-ACDA-4D83-D12A-47811598152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7"/>
        </pc:sldMkLst>
        <pc:spChg chg="mod">
          <ac:chgData name="Mendes, Rodrigo (Sao Paulo - BR)" userId="6c5a7a3e-df3e-4015-a3f5-4ea579108eaa" providerId="ADAL" clId="{D798682D-2404-4D53-B893-B0948AE6A9AF}" dt="2026-06-05T02:02:18.063" v="52" actId="20577"/>
          <ac:spMkLst>
            <pc:docMk/>
            <pc:sldMk cId="0" sldId="28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7"/>
            <ac:spMk id="20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8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88"/>
            <ac:spMk id="27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0"/>
            <ac:spMk id="11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1"/>
            <ac:spMk id="1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2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3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2"/>
            <ac:spMk id="37" creationId="{00000000-0000-0000-0000-000000000000}"/>
          </ac:spMkLst>
        </pc:spChg>
      </pc:sldChg>
      <pc:sldChg chg="modSp mod ord">
        <pc:chgData name="Mendes, Rodrigo (Sao Paulo - BR)" userId="6c5a7a3e-df3e-4015-a3f5-4ea579108eaa" providerId="ADAL" clId="{D798682D-2404-4D53-B893-B0948AE6A9AF}" dt="2026-06-05T11:39:44.006" v="72"/>
        <pc:sldMkLst>
          <pc:docMk/>
          <pc:sldMk cId="0" sldId="29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2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3"/>
            <ac:spMk id="3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10" creationId="{A3C040E3-1DD7-4DF4-0EE2-8B91A18FF01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11" creationId="{167F9AFC-BEEB-7FAD-18F8-AEFB2DC5C01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4"/>
            <ac:spMk id="29" creationId="{86817D4E-D20B-074C-66DE-18C9403E2D13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15" creationId="{11FDBDCA-E59F-6A6A-F046-93D6F61C2F4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7"/>
            <ac:spMk id="16" creationId="{AC76CBDA-2A32-DC44-4ACE-E95B747D3FD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29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8"/>
            <ac:spMk id="11" creationId="{18380C67-B251-9562-C805-7D0E9697322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298"/>
            <ac:spMk id="13" creationId="{82912EDC-811E-5D2E-7BA7-68BA7C73451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10" creationId="{A3C040E3-1DD7-4DF4-0EE2-8B91A18FF01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12" creationId="{B8F1B981-0EC9-CB35-5B6A-F41983CAAF1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27" creationId="{C775CC4A-8EB3-993E-9CCC-4DFE65659D5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0"/>
            <ac:spMk id="29" creationId="{86817D4E-D20B-074C-66DE-18C9403E2D13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4089308150" sldId="301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3" creationId="{F1483889-1E5C-D0FF-64D3-FC61E4EC4B4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4" creationId="{4A23812B-6705-A7F7-DE9B-943FF6DB158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5" creationId="{2F4C4A4B-C5B4-657C-6DB8-D4FAAC19123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6" creationId="{E1EDF387-189A-E434-B173-60524DD8BC3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7" creationId="{3FC435BE-217F-F702-4F1C-658070D94FB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5" creationId="{6DD4525F-401E-E4CE-E5E8-E8051F56542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6" creationId="{27A0DB10-B179-7821-ED0D-D9CB01A095C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8" creationId="{AF4885F2-7E32-BBD9-F224-175CB11E920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19" creationId="{144BF2B6-626E-0501-5AAA-C18241F19CC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4089308150" sldId="301"/>
            <ac:spMk id="23" creationId="{1948DCC2-AFB2-D9E6-A7F0-DFED0097C4EA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2"/>
            <ac:spMk id="21" creationId="{38DD0F77-A892-80FE-F210-DDDDAD0402C3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37" creationId="{E9C26821-AB26-1E54-2F0E-7182DC881B5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38" creationId="{9CEB2BB6-C5D7-75AD-D240-797EE505EBA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3"/>
            <ac:spMk id="44" creationId="{ED168D7F-9AEC-AEEA-5D5F-5626F83A0BE5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4"/>
            <ac:spMk id="1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2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3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5"/>
            <ac:spMk id="3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1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35" creationId="{F160028A-FF57-0D7A-63B4-B14C6C35C3B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36" creationId="{EFBE276D-8533-9A95-58DB-4E546018810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37" creationId="{672E5074-685C-892B-9400-F767EF7E326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44" creationId="{63C2CD12-27B1-6EA4-4A09-E1E2924E5D2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48" creationId="{FD6E67FB-E37F-ACBB-F898-06E791F6465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6"/>
            <ac:spMk id="58" creationId="{35C6C562-7EBF-51EC-5BAE-E7473860CE9B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7"/>
            <ac:spMk id="16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2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3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3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3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4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8"/>
            <ac:spMk id="43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09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9"/>
            <ac:spMk id="11" creationId="{18380C67-B251-9562-C805-7D0E9697322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09"/>
            <ac:spMk id="13" creationId="{82912EDC-811E-5D2E-7BA7-68BA7C73451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0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0:15.619" v="14" actId="1036"/>
          <ac:spMkLst>
            <pc:docMk/>
            <pc:sldMk cId="0" sldId="310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0"/>
            <ac:spMk id="25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2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1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1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2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2"/>
            <ac:spMk id="3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306002723" sldId="313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4" creationId="{4A23812B-6705-A7F7-DE9B-943FF6DB158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9" creationId="{A2698C46-5606-C7A9-5CD6-B7EE59E91C8F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4" creationId="{D5D6B4F2-803C-5050-6FCE-15CE3462F31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5" creationId="{6DD4525F-401E-E4CE-E5E8-E8051F56542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8" creationId="{AF4885F2-7E32-BBD9-F224-175CB11E9202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19" creationId="{144BF2B6-626E-0501-5AAA-C18241F19CCD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23" creationId="{1948DCC2-AFB2-D9E6-A7F0-DFED0097C4E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29" creationId="{B59FFFD0-1F41-D5CA-6285-D19D7A49B3EB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31" creationId="{B426AC2F-A6A6-461B-33C7-964CB61DC4F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306002723" sldId="313"/>
            <ac:spMk id="35" creationId="{D841A7EB-F9F9-DE50-9E3A-27AE9AD3DF6E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630022570" sldId="314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1" creationId="{B94C25CE-A2B1-30AC-1516-9DE2F8BE2A3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2" creationId="{29116018-59F9-00AF-331C-C931E0F0CC1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3" creationId="{8A1D9089-B889-1837-AFFA-3CE4B3F1694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4" creationId="{226C8C9D-6D5C-AE7D-B6C5-40D8A46CFD6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16" creationId="{3C4134AE-32CC-ABFA-F644-C4B76BF2F0E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2" creationId="{798351E1-4557-5B04-6BFD-49C203078B7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4" creationId="{1A54A24F-D384-A537-1542-C24D83639138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5" creationId="{B487AA25-26F3-BE43-FC1A-E18411FBCCF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6" creationId="{7BF8B46B-A856-844B-4D5F-0F7DC74EEE41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630022570" sldId="314"/>
            <ac:spMk id="27" creationId="{6E1A11DF-CCC6-17FA-5896-E27BEA2D4AF5}"/>
          </ac:spMkLst>
        </pc:spChg>
        <pc:spChg chg="mod">
          <ac:chgData name="Mendes, Rodrigo (Sao Paulo - BR)" userId="6c5a7a3e-df3e-4015-a3f5-4ea579108eaa" providerId="ADAL" clId="{D798682D-2404-4D53-B893-B0948AE6A9AF}" dt="2026-06-05T01:59:04.756" v="1" actId="20577"/>
          <ac:spMkLst>
            <pc:docMk/>
            <pc:sldMk cId="630022570" sldId="314"/>
            <ac:spMk id="32" creationId="{D8EE02AF-C8D0-9C30-2444-D51C15E82A9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5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9" creationId="{9C7C124E-4B13-EC80-A5FA-58CFABE8945C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10" creationId="{A35BFF97-18AA-702F-588D-1D6403A10BD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5"/>
            <ac:spMk id="11" creationId="{0BCB4D5A-1B52-4755-0F42-4028F1BC3979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0" sldId="316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4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8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1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20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21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6"/>
            <ac:spMk id="22" creationId="{00000000-0000-0000-0000-000000000000}"/>
          </ac:spMkLst>
        </pc:spChg>
      </pc:sldChg>
      <pc:sldChg chg="modSp mod">
        <pc:chgData name="Mendes, Rodrigo (Sao Paulo - BR)" userId="6c5a7a3e-df3e-4015-a3f5-4ea579108eaa" providerId="ADAL" clId="{D798682D-2404-4D53-B893-B0948AE6A9AF}" dt="2026-06-05T02:03:21.623" v="53" actId="790"/>
        <pc:sldMkLst>
          <pc:docMk/>
          <pc:sldMk cId="1017938741" sldId="317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2" creationId="{0CE0DBED-5CD2-8E55-C00B-AEA78189E73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3" creationId="{FDC9AA80-E3DC-61AA-0A94-B79901B26E16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5" creationId="{B74DC388-1627-AEDF-7280-7F738A6E5BD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6" creationId="{C4E87ACA-BB9A-CE41-187E-5B12EF6BBD39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0" creationId="{C1809D0C-B51F-FA09-6D31-CC460F494357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1" creationId="{8423ACFB-1E5D-04E7-C213-184B08239F03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4" creationId="{A84F6235-EB8B-8DA3-7B1E-692E20DE1EF4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7" creationId="{A9055CBA-11D0-C243-93EB-01C2F51EDEEA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19" creationId="{9A3B4138-9029-935A-B38F-386C52A534C5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1017938741" sldId="317"/>
            <ac:spMk id="21" creationId="{6698BC8B-0DE6-0589-56C8-FE77BE445B39}"/>
          </ac:spMkLst>
        </pc:spChg>
      </pc:sldChg>
      <pc:sldChg chg="modSp mod ord">
        <pc:chgData name="Mendes, Rodrigo (Sao Paulo - BR)" userId="6c5a7a3e-df3e-4015-a3f5-4ea579108eaa" providerId="ADAL" clId="{D798682D-2404-4D53-B893-B0948AE6A9AF}" dt="2026-06-05T11:35:11.643" v="56"/>
        <pc:sldMkLst>
          <pc:docMk/>
          <pc:sldMk cId="0" sldId="318"/>
        </pc:sldMkLst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23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3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5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6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7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77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79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82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8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02:03:21.623" v="53" actId="790"/>
          <ac:spMkLst>
            <pc:docMk/>
            <pc:sldMk cId="0" sldId="318"/>
            <ac:spMk id="90" creationId="{00000000-0000-0000-0000-000000000000}"/>
          </ac:spMkLst>
        </pc:spChg>
      </pc:sldChg>
      <pc:sldChg chg="modSp add mod setBg">
        <pc:chgData name="Mendes, Rodrigo (Sao Paulo - BR)" userId="6c5a7a3e-df3e-4015-a3f5-4ea579108eaa" providerId="ADAL" clId="{D798682D-2404-4D53-B893-B0948AE6A9AF}" dt="2026-06-05T11:39:23.151" v="70" actId="20577"/>
        <pc:sldMkLst>
          <pc:docMk/>
          <pc:sldMk cId="0" sldId="319"/>
        </pc:sldMkLst>
        <pc:spChg chg="mod">
          <ac:chgData name="Mendes, Rodrigo (Sao Paulo - BR)" userId="6c5a7a3e-df3e-4015-a3f5-4ea579108eaa" providerId="ADAL" clId="{D798682D-2404-4D53-B893-B0948AE6A9AF}" dt="2026-06-05T11:35:45.965" v="57" actId="14100"/>
          <ac:spMkLst>
            <pc:docMk/>
            <pc:sldMk cId="0" sldId="319"/>
            <ac:spMk id="5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11:39:23.151" v="70" actId="20577"/>
          <ac:spMkLst>
            <pc:docMk/>
            <pc:sldMk cId="0" sldId="319"/>
            <ac:spMk id="26" creationId="{00000000-0000-0000-0000-000000000000}"/>
          </ac:spMkLst>
        </pc:spChg>
        <pc:spChg chg="mod">
          <ac:chgData name="Mendes, Rodrigo (Sao Paulo - BR)" userId="6c5a7a3e-df3e-4015-a3f5-4ea579108eaa" providerId="ADAL" clId="{D798682D-2404-4D53-B893-B0948AE6A9AF}" dt="2026-06-05T11:36:34.321" v="69" actId="20577"/>
          <ac:spMkLst>
            <pc:docMk/>
            <pc:sldMk cId="0" sldId="319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D9088-C760-42EE-84EC-089A45496872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5C67C-62D4-47E3-8437-CAC07D8CE2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51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283B-2F41-3269-BE63-931F8F7D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A452E-49C4-C51E-06DA-B47C82CF6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4977B-F603-8E3D-8737-6350A24B4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Visão</a:t>
            </a:r>
            <a:r>
              <a:rPr lang="en-US" dirty="0"/>
              <a:t> de Cluster de </a:t>
            </a:r>
            <a:r>
              <a:rPr lang="en-US" dirty="0" err="1"/>
              <a:t>localidade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flags</a:t>
            </a:r>
          </a:p>
          <a:p>
            <a:r>
              <a:rPr lang="en-US" dirty="0"/>
              <a:t>Bloco de red flags e yellow flag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3735-E68D-337D-090E-F2A0CF89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4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B40A-7854-E300-1BF7-19FF0749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D4295-26BA-93BB-E6ED-620A5335C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375D9-7BFA-1A7A-B823-C44AB9EE4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04E4A-D3C7-3E01-3EB8-D02EBC35C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55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23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283B-2F41-3269-BE63-931F8F7D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A452E-49C4-C51E-06DA-B47C82CF6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4977B-F603-8E3D-8737-6350A24B4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Visão</a:t>
            </a:r>
            <a:r>
              <a:rPr lang="en-US" dirty="0"/>
              <a:t> de Cluster de </a:t>
            </a:r>
            <a:r>
              <a:rPr lang="en-US" dirty="0" err="1"/>
              <a:t>localidade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flags</a:t>
            </a:r>
          </a:p>
          <a:p>
            <a:r>
              <a:rPr lang="en-US" dirty="0"/>
              <a:t>Bloco de red flags e yellow flag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3735-E68D-337D-090E-F2A0CF89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45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8B96D-33D4-6359-8891-E31EAA6D5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C40BB8-41BC-273C-C4F3-F933615D3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9A1436-A257-69FA-FAF7-2AF0C7A8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A2C267-EBB3-4458-F719-737DD71A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56A3A7-8769-9895-CDC4-39C55549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AB9CC-1ED5-2248-90FD-4E83766F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85E65F-E993-96E3-D480-8389D072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9C358B-26D1-4BC1-D27A-80298C4E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20D54F-BD59-C5A6-B937-D04AC8F7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CE5147-F54F-34DE-1A37-F645AEDD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39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F215D-58A7-3544-1AFA-A6318364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01B5E9-3523-35ED-9C95-24C2A9FDF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010C06-3189-8C22-A197-60D91AB6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0C1135-D8EC-AC12-2C99-EC07EEB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F84FD6-EAA5-D974-9B21-57C9FF15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36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5A747-A699-5CAB-5630-3CC8B44D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75984-7AEF-968E-4317-D5419351D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D31998-FA67-D7A0-F214-4213A6683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A9FEC4-515E-1C4D-A78E-BE14F6D4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7F4A0D-4CC8-38E6-8E24-8E3BFF59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07DE14-BB17-AC7C-AA2D-97420F9B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701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47F92-BE4B-D834-5144-DEEA29F6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9F2CDC-30BD-14FF-6550-52E9A9D39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577170-8B39-2F8E-2165-80C4C354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A37159-6A0A-3EC8-F0DA-CF7CEFFDE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CEB60C-251D-A466-2FEA-32674C7C4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5A3DCC-D9E4-FABD-AB9D-B7FC2ED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F7478E-E60C-BE0F-C6A9-CFCA95CD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2827EF-8B01-31D3-E7D9-A6F4CA77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78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4B238-142B-9364-C4CD-1BB88AEC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1687C6-589D-9B0C-92FA-2BEBC879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BC40DC-F520-6F18-6AF8-99FDC8B3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F05A6D-B68B-9A4E-C2CD-50E7FDE0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87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FE046D-C4F4-2138-5A22-55782436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E48242-B278-CA5A-23F2-388FC492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77B6D1-F990-F439-F134-8FDB6DB4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93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77FB3-E50C-3D26-CC72-6D15E429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83ADE9-6B82-7AE4-1A91-E06CA2CC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E389C6-C892-B68B-8F2E-DFFA1E71A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31E98E-C803-75F2-87C9-AEFAFF09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8538BB-3B16-4D79-9543-90EF7BAC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238C5C-98FA-78E1-DFB9-23372C3A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17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2EC30-C08B-1ACA-B281-D5C206837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FFB051-E085-629C-EE7A-77E702D66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042059-15F1-0DE2-FE55-0C3560DD3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DCEED8-D9BA-18A6-9D78-D1768B4F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A4DC75-7718-7B04-D6EB-F89C73B8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33D35C-2960-1DCA-EF04-929EC403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72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F77D8-7FE9-6674-2FFC-E3011BC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422244-199F-C3E1-E212-83C4364AA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D84393-A025-BD06-1057-6717FDFD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D7FB83-4A9E-1F9B-D95D-B8040133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23840A-1891-C1C0-F5F9-3EBF3798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4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812F49-EC07-1820-389E-8C27D7675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7466D6-0865-1206-DB35-3449DA263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336B96-2337-43CF-74C7-2927244C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03660-4BDD-31C8-D123-45EA9AB93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70985E-6139-D37A-BB61-A444DF9A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369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470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80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6ECB83F-747B-7422-B6C6-117BED8D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72E897-9C4F-D820-EE3D-2D8316EEE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C92AEE-B8EE-9D58-100F-E1610F0E5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C3CC4-12C8-48A6-BA6E-1FB6B397400E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2A241E-8521-4E39-D64D-256072EE5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9249B5-35E0-A1A5-5365-670AC6CF6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71229-763E-4740-A17A-EB18819F31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2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1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0366B">
              <a:alpha val="85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4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DSTL</a:t>
            </a:r>
            <a:endParaRPr lang="pt-BR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</a:t>
            </a:r>
          </a:p>
          <a:p>
            <a:pPr marL="0" indent="0" algn="l"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Diretor de Infraestrutura</a:t>
            </a:r>
            <a:endParaRPr lang="pt-BR" sz="3800" noProof="0" dirty="0"/>
          </a:p>
        </p:txBody>
      </p:sp>
      <p:sp>
        <p:nvSpPr>
          <p:cNvPr id="14" name="Text 11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/ 2026   ·   Confidencial   ·   Reunião com CEO</a:t>
            </a:r>
            <a:endParaRPr lang="pt-BR" sz="1100" noProof="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1FDBDCA-E59F-6A6A-F046-93D6F61C2F4A}"/>
              </a:ext>
            </a:extLst>
          </p:cNvPr>
          <p:cNvSpPr/>
          <p:nvPr/>
        </p:nvSpPr>
        <p:spPr>
          <a:xfrm>
            <a:off x="640080" y="3952701"/>
            <a:ext cx="64008" cy="7315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C76CBDA-2A32-DC44-4ACE-E95B747D3FD5}"/>
              </a:ext>
            </a:extLst>
          </p:cNvPr>
          <p:cNvSpPr/>
          <p:nvPr/>
        </p:nvSpPr>
        <p:spPr>
          <a:xfrm>
            <a:off x="868680" y="3678381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2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E89E322-C575-F675-611E-6CC86ADAAD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955" r="100000">
                        <a14:foregroundMark x1="12947" y1="44737" x2="20297" y2="46805"/>
                        <a14:foregroundMark x1="20297" y1="46805" x2="34053" y2="63910"/>
                        <a14:foregroundMark x1="34053" y1="63910" x2="32839" y2="42669"/>
                        <a14:foregroundMark x1="32839" y1="42669" x2="24680" y2="33459"/>
                        <a14:foregroundMark x1="22320" y1="30827" x2="21915" y2="31015"/>
                        <a14:foregroundMark x1="21645" y1="20301" x2="16183" y2="38910"/>
                        <a14:foregroundMark x1="17802" y1="22932" x2="12812" y2="40977"/>
                        <a14:foregroundMark x1="16521" y1="24624" x2="23264" y2="17293"/>
                        <a14:foregroundMark x1="23264" y1="17293" x2="28591" y2="17105"/>
                        <a14:foregroundMark x1="28591" y1="17105" x2="31895" y2="28759"/>
                        <a14:foregroundMark x1="31895" y1="28759" x2="37626" y2="37782"/>
                        <a14:foregroundMark x1="37626" y1="37782" x2="36952" y2="23120"/>
                        <a14:foregroundMark x1="36952" y1="23120" x2="29737" y2="5639"/>
                        <a14:foregroundMark x1="29737" y1="5639" x2="14498" y2="3195"/>
                        <a14:foregroundMark x1="14498" y1="3195" x2="9238" y2="5263"/>
                        <a14:foregroundMark x1="9238" y1="5263" x2="6541" y2="21429"/>
                        <a14:foregroundMark x1="6541" y1="21429" x2="13688" y2="41353"/>
                        <a14:foregroundMark x1="13688" y1="41353" x2="19488" y2="45113"/>
                        <a14:foregroundMark x1="21915" y1="66541" x2="27242" y2="63534"/>
                        <a14:foregroundMark x1="27242" y1="63534" x2="30411" y2="75940"/>
                        <a14:foregroundMark x1="30411" y1="75940" x2="22185" y2="92293"/>
                        <a14:foregroundMark x1="22185" y1="92293" x2="12407" y2="81579"/>
                        <a14:foregroundMark x1="12407" y1="81579" x2="9845" y2="93797"/>
                        <a14:foregroundMark x1="9845" y1="93797" x2="2090" y2="95865"/>
                        <a14:foregroundMark x1="2090" y1="95865" x2="9373" y2="64662"/>
                        <a14:foregroundMark x1="9373" y1="64662" x2="25624" y2="68421"/>
                        <a14:foregroundMark x1="12272" y1="96617" x2="11800" y2="99812"/>
                        <a14:foregroundMark x1="11598" y1="96805" x2="13419" y2="99812"/>
                        <a14:foregroundMark x1="11598" y1="96805" x2="11396" y2="97556"/>
                        <a14:foregroundMark x1="7755" y1="94549" x2="2765" y2="99812"/>
                        <a14:foregroundMark x1="12407" y1="94361" x2="18341" y2="99812"/>
                        <a14:foregroundMark x1="12407" y1="94361" x2="7283" y2="94737"/>
                        <a14:foregroundMark x1="4788" y1="15602" x2="0" y2="44173"/>
                        <a14:foregroundMark x1="4855" y1="15602" x2="9440" y2="3571"/>
                        <a14:foregroundMark x1="9440" y1="3571" x2="20364" y2="1692"/>
                        <a14:foregroundMark x1="20364" y1="1692" x2="28658" y2="3195"/>
                        <a14:foregroundMark x1="28658" y1="3195" x2="51382" y2="940"/>
                        <a14:foregroundMark x1="51382" y1="940" x2="61767" y2="2068"/>
                        <a14:foregroundMark x1="61767" y1="2068" x2="67229" y2="1880"/>
                        <a14:foregroundMark x1="67229" y1="1880" x2="73702" y2="4511"/>
                        <a14:foregroundMark x1="73702" y1="4511" x2="98045" y2="50940"/>
                        <a14:foregroundMark x1="98045" y1="50940" x2="99933" y2="57331"/>
                        <a14:foregroundMark x1="46527" y1="69361" x2="48618" y2="73684"/>
                        <a14:foregroundMark x1="15779" y1="73496" x2="2967" y2="71805"/>
                        <a14:foregroundMark x1="2967" y1="71805" x2="12475" y2="78383"/>
                        <a14:foregroundMark x1="12475" y1="78383" x2="15846" y2="73684"/>
                        <a14:foregroundMark x1="39919" y1="37406" x2="35941" y2="40602"/>
                        <a14:foregroundMark x1="35941" y1="40602" x2="41133" y2="45113"/>
                        <a14:foregroundMark x1="41133" y1="45113" x2="39649" y2="36278"/>
                        <a14:foregroundMark x1="37761" y1="38158" x2="30276" y2="31767"/>
                        <a14:foregroundMark x1="30276" y1="31767" x2="27377" y2="49060"/>
                        <a14:foregroundMark x1="27377" y1="49060" x2="29467" y2="63534"/>
                        <a14:foregroundMark x1="29467" y1="63534" x2="35941" y2="64286"/>
                        <a14:foregroundMark x1="35941" y1="64286" x2="38436" y2="42857"/>
                        <a14:foregroundMark x1="38436" y1="42857" x2="36615" y2="31955"/>
                        <a14:foregroundMark x1="36615" y1="31955" x2="36615" y2="31955"/>
                        <a14:foregroundMark x1="35131" y1="37970" x2="35334" y2="53759"/>
                        <a14:foregroundMark x1="35334" y1="53759" x2="35941" y2="56579"/>
                        <a14:foregroundMark x1="30614" y1="46617" x2="33311" y2="54887"/>
                        <a14:foregroundMark x1="35401" y1="99248" x2="38638" y2="99812"/>
                        <a14:foregroundMark x1="35334" y1="99248" x2="34929" y2="99812"/>
                        <a14:foregroundMark x1="37222" y1="63910" x2="26433" y2="99812"/>
                        <a14:foregroundMark x1="37289" y1="63910" x2="44774" y2="3759"/>
                        <a14:foregroundMark x1="49899" y1="0" x2="44774" y2="3571"/>
                        <a14:foregroundMark x1="51382" y1="0" x2="68914" y2="13158"/>
                        <a14:foregroundMark x1="68982" y1="13346" x2="80445" y2="32895"/>
                        <a14:foregroundMark x1="80445" y1="32895" x2="84019" y2="46429"/>
                        <a14:foregroundMark x1="84019" y1="46429" x2="97235" y2="52444"/>
                        <a14:foregroundMark x1="97235" y1="52444" x2="99933" y2="63534"/>
                        <a14:foregroundMark x1="99933" y1="65602" x2="91301" y2="84023"/>
                        <a14:foregroundMark x1="91301" y1="84211" x2="72286" y2="85902"/>
                        <a14:foregroundMark x1="72218" y1="85902" x2="67498" y2="99812"/>
                        <a14:foregroundMark x1="61117" y1="18263" x2="58647" y2="44311"/>
                        <a14:foregroundMark x1="58647" y1="44311" x2="54672" y2="47006"/>
                        <a14:foregroundMark x1="58110" y1="8683" x2="49946" y2="20359"/>
                        <a14:foregroundMark x1="49946" y1="20359" x2="44253" y2="52695"/>
                        <a14:foregroundMark x1="44253" y1="52695" x2="46079" y2="70659"/>
                        <a14:foregroundMark x1="46079" y1="70659" x2="45972" y2="75749"/>
                        <a14:foregroundMark x1="42857" y1="67066" x2="50161" y2="94012"/>
                        <a14:foregroundMark x1="50161" y1="94012" x2="62299" y2="89820"/>
                        <a14:foregroundMark x1="62299" y1="89820" x2="60473" y2="64970"/>
                        <a14:foregroundMark x1="60473" y1="64970" x2="47261" y2="64970"/>
                        <a14:foregroundMark x1="47261" y1="64970" x2="45220" y2="68862"/>
                        <a14:foregroundMark x1="54243" y1="73353" x2="60580" y2="70958"/>
                        <a14:foregroundMark x1="74221" y1="84132" x2="69817" y2="93413"/>
                        <a14:foregroundMark x1="69817" y1="93413" x2="67777" y2="94012"/>
                        <a14:foregroundMark x1="73899" y1="87425" x2="67669" y2="95210"/>
                        <a14:foregroundMark x1="67669" y1="95210" x2="67562" y2="94910"/>
                        <a14:foregroundMark x1="73362" y1="88323" x2="68743" y2="98503"/>
                        <a14:foregroundMark x1="73040" y1="6287" x2="65199" y2="7186"/>
                        <a14:foregroundMark x1="65199" y1="7186" x2="70569" y2="5689"/>
                        <a14:foregroundMark x1="70569" y1="5689" x2="65736" y2="7186"/>
                        <a14:foregroundMark x1="85070" y1="59281" x2="83566" y2="79641"/>
                        <a14:foregroundMark x1="83566" y1="79641" x2="93018" y2="73952"/>
                        <a14:foregroundMark x1="93018" y1="73952" x2="95489" y2="67066"/>
                        <a14:foregroundMark x1="98389" y1="64371" x2="88507" y2="69760"/>
                        <a14:foregroundMark x1="88507" y1="69760" x2="88937" y2="73054"/>
                        <a14:backgroundMark x1="90627" y1="1880" x2="91234" y2="16917"/>
                        <a14:backgroundMark x1="91234" y1="16917" x2="93931" y2="29699"/>
                        <a14:backgroundMark x1="93931" y1="29699" x2="98989" y2="21805"/>
                        <a14:backgroundMark x1="99933" y1="9586" x2="98989" y2="21617"/>
                        <a14:backgroundMark x1="88739" y1="188" x2="99933" y2="1504"/>
                        <a14:backgroundMark x1="88739" y1="188" x2="90627" y2="6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874" y="1883502"/>
            <a:ext cx="8565498" cy="30771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3061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estratégico e gargalos de infraestrutura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comercial depende de infraestrutura disponível nas praças certas. Este mapa é a régua: onde a cor é azul escuro, qualquer gargalo logístico vira custo estratégico. Bandeiras vermelhas em três frentes: alto custo no N/NE, capacidade restrita em praças prioritárias e dependência de operador único. Mapa calibrado pelo Plano de Expansão Comercial.</a:t>
            </a:r>
            <a:endParaRPr lang="pt-BR" sz="1150" noProof="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A627AA4-3386-ED36-EF95-2EABC1C4C81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6923" l="2347" r="100000">
                        <a14:foregroundMark x1="18026" y1="0" x2="13595" y2="59333"/>
                        <a14:foregroundMark x1="13595" y1="60000" x2="21349" y2="56667"/>
                        <a14:foregroundMark x1="21349" y1="56667" x2="23464" y2="9333"/>
                        <a14:foregroundMark x1="21148" y1="0" x2="23364" y2="8667"/>
                        <a14:foregroundMark x1="3927" y1="0" x2="101" y2="8667"/>
                        <a14:foregroundMark x1="101" y1="9333" x2="1410" y2="75333"/>
                        <a14:foregroundMark x1="1410" y1="75333" x2="16918" y2="92000"/>
                        <a14:foregroundMark x1="16918" y1="92000" x2="32830" y2="79333"/>
                        <a14:foregroundMark x1="32830" y1="79333" x2="30715" y2="4000"/>
                        <a14:foregroundMark x1="28902" y1="0" x2="30614" y2="3333"/>
                        <a14:foregroundMark x1="80363" y1="73333" x2="99899" y2="79333"/>
                        <a14:foregroundMark x1="80363" y1="73333" x2="73817" y2="91333"/>
                        <a14:foregroundMark x1="73817" y1="91333" x2="6949" y2="96000"/>
                        <a14:foregroundMark x1="0" y1="70000" x2="6848" y2="95333"/>
                        <a14:foregroundMark x1="0" y1="69333" x2="0" y2="69333"/>
                        <a14:foregroundMark x1="63243" y1="0" x2="98892" y2="14000"/>
                        <a14:foregroundMark x1="52064" y1="0" x2="45821" y2="16667"/>
                        <a14:foregroundMark x1="45821" y1="17333" x2="38872" y2="7333"/>
                        <a14:foregroundMark x1="39778" y1="0" x2="38872" y2="6667"/>
                        <a14:foregroundMark x1="99899" y1="8667" x2="97583" y2="24000"/>
                        <a14:foregroundMark x1="97583" y1="24667" x2="96576" y2="25333"/>
                        <a14:foregroundMark x1="4695" y1="10769" x2="3521" y2="70769"/>
                        <a14:foregroundMark x1="5869" y1="4615" x2="2347" y2="1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0567" y="5208359"/>
            <a:ext cx="4857703" cy="757316"/>
          </a:xfrm>
          <a:prstGeom prst="rect">
            <a:avLst/>
          </a:prstGeom>
        </p:spPr>
      </p:pic>
      <p:sp>
        <p:nvSpPr>
          <p:cNvPr id="29" name="Rectangle 1">
            <a:extLst>
              <a:ext uri="{FF2B5EF4-FFF2-40B4-BE49-F238E27FC236}">
                <a16:creationId xmlns:a16="http://schemas.microsoft.com/office/drawing/2014/main" id="{86817D4E-D20B-074C-66DE-18C9403E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3629" y="5965675"/>
            <a:ext cx="130837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Categorias Plano de Expansão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Regiões Prioritárias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Defesa de </a:t>
            </a:r>
            <a:r>
              <a:rPr kumimoji="0" lang="pt-BR" sz="600" b="0" i="0" u="none" strike="noStrike" cap="none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Expansão Seletiva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Sem foco</a:t>
            </a:r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A3C040E3-1DD7-4DF4-0EE2-8B91A18FF01B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167F9AFC-BEEB-7FAD-18F8-AEFB2DC5C018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E395-656B-9C5B-B6C5-D3A03906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8">
            <a:extLst>
              <a:ext uri="{FF2B5EF4-FFF2-40B4-BE49-F238E27FC236}">
                <a16:creationId xmlns:a16="http://schemas.microsoft.com/office/drawing/2014/main" id="{27A0DB10-B179-7821-ED0D-D9CB01A095C8}"/>
              </a:ext>
            </a:extLst>
          </p:cNvPr>
          <p:cNvSpPr/>
          <p:nvPr/>
        </p:nvSpPr>
        <p:spPr>
          <a:xfrm>
            <a:off x="457200" y="5711044"/>
            <a:ext cx="11192439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5C651F3-AF81-E0C6-1E61-11EDC972CA04}"/>
              </a:ext>
            </a:extLst>
          </p:cNvPr>
          <p:cNvSpPr/>
          <p:nvPr/>
        </p:nvSpPr>
        <p:spPr>
          <a:xfrm>
            <a:off x="457201" y="5711044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483889-1E5C-D0FF-64D3-FC61E4EC4B49}"/>
              </a:ext>
            </a:extLst>
          </p:cNvPr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23812B-6705-A7F7-DE9B-943FF6DB158A}"/>
              </a:ext>
            </a:extLst>
          </p:cNvPr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estratégico e gargalos</a:t>
            </a:r>
            <a:endParaRPr lang="pt-BR" sz="2400" noProof="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4525F-401E-E4CE-E5E8-E8051F565427}"/>
              </a:ext>
            </a:extLst>
          </p:cNvPr>
          <p:cNvSpPr txBox="1"/>
          <p:nvPr/>
        </p:nvSpPr>
        <p:spPr>
          <a:xfrm>
            <a:off x="530536" y="5724387"/>
            <a:ext cx="11018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noProof="0" dirty="0"/>
              <a:t>Garantir infraestrutura competitiva nos mercados certos. As regiões em amarelo e vermelho indicam onde o crescimento depende de negociação, expansão, cessão de espaço ou solução estrutural antes da execução comercial.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F4885F2-7E32-BBD9-F224-175CB11E9202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44BF2B6-626E-0501-5AAA-C18241F19CCD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948DCC2-AFB2-D9E6-A7F0-DFED0097C4EA}"/>
              </a:ext>
            </a:extLst>
          </p:cNvPr>
          <p:cNvSpPr txBox="1"/>
          <p:nvPr/>
        </p:nvSpPr>
        <p:spPr>
          <a:xfrm>
            <a:off x="359014" y="975934"/>
            <a:ext cx="4018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Regiões Prioritárias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999214E-BCCD-25D8-CF68-41FD02BE8437}"/>
              </a:ext>
            </a:extLst>
          </p:cNvPr>
          <p:cNvSpPr txBox="1"/>
          <p:nvPr/>
        </p:nvSpPr>
        <p:spPr>
          <a:xfrm>
            <a:off x="4099598" y="970090"/>
            <a:ext cx="377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Expansão Seletiva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D176418-D368-D6E6-64F9-05F76E8BB1BB}"/>
              </a:ext>
            </a:extLst>
          </p:cNvPr>
          <p:cNvSpPr txBox="1"/>
          <p:nvPr/>
        </p:nvSpPr>
        <p:spPr>
          <a:xfrm>
            <a:off x="8289518" y="975934"/>
            <a:ext cx="3274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Defesa de </a:t>
            </a:r>
            <a:r>
              <a:rPr lang="pt-BR" sz="1400" b="1" noProof="0" dirty="0" err="1"/>
              <a:t>Share</a:t>
            </a:r>
            <a:endParaRPr lang="pt-BR" sz="1400" b="1" noProof="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2698C46-5606-C7A9-5CD6-B7EE59E91C8F}"/>
              </a:ext>
            </a:extLst>
          </p:cNvPr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3061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366629E6-5B0B-F45E-69C8-4B4154749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85783"/>
              </p:ext>
            </p:extLst>
          </p:nvPr>
        </p:nvGraphicFramePr>
        <p:xfrm>
          <a:off x="4149725" y="1266275"/>
          <a:ext cx="3670300" cy="4230434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5343739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63550955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949097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409934184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5214739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204204601"/>
                    </a:ext>
                  </a:extLst>
                </a:gridCol>
              </a:tblGrid>
              <a:tr h="28773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048319"/>
                  </a:ext>
                </a:extLst>
              </a:tr>
              <a:tr h="2255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SAO LUIS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18,1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167459"/>
                  </a:ext>
                </a:extLst>
              </a:tr>
              <a:tr h="2255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ACAILANDIA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5,1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8,3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00896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BELEM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6,8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853361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BRASILIA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28,7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06001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RONDONOPOLIS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655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CUIABA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6900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ARAUCARIA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3,8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7,1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12511"/>
                  </a:ext>
                </a:extLst>
              </a:tr>
              <a:tr h="2255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CANOAS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15,5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30030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RIO GRANDE*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11225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DUQUE DE CAXIAS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117,0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26,2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79469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GUARULHOS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113,0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2202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 J RIO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49,0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77622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CUBATAO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3929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 J CAMPOS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35835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RIBEIRAO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60734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OURINHOS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66337"/>
                  </a:ext>
                </a:extLst>
              </a:tr>
              <a:tr h="23329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SAO CAETANO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030782"/>
                  </a:ext>
                </a:extLst>
              </a:tr>
            </a:tbl>
          </a:graphicData>
        </a:graphic>
      </p:graphicFrame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D115A8F1-0F30-4438-D8B2-C0D64D7D1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56954"/>
              </p:ext>
            </p:extLst>
          </p:nvPr>
        </p:nvGraphicFramePr>
        <p:xfrm>
          <a:off x="8289518" y="1248897"/>
          <a:ext cx="3670300" cy="183486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14720688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421272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6269570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92029193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0892177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84643049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5910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MACEIO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98991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19,5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3,4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077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SAO FCO DO CONDE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8,7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6086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ITABUNA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641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JEQUIE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29308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TERESINA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759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PORTO NACIONAL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10,6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03020"/>
                  </a:ext>
                </a:extLst>
              </a:tr>
            </a:tbl>
          </a:graphicData>
        </a:graphic>
      </p:graphicFrame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1947AD6C-4100-2FD2-28D9-61E01B188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04003"/>
              </p:ext>
            </p:extLst>
          </p:nvPr>
        </p:nvGraphicFramePr>
        <p:xfrm>
          <a:off x="356077" y="1266275"/>
          <a:ext cx="3364757" cy="4150504"/>
        </p:xfrm>
        <a:graphic>
          <a:graphicData uri="http://schemas.openxmlformats.org/drawingml/2006/table">
            <a:tbl>
              <a:tblPr/>
              <a:tblGrid>
                <a:gridCol w="841714">
                  <a:extLst>
                    <a:ext uri="{9D8B030D-6E8A-4147-A177-3AD203B41FA5}">
                      <a16:colId xmlns:a16="http://schemas.microsoft.com/office/drawing/2014/main" val="2910527551"/>
                    </a:ext>
                  </a:extLst>
                </a:gridCol>
                <a:gridCol w="438790">
                  <a:extLst>
                    <a:ext uri="{9D8B030D-6E8A-4147-A177-3AD203B41FA5}">
                      <a16:colId xmlns:a16="http://schemas.microsoft.com/office/drawing/2014/main" val="1793133095"/>
                    </a:ext>
                  </a:extLst>
                </a:gridCol>
                <a:gridCol w="536299">
                  <a:extLst>
                    <a:ext uri="{9D8B030D-6E8A-4147-A177-3AD203B41FA5}">
                      <a16:colId xmlns:a16="http://schemas.microsoft.com/office/drawing/2014/main" val="938040557"/>
                    </a:ext>
                  </a:extLst>
                </a:gridCol>
                <a:gridCol w="499733">
                  <a:extLst>
                    <a:ext uri="{9D8B030D-6E8A-4147-A177-3AD203B41FA5}">
                      <a16:colId xmlns:a16="http://schemas.microsoft.com/office/drawing/2014/main" val="449453953"/>
                    </a:ext>
                  </a:extLst>
                </a:gridCol>
                <a:gridCol w="548488">
                  <a:extLst>
                    <a:ext uri="{9D8B030D-6E8A-4147-A177-3AD203B41FA5}">
                      <a16:colId xmlns:a16="http://schemas.microsoft.com/office/drawing/2014/main" val="1265389030"/>
                    </a:ext>
                  </a:extLst>
                </a:gridCol>
                <a:gridCol w="499733">
                  <a:extLst>
                    <a:ext uri="{9D8B030D-6E8A-4147-A177-3AD203B41FA5}">
                      <a16:colId xmlns:a16="http://schemas.microsoft.com/office/drawing/2014/main" val="9344302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2026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2026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2030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2030 (m³)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542433"/>
                  </a:ext>
                </a:extLst>
              </a:tr>
              <a:tr h="2050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BETIM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108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76,4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114,2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891962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MONTES CLAROS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322484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GOV VAL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009102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UBERLANDIA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46771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UBERABA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0,3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0,5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20163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FORTALEZA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4,0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9,8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899711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CRATO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3,9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704862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CABEDELO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8,0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13,1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01601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IPOJUCA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14,0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9,6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20,0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443371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GUAMARE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55,9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9,7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17,8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528776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GOIANIA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75,0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14,3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24,3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30636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RIO VERDE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541543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ITAJAI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5,0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7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11,7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71409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BIGUACU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92973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GUARAMIRIM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0,4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0" i="0" u="none" strike="noStrike" noProof="0" dirty="0">
                          <a:solidFill>
                            <a:srgbClr val="00A859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16139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LAGES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7,2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2,6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56102"/>
                  </a:ext>
                </a:extLst>
              </a:tr>
              <a:tr h="2189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VITORIA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Carlito"/>
                        </a:rPr>
                        <a:t>8,0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Carlito"/>
                        </a:rPr>
                        <a:t>7,9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12,8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600737"/>
                  </a:ext>
                </a:extLst>
              </a:tr>
              <a:tr h="2116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PAULINIA POOL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40,1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11,8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17,2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3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313" marR="7313" marT="7313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896252"/>
                  </a:ext>
                </a:extLst>
              </a:tr>
            </a:tbl>
          </a:graphicData>
        </a:graphic>
      </p:graphicFrame>
      <p:sp>
        <p:nvSpPr>
          <p:cNvPr id="28" name="CaixaDeTexto 27">
            <a:extLst>
              <a:ext uri="{FF2B5EF4-FFF2-40B4-BE49-F238E27FC236}">
                <a16:creationId xmlns:a16="http://schemas.microsoft.com/office/drawing/2014/main" id="{A74D2FDF-B41D-E330-93D4-8AE91A388D35}"/>
              </a:ext>
            </a:extLst>
          </p:cNvPr>
          <p:cNvSpPr txBox="1"/>
          <p:nvPr/>
        </p:nvSpPr>
        <p:spPr>
          <a:xfrm rot="16200000">
            <a:off x="-166903" y="1860320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MG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9FFFD0-1F41-D5CA-6285-D19D7A49B3EB}"/>
              </a:ext>
            </a:extLst>
          </p:cNvPr>
          <p:cNvSpPr txBox="1"/>
          <p:nvPr/>
        </p:nvSpPr>
        <p:spPr>
          <a:xfrm rot="16200000">
            <a:off x="-166903" y="2923809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NNE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77F4927-7D90-B96E-059B-25955179D667}"/>
              </a:ext>
            </a:extLst>
          </p:cNvPr>
          <p:cNvSpPr txBox="1"/>
          <p:nvPr/>
        </p:nvSpPr>
        <p:spPr>
          <a:xfrm rot="16200000">
            <a:off x="-166903" y="3801377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CO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426AC2F-A6A6-461B-33C7-964CB61DC4F4}"/>
              </a:ext>
            </a:extLst>
          </p:cNvPr>
          <p:cNvSpPr txBox="1"/>
          <p:nvPr/>
        </p:nvSpPr>
        <p:spPr>
          <a:xfrm rot="16200000">
            <a:off x="-166903" y="4334916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SUL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41CDAC9-76AF-D836-9143-25A705735DD4}"/>
              </a:ext>
            </a:extLst>
          </p:cNvPr>
          <p:cNvSpPr txBox="1"/>
          <p:nvPr/>
        </p:nvSpPr>
        <p:spPr>
          <a:xfrm rot="16200000">
            <a:off x="-166903" y="5128300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191714-B8FA-6DFF-F057-B1041ADCD211}"/>
              </a:ext>
            </a:extLst>
          </p:cNvPr>
          <p:cNvSpPr txBox="1"/>
          <p:nvPr/>
        </p:nvSpPr>
        <p:spPr>
          <a:xfrm rot="16200000">
            <a:off x="7762100" y="2082779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NNE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52A9C1-3CFF-2C80-4DA0-8C75C4CDD925}"/>
              </a:ext>
            </a:extLst>
          </p:cNvPr>
          <p:cNvSpPr txBox="1"/>
          <p:nvPr/>
        </p:nvSpPr>
        <p:spPr>
          <a:xfrm rot="16200000">
            <a:off x="3642547" y="4334915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DC0295-43C1-1770-1F3C-DFF564C3115B}"/>
              </a:ext>
            </a:extLst>
          </p:cNvPr>
          <p:cNvSpPr txBox="1"/>
          <p:nvPr/>
        </p:nvSpPr>
        <p:spPr>
          <a:xfrm rot="16200000">
            <a:off x="3642547" y="3141235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SUL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D6B4F2-803C-5050-6FCE-15CE3462F318}"/>
              </a:ext>
            </a:extLst>
          </p:cNvPr>
          <p:cNvSpPr txBox="1"/>
          <p:nvPr/>
        </p:nvSpPr>
        <p:spPr>
          <a:xfrm rot="16200000">
            <a:off x="3642547" y="2393885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1C99B2D-1A06-8AA9-585E-49990BAFD816}"/>
              </a:ext>
            </a:extLst>
          </p:cNvPr>
          <p:cNvSpPr txBox="1"/>
          <p:nvPr/>
        </p:nvSpPr>
        <p:spPr>
          <a:xfrm rot="16200000">
            <a:off x="3642547" y="1736302"/>
            <a:ext cx="688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noProof="0" dirty="0">
                <a:solidFill>
                  <a:srgbClr val="002B66"/>
                </a:solidFill>
              </a:rPr>
              <a:t>NNE</a:t>
            </a:r>
          </a:p>
        </p:txBody>
      </p:sp>
      <p:pic>
        <p:nvPicPr>
          <p:cNvPr id="3074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0ECBA512-65FB-ECFD-BEE4-C3EADDAEA8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1597223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0AE2ECF4-2E90-02D5-AD5F-802F0FCC83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2206617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A383CA49-C0A7-4798-0BE5-354CD35EFC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2670099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717B0A1E-40BF-4DDC-5A22-DC3798B84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4190459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7212E806-8A29-4AA9-AFE4-1B1CD4815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4398143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2674FB03-0D5C-67AE-6BDF-B3A6848F8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3556834" y="5036533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C8E43DC0-EC8B-92A8-A630-02893D496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7661177" y="2057832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7F170D2F-4C89-780C-6C1F-996769174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7661177" y="4385926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Lâmpada desenhada à mão Sinal de ideia conceito de pensamento de solução |  Vetor Premium">
            <a:extLst>
              <a:ext uri="{FF2B5EF4-FFF2-40B4-BE49-F238E27FC236}">
                <a16:creationId xmlns:a16="http://schemas.microsoft.com/office/drawing/2014/main" id="{3B3CC5D6-2593-A6BE-724E-06C38A662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26" t="29232" r="32611" b="19409"/>
          <a:stretch>
            <a:fillRect/>
          </a:stretch>
        </p:blipFill>
        <p:spPr bwMode="auto">
          <a:xfrm>
            <a:off x="457200" y="6364420"/>
            <a:ext cx="100465" cy="1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D841A7EB-F9F9-DE50-9E3A-27AE9AD3DF6E}"/>
              </a:ext>
            </a:extLst>
          </p:cNvPr>
          <p:cNvSpPr txBox="1"/>
          <p:nvPr/>
        </p:nvSpPr>
        <p:spPr>
          <a:xfrm>
            <a:off x="512096" y="6300785"/>
            <a:ext cx="11082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i="1" noProof="0" dirty="0"/>
              <a:t>Localidades que já possuem desenho da solução</a:t>
            </a:r>
          </a:p>
        </p:txBody>
      </p:sp>
    </p:spTree>
    <p:extLst>
      <p:ext uri="{BB962C8B-B14F-4D97-AF65-F5344CB8AC3E}">
        <p14:creationId xmlns:p14="http://schemas.microsoft.com/office/powerpoint/2010/main" val="3060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457200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b="1" kern="0" spc="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246888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— todas as frentes por pilar</a:t>
            </a:r>
            <a:endParaRPr lang="pt-B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2487168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 Bases Próprias · visão estrutural consolidada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575304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575304" cy="457200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3346704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621792" y="2066544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786384" y="202082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Açailândia / LEM · MA</a:t>
            </a:r>
            <a:endParaRPr lang="pt-BR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786384" y="221742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Escrituração em curso</a:t>
            </a:r>
            <a:endParaRPr lang="pt-BR" sz="800" noProof="0" dirty="0"/>
          </a:p>
        </p:txBody>
      </p:sp>
      <p:sp>
        <p:nvSpPr>
          <p:cNvPr id="14" name="Shape 12"/>
          <p:cNvSpPr/>
          <p:nvPr/>
        </p:nvSpPr>
        <p:spPr>
          <a:xfrm>
            <a:off x="621792" y="2476195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86384" y="243047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Pecém — DISLUB · CE</a:t>
            </a:r>
            <a:endParaRPr lang="pt-BR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786384" y="262707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recebida · NDA assinado</a:t>
            </a:r>
            <a:endParaRPr lang="pt-BR" sz="800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" y="2885846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86384" y="284012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Stang · SC</a:t>
            </a:r>
            <a:endParaRPr lang="pt-BR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786384" y="303672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Alavanca</a:t>
            </a:r>
            <a:endParaRPr lang="pt-BR" sz="800" noProof="0" dirty="0"/>
          </a:p>
        </p:txBody>
      </p:sp>
      <p:sp>
        <p:nvSpPr>
          <p:cNvPr id="20" name="Shape 18"/>
          <p:cNvSpPr/>
          <p:nvPr/>
        </p:nvSpPr>
        <p:spPr>
          <a:xfrm>
            <a:off x="621792" y="3295498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86384" y="324977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Grupo Ávila · SC</a:t>
            </a:r>
            <a:endParaRPr lang="pt-BR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786384" y="344637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avançando (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800" noProof="0" dirty="0"/>
          </a:p>
        </p:txBody>
      </p:sp>
      <p:sp>
        <p:nvSpPr>
          <p:cNvPr id="23" name="Shape 21"/>
          <p:cNvSpPr/>
          <p:nvPr/>
        </p:nvSpPr>
        <p:spPr>
          <a:xfrm>
            <a:off x="621792" y="3705149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786384" y="3659429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Atlântica + Santa Rosa · ES</a:t>
            </a:r>
            <a:endParaRPr lang="pt-BR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786384" y="3856025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paralelas</a:t>
            </a:r>
            <a:endParaRPr lang="pt-BR" sz="800" noProof="0" dirty="0"/>
          </a:p>
        </p:txBody>
      </p:sp>
      <p:sp>
        <p:nvSpPr>
          <p:cNvPr id="26" name="Shape 24"/>
          <p:cNvSpPr/>
          <p:nvPr/>
        </p:nvSpPr>
        <p:spPr>
          <a:xfrm>
            <a:off x="621792" y="4114800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86384" y="406908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SPE Navegantes · ES</a:t>
            </a:r>
            <a:endParaRPr lang="pt-BR" sz="950" noProof="0" dirty="0"/>
          </a:p>
        </p:txBody>
      </p:sp>
      <p:sp>
        <p:nvSpPr>
          <p:cNvPr id="28" name="Text 26"/>
          <p:cNvSpPr/>
          <p:nvPr/>
        </p:nvSpPr>
        <p:spPr>
          <a:xfrm>
            <a:off x="786384" y="426567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assinatura</a:t>
            </a:r>
            <a:endParaRPr lang="pt-BR" sz="800" noProof="0" dirty="0"/>
          </a:p>
        </p:txBody>
      </p:sp>
      <p:sp>
        <p:nvSpPr>
          <p:cNvPr id="29" name="Shape 27"/>
          <p:cNvSpPr/>
          <p:nvPr/>
        </p:nvSpPr>
        <p:spPr>
          <a:xfrm>
            <a:off x="621792" y="4524451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/>
          <p:nvPr/>
        </p:nvSpPr>
        <p:spPr>
          <a:xfrm>
            <a:off x="786384" y="4478731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SC · SP · MT</a:t>
            </a:r>
            <a:endParaRPr lang="pt-BR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786384" y="4675327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assinado · 3 frentes</a:t>
            </a:r>
            <a:endParaRPr lang="pt-BR" sz="800" noProof="0" dirty="0"/>
          </a:p>
        </p:txBody>
      </p:sp>
      <p:sp>
        <p:nvSpPr>
          <p:cNvPr id="32" name="Shape 30"/>
          <p:cNvSpPr/>
          <p:nvPr/>
        </p:nvSpPr>
        <p:spPr>
          <a:xfrm>
            <a:off x="621792" y="4934102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786384" y="488838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Caxias / EFEN · RJ</a:t>
            </a:r>
            <a:endParaRPr lang="pt-BR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786384" y="508497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fechado</a:t>
            </a:r>
            <a:endParaRPr lang="pt-BR" sz="800" noProof="0" dirty="0"/>
          </a:p>
        </p:txBody>
      </p:sp>
      <p:sp>
        <p:nvSpPr>
          <p:cNvPr id="35" name="Shape 33"/>
          <p:cNvSpPr/>
          <p:nvPr/>
        </p:nvSpPr>
        <p:spPr>
          <a:xfrm>
            <a:off x="621792" y="5343754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Text 34"/>
          <p:cNvSpPr/>
          <p:nvPr/>
        </p:nvSpPr>
        <p:spPr>
          <a:xfrm>
            <a:off x="786384" y="529803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(Rede SIM) · GO</a:t>
            </a:r>
            <a:endParaRPr lang="pt-BR" sz="950" noProof="0" dirty="0"/>
          </a:p>
        </p:txBody>
      </p:sp>
      <p:sp>
        <p:nvSpPr>
          <p:cNvPr id="37" name="Text 35"/>
          <p:cNvSpPr/>
          <p:nvPr/>
        </p:nvSpPr>
        <p:spPr>
          <a:xfrm>
            <a:off x="786384" y="549463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50/50 acordado</a:t>
            </a:r>
            <a:endParaRPr lang="pt-BR" sz="800" noProof="0" dirty="0"/>
          </a:p>
        </p:txBody>
      </p:sp>
      <p:sp>
        <p:nvSpPr>
          <p:cNvPr id="38" name="Shape 36"/>
          <p:cNvSpPr/>
          <p:nvPr/>
        </p:nvSpPr>
        <p:spPr>
          <a:xfrm>
            <a:off x="621792" y="5753405"/>
            <a:ext cx="82296" cy="82296"/>
          </a:xfrm>
          <a:prstGeom prst="rect">
            <a:avLst/>
          </a:prstGeom>
          <a:solidFill>
            <a:srgbClr val="1B3A5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Text 37"/>
          <p:cNvSpPr/>
          <p:nvPr/>
        </p:nvSpPr>
        <p:spPr>
          <a:xfrm>
            <a:off x="786384" y="570768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Maria — Rede SIM · RS</a:t>
            </a:r>
            <a:endParaRPr lang="pt-BR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786384" y="590428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avaliação comercial</a:t>
            </a:r>
            <a:endParaRPr lang="pt-BR" sz="800" noProof="0" dirty="0"/>
          </a:p>
        </p:txBody>
      </p:sp>
      <p:sp>
        <p:nvSpPr>
          <p:cNvPr id="41" name="Shape 39"/>
          <p:cNvSpPr/>
          <p:nvPr/>
        </p:nvSpPr>
        <p:spPr>
          <a:xfrm>
            <a:off x="4306824" y="1417320"/>
            <a:ext cx="3575304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42" name="Shape 40"/>
          <p:cNvSpPr/>
          <p:nvPr/>
        </p:nvSpPr>
        <p:spPr>
          <a:xfrm>
            <a:off x="4306824" y="1417320"/>
            <a:ext cx="3575304" cy="457200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3" name="Text 41"/>
          <p:cNvSpPr/>
          <p:nvPr/>
        </p:nvSpPr>
        <p:spPr>
          <a:xfrm>
            <a:off x="4471416" y="1417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1300" noProof="0" dirty="0"/>
          </a:p>
        </p:txBody>
      </p:sp>
      <p:sp>
        <p:nvSpPr>
          <p:cNvPr id="44" name="Text 42"/>
          <p:cNvSpPr/>
          <p:nvPr/>
        </p:nvSpPr>
        <p:spPr>
          <a:xfrm>
            <a:off x="7196328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700" noProof="0" dirty="0"/>
          </a:p>
        </p:txBody>
      </p:sp>
      <p:sp>
        <p:nvSpPr>
          <p:cNvPr id="45" name="Shape 43"/>
          <p:cNvSpPr/>
          <p:nvPr/>
        </p:nvSpPr>
        <p:spPr>
          <a:xfrm>
            <a:off x="4471416" y="2066544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6" name="Text 44"/>
          <p:cNvSpPr/>
          <p:nvPr/>
        </p:nvSpPr>
        <p:spPr>
          <a:xfrm>
            <a:off x="4636008" y="202082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· MG</a:t>
            </a:r>
            <a:endParaRPr lang="pt-BR" sz="950" noProof="0" dirty="0"/>
          </a:p>
        </p:txBody>
      </p:sp>
      <p:sp>
        <p:nvSpPr>
          <p:cNvPr id="47" name="Text 45"/>
          <p:cNvSpPr/>
          <p:nvPr/>
        </p:nvSpPr>
        <p:spPr>
          <a:xfrm>
            <a:off x="4636008" y="221742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execução</a:t>
            </a:r>
            <a:endParaRPr lang="pt-BR" sz="800" noProof="0" dirty="0"/>
          </a:p>
        </p:txBody>
      </p:sp>
      <p:sp>
        <p:nvSpPr>
          <p:cNvPr id="48" name="Shape 46"/>
          <p:cNvSpPr/>
          <p:nvPr/>
        </p:nvSpPr>
        <p:spPr>
          <a:xfrm>
            <a:off x="4471416" y="2476195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9" name="Text 47"/>
          <p:cNvSpPr/>
          <p:nvPr/>
        </p:nvSpPr>
        <p:spPr>
          <a:xfrm>
            <a:off x="4636008" y="243047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+ Cubatão + Belém — IPP · MG·SP·PA</a:t>
            </a:r>
            <a:endParaRPr lang="pt-BR" sz="950" noProof="0" dirty="0"/>
          </a:p>
        </p:txBody>
      </p:sp>
      <p:sp>
        <p:nvSpPr>
          <p:cNvPr id="50" name="Text 48"/>
          <p:cNvSpPr/>
          <p:nvPr/>
        </p:nvSpPr>
        <p:spPr>
          <a:xfrm>
            <a:off x="4636008" y="262707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minuta contratual · −R$3,8MM</a:t>
            </a:r>
            <a:endParaRPr lang="pt-BR" sz="800" noProof="0" dirty="0"/>
          </a:p>
        </p:txBody>
      </p:sp>
      <p:sp>
        <p:nvSpPr>
          <p:cNvPr id="51" name="Shape 49"/>
          <p:cNvSpPr/>
          <p:nvPr/>
        </p:nvSpPr>
        <p:spPr>
          <a:xfrm>
            <a:off x="4471416" y="2885846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50"/>
          <p:cNvSpPr/>
          <p:nvPr/>
        </p:nvSpPr>
        <p:spPr>
          <a:xfrm>
            <a:off x="4636008" y="284012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Uberlândia — RUMOS · MG</a:t>
            </a:r>
            <a:endParaRPr lang="pt-BR" sz="950" noProof="0" dirty="0"/>
          </a:p>
        </p:txBody>
      </p:sp>
      <p:sp>
        <p:nvSpPr>
          <p:cNvPr id="53" name="Text 51"/>
          <p:cNvSpPr/>
          <p:nvPr/>
        </p:nvSpPr>
        <p:spPr>
          <a:xfrm>
            <a:off x="4636008" y="303672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· go/no-go 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800" noProof="0" dirty="0"/>
          </a:p>
        </p:txBody>
      </p:sp>
      <p:sp>
        <p:nvSpPr>
          <p:cNvPr id="54" name="Shape 52"/>
          <p:cNvSpPr/>
          <p:nvPr/>
        </p:nvSpPr>
        <p:spPr>
          <a:xfrm>
            <a:off x="4471416" y="3295498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5" name="Text 53"/>
          <p:cNvSpPr/>
          <p:nvPr/>
        </p:nvSpPr>
        <p:spPr>
          <a:xfrm>
            <a:off x="4636008" y="324977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Luís + Teresina + PN — Granel · MA·PI·TO</a:t>
            </a:r>
            <a:endParaRPr lang="pt-BR" sz="950" noProof="0" dirty="0"/>
          </a:p>
        </p:txBody>
      </p:sp>
      <p:sp>
        <p:nvSpPr>
          <p:cNvPr id="56" name="Text 54"/>
          <p:cNvSpPr/>
          <p:nvPr/>
        </p:nvSpPr>
        <p:spPr>
          <a:xfrm>
            <a:off x="4636008" y="344637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· Alçada Conselho</a:t>
            </a:r>
            <a:endParaRPr lang="pt-BR" sz="800" noProof="0" dirty="0"/>
          </a:p>
        </p:txBody>
      </p:sp>
      <p:sp>
        <p:nvSpPr>
          <p:cNvPr id="57" name="Shape 55"/>
          <p:cNvSpPr/>
          <p:nvPr/>
        </p:nvSpPr>
        <p:spPr>
          <a:xfrm>
            <a:off x="4471416" y="3705149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8" name="Text 56"/>
          <p:cNvSpPr/>
          <p:nvPr/>
        </p:nvSpPr>
        <p:spPr>
          <a:xfrm>
            <a:off x="4636008" y="3659429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Suape — Ultracargo · PE</a:t>
            </a:r>
            <a:endParaRPr lang="pt-BR" sz="950" noProof="0" dirty="0"/>
          </a:p>
        </p:txBody>
      </p:sp>
      <p:sp>
        <p:nvSpPr>
          <p:cNvPr id="59" name="Text 57"/>
          <p:cNvSpPr/>
          <p:nvPr/>
        </p:nvSpPr>
        <p:spPr>
          <a:xfrm>
            <a:off x="4636008" y="3856025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concluído · Alçada Conselho</a:t>
            </a:r>
            <a:endParaRPr lang="pt-BR" sz="800" noProof="0" dirty="0"/>
          </a:p>
        </p:txBody>
      </p:sp>
      <p:sp>
        <p:nvSpPr>
          <p:cNvPr id="60" name="Shape 58"/>
          <p:cNvSpPr/>
          <p:nvPr/>
        </p:nvSpPr>
        <p:spPr>
          <a:xfrm>
            <a:off x="4471416" y="4114800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1" name="Text 59"/>
          <p:cNvSpPr/>
          <p:nvPr/>
        </p:nvSpPr>
        <p:spPr>
          <a:xfrm>
            <a:off x="4636008" y="406908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OPASC — Transpetro · SC</a:t>
            </a:r>
            <a:endParaRPr lang="pt-BR" sz="950" noProof="0" dirty="0"/>
          </a:p>
        </p:txBody>
      </p:sp>
      <p:sp>
        <p:nvSpPr>
          <p:cNvPr id="62" name="Text 60"/>
          <p:cNvSpPr/>
          <p:nvPr/>
        </p:nvSpPr>
        <p:spPr>
          <a:xfrm>
            <a:off x="4636008" y="426567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validação de minutas</a:t>
            </a:r>
            <a:endParaRPr lang="pt-BR" sz="800" noProof="0" dirty="0"/>
          </a:p>
        </p:txBody>
      </p:sp>
      <p:sp>
        <p:nvSpPr>
          <p:cNvPr id="63" name="Shape 61"/>
          <p:cNvSpPr/>
          <p:nvPr/>
        </p:nvSpPr>
        <p:spPr>
          <a:xfrm>
            <a:off x="4471416" y="4524451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4" name="Text 62"/>
          <p:cNvSpPr/>
          <p:nvPr/>
        </p:nvSpPr>
        <p:spPr>
          <a:xfrm>
            <a:off x="4636008" y="4478731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SC</a:t>
            </a:r>
            <a:endParaRPr lang="pt-BR" sz="950" noProof="0" dirty="0"/>
          </a:p>
        </p:txBody>
      </p:sp>
      <p:sp>
        <p:nvSpPr>
          <p:cNvPr id="65" name="Text 63"/>
          <p:cNvSpPr/>
          <p:nvPr/>
        </p:nvSpPr>
        <p:spPr>
          <a:xfrm>
            <a:off x="4636008" y="4675327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do volume</a:t>
            </a:r>
            <a:endParaRPr lang="pt-BR" sz="800" noProof="0" dirty="0"/>
          </a:p>
        </p:txBody>
      </p:sp>
      <p:sp>
        <p:nvSpPr>
          <p:cNvPr id="66" name="Shape 64"/>
          <p:cNvSpPr/>
          <p:nvPr/>
        </p:nvSpPr>
        <p:spPr>
          <a:xfrm>
            <a:off x="4471416" y="4934102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7" name="Text 65"/>
          <p:cNvSpPr/>
          <p:nvPr/>
        </p:nvSpPr>
        <p:spPr>
          <a:xfrm>
            <a:off x="4636008" y="488838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</a:t>
            </a:r>
            <a:r>
              <a:rPr lang="pt-BR" sz="9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ES</a:t>
            </a:r>
            <a:endParaRPr lang="pt-BR" sz="950" noProof="0" dirty="0"/>
          </a:p>
        </p:txBody>
      </p:sp>
      <p:sp>
        <p:nvSpPr>
          <p:cNvPr id="68" name="Text 66"/>
          <p:cNvSpPr/>
          <p:nvPr/>
        </p:nvSpPr>
        <p:spPr>
          <a:xfrm>
            <a:off x="4636008" y="508497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ativa</a:t>
            </a:r>
            <a:endParaRPr lang="pt-BR" sz="800" noProof="0" dirty="0"/>
          </a:p>
        </p:txBody>
      </p:sp>
      <p:sp>
        <p:nvSpPr>
          <p:cNvPr id="69" name="Shape 67"/>
          <p:cNvSpPr/>
          <p:nvPr/>
        </p:nvSpPr>
        <p:spPr>
          <a:xfrm>
            <a:off x="4471416" y="5343754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0" name="Text 68"/>
          <p:cNvSpPr/>
          <p:nvPr/>
        </p:nvSpPr>
        <p:spPr>
          <a:xfrm>
            <a:off x="4636008" y="529803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Torrão → OPLA · SP</a:t>
            </a:r>
            <a:endParaRPr lang="pt-BR" sz="950" noProof="0" dirty="0"/>
          </a:p>
        </p:txBody>
      </p:sp>
      <p:sp>
        <p:nvSpPr>
          <p:cNvPr id="71" name="Text 69"/>
          <p:cNvSpPr/>
          <p:nvPr/>
        </p:nvSpPr>
        <p:spPr>
          <a:xfrm>
            <a:off x="4636008" y="549463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em curso</a:t>
            </a:r>
            <a:endParaRPr lang="pt-BR" sz="800" noProof="0" dirty="0"/>
          </a:p>
        </p:txBody>
      </p:sp>
      <p:sp>
        <p:nvSpPr>
          <p:cNvPr id="72" name="Shape 70"/>
          <p:cNvSpPr/>
          <p:nvPr/>
        </p:nvSpPr>
        <p:spPr>
          <a:xfrm>
            <a:off x="4471416" y="5753405"/>
            <a:ext cx="82296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3" name="Text 71"/>
          <p:cNvSpPr/>
          <p:nvPr/>
        </p:nvSpPr>
        <p:spPr>
          <a:xfrm>
            <a:off x="4636008" y="570768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Paulínia + SJRP · SP</a:t>
            </a:r>
            <a:endParaRPr lang="pt-BR" sz="950" noProof="0" dirty="0"/>
          </a:p>
        </p:txBody>
      </p:sp>
      <p:sp>
        <p:nvSpPr>
          <p:cNvPr id="74" name="Text 72"/>
          <p:cNvSpPr/>
          <p:nvPr/>
        </p:nvSpPr>
        <p:spPr>
          <a:xfrm>
            <a:off x="4636008" y="590428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 (3 frentes)</a:t>
            </a:r>
            <a:endParaRPr lang="pt-BR" sz="800" noProof="0" dirty="0"/>
          </a:p>
        </p:txBody>
      </p:sp>
      <p:sp>
        <p:nvSpPr>
          <p:cNvPr id="75" name="Shape 73"/>
          <p:cNvSpPr/>
          <p:nvPr/>
        </p:nvSpPr>
        <p:spPr>
          <a:xfrm>
            <a:off x="8156448" y="1417320"/>
            <a:ext cx="3575304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76" name="Shape 74"/>
          <p:cNvSpPr/>
          <p:nvPr/>
        </p:nvSpPr>
        <p:spPr>
          <a:xfrm>
            <a:off x="8156448" y="1417320"/>
            <a:ext cx="3575304" cy="457200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7" name="Text 75"/>
          <p:cNvSpPr/>
          <p:nvPr/>
        </p:nvSpPr>
        <p:spPr>
          <a:xfrm>
            <a:off x="8321040" y="1417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1300" noProof="0" dirty="0"/>
          </a:p>
        </p:txBody>
      </p:sp>
      <p:sp>
        <p:nvSpPr>
          <p:cNvPr id="78" name="Text 76"/>
          <p:cNvSpPr/>
          <p:nvPr/>
        </p:nvSpPr>
        <p:spPr>
          <a:xfrm>
            <a:off x="11045952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700" noProof="0" dirty="0"/>
          </a:p>
        </p:txBody>
      </p:sp>
      <p:sp>
        <p:nvSpPr>
          <p:cNvPr id="79" name="Shape 77"/>
          <p:cNvSpPr/>
          <p:nvPr/>
        </p:nvSpPr>
        <p:spPr>
          <a:xfrm>
            <a:off x="8321040" y="2066544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0" name="Text 78"/>
          <p:cNvSpPr/>
          <p:nvPr/>
        </p:nvSpPr>
        <p:spPr>
          <a:xfrm>
            <a:off x="8485632" y="202082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Rio Grande · RS</a:t>
            </a:r>
            <a:endParaRPr lang="pt-BR" sz="950" noProof="0" dirty="0"/>
          </a:p>
        </p:txBody>
      </p:sp>
      <p:sp>
        <p:nvSpPr>
          <p:cNvPr id="81" name="Text 79"/>
          <p:cNvSpPr/>
          <p:nvPr/>
        </p:nvSpPr>
        <p:spPr>
          <a:xfrm>
            <a:off x="8485632" y="221742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pt-BR" sz="800" noProof="0" dirty="0"/>
          </a:p>
        </p:txBody>
      </p:sp>
      <p:sp>
        <p:nvSpPr>
          <p:cNvPr id="82" name="Shape 80"/>
          <p:cNvSpPr/>
          <p:nvPr/>
        </p:nvSpPr>
        <p:spPr>
          <a:xfrm>
            <a:off x="8321040" y="2476195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3" name="Text 81"/>
          <p:cNvSpPr/>
          <p:nvPr/>
        </p:nvSpPr>
        <p:spPr>
          <a:xfrm>
            <a:off x="8485632" y="2430475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Uberaba · MG</a:t>
            </a:r>
            <a:endParaRPr lang="pt-BR" sz="950" noProof="0" dirty="0"/>
          </a:p>
        </p:txBody>
      </p:sp>
      <p:sp>
        <p:nvSpPr>
          <p:cNvPr id="84" name="Text 82"/>
          <p:cNvSpPr/>
          <p:nvPr/>
        </p:nvSpPr>
        <p:spPr>
          <a:xfrm>
            <a:off x="8485632" y="2627071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final</a:t>
            </a:r>
            <a:endParaRPr lang="pt-BR" sz="800" noProof="0" dirty="0"/>
          </a:p>
        </p:txBody>
      </p:sp>
      <p:sp>
        <p:nvSpPr>
          <p:cNvPr id="85" name="Shape 83"/>
          <p:cNvSpPr/>
          <p:nvPr/>
        </p:nvSpPr>
        <p:spPr>
          <a:xfrm>
            <a:off x="8321040" y="2885846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6" name="Text 84"/>
          <p:cNvSpPr/>
          <p:nvPr/>
        </p:nvSpPr>
        <p:spPr>
          <a:xfrm>
            <a:off x="8485632" y="284012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Bahia (Jequié/Itabuna) · BA</a:t>
            </a:r>
            <a:endParaRPr lang="pt-BR" sz="950" noProof="0" dirty="0"/>
          </a:p>
        </p:txBody>
      </p:sp>
      <p:sp>
        <p:nvSpPr>
          <p:cNvPr id="87" name="Text 85"/>
          <p:cNvSpPr/>
          <p:nvPr/>
        </p:nvSpPr>
        <p:spPr>
          <a:xfrm>
            <a:off x="8485632" y="3036722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</a:t>
            </a:r>
            <a:endParaRPr lang="pt-BR" sz="800" noProof="0" dirty="0"/>
          </a:p>
        </p:txBody>
      </p:sp>
      <p:sp>
        <p:nvSpPr>
          <p:cNvPr id="88" name="Shape 86"/>
          <p:cNvSpPr/>
          <p:nvPr/>
        </p:nvSpPr>
        <p:spPr>
          <a:xfrm>
            <a:off x="8321040" y="3295498"/>
            <a:ext cx="82296" cy="82296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9" name="Text 87"/>
          <p:cNvSpPr/>
          <p:nvPr/>
        </p:nvSpPr>
        <p:spPr>
          <a:xfrm>
            <a:off x="8485632" y="324977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9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+ Maceió · CE · AL</a:t>
            </a:r>
            <a:endParaRPr lang="pt-BR" sz="950" noProof="0" dirty="0"/>
          </a:p>
        </p:txBody>
      </p:sp>
      <p:sp>
        <p:nvSpPr>
          <p:cNvPr id="90" name="Text 88"/>
          <p:cNvSpPr/>
          <p:nvPr/>
        </p:nvSpPr>
        <p:spPr>
          <a:xfrm>
            <a:off x="8485632" y="344637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avaliação — 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 </a:t>
            </a:r>
            <a:r>
              <a:rPr lang="pt-BR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manter</a:t>
            </a:r>
            <a:endParaRPr lang="pt-BR" sz="800" noProof="0" dirty="0"/>
          </a:p>
        </p:txBody>
      </p:sp>
      <p:sp>
        <p:nvSpPr>
          <p:cNvPr id="94" name="Text 92"/>
          <p:cNvSpPr/>
          <p:nvPr/>
        </p:nvSpPr>
        <p:spPr>
          <a:xfrm>
            <a:off x="45720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status:  </a:t>
            </a:r>
            <a:r>
              <a:rPr lang="pt-BR" sz="850" noProof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pt-BR" sz="85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fechado/em execução    </a:t>
            </a:r>
            <a:r>
              <a:rPr lang="pt-BR" sz="850" noProof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pt-BR" sz="85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pendente / alçada Conselho / em holding    ■ em andamento</a:t>
            </a:r>
            <a:endParaRPr lang="pt-BR" sz="850" noProof="0" dirty="0"/>
          </a:p>
        </p:txBody>
      </p:sp>
      <p:sp>
        <p:nvSpPr>
          <p:cNvPr id="95" name="Text 93"/>
          <p:cNvSpPr/>
          <p:nvPr/>
        </p:nvSpPr>
        <p:spPr>
          <a:xfrm>
            <a:off x="7772400" y="6400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L A N O   D I R E T O R   D E   I N F R A E S T R U T U R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executiva — cobertura dos gargalos críticos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4008" cy="841248"/>
          </a:xfrm>
          <a:prstGeom prst="rect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30936" y="1207008"/>
            <a:ext cx="11009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principal não é cada projeto individualmente — é que já temos soluções desenhadas para </a:t>
            </a:r>
            <a:r>
              <a:rPr lang="en-US" sz="15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todos os gargalos críticos</a:t>
            </a:r>
            <a:r>
              <a:rPr lang="en-US" sz="15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identificados no Plano de Expansão.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VALOR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2103120" cy="3246120"/>
          </a:xfrm>
          <a:prstGeom prst="rect">
            <a:avLst/>
          </a:prstGeom>
          <a:solidFill>
            <a:srgbClr val="1B3A5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 no portfólio · exclui Bases Próprias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88920" y="2670048"/>
            <a:ext cx="1417320" cy="82296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788920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788920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fechado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70832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370832" y="2670048"/>
            <a:ext cx="1417320" cy="82296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370832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370832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52744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952744" y="2670048"/>
            <a:ext cx="1417320" cy="82296"/>
          </a:xfrm>
          <a:prstGeom prst="rect">
            <a:avLst/>
          </a:prstGeom>
          <a:solidFill>
            <a:srgbClr val="F392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52744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952744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34656" y="2670048"/>
            <a:ext cx="1417320" cy="1481328"/>
          </a:xfrm>
          <a:prstGeom prst="rect">
            <a:avLst/>
          </a:prstGeom>
          <a:solidFill>
            <a:srgbClr val="EEF1F4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534656" y="2670048"/>
            <a:ext cx="1417320" cy="82296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534656" y="27980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534656" y="358444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889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ESPERADOS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34640" y="4777740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127248" y="4709160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custos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bundle IPP −R$3,8MM até 2027 · phase-outs evitam R$10,4MM/10a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34640" y="5184648"/>
            <a:ext cx="146304" cy="146304"/>
          </a:xfrm>
          <a:prstGeom prst="ellipse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127248" y="5116068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capacidade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Betim 108→140 km³/mês · OPASC +12.300 m³/mês de Gás C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34640" y="5591556"/>
            <a:ext cx="146304" cy="146304"/>
          </a:xfrm>
          <a:prstGeom prst="ellipse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127248" y="5522976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de operadores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Granel (3 majors em São Luís) · Stang · múltiplas alavancas no 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34640" y="5998464"/>
            <a:ext cx="146304" cy="146304"/>
          </a:xfrm>
          <a:prstGeom prst="ellipse">
            <a:avLst/>
          </a:prstGeom>
          <a:solidFill>
            <a:srgbClr val="F392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127248" y="5929884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dependências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OPLA como BATNA do Pool Paulínia · Otamérica troca favor por contrato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34640" y="6405372"/>
            <a:ext cx="146304" cy="146304"/>
          </a:xfrm>
          <a:prstGeom prst="ellipse">
            <a:avLst/>
          </a:prstGeom>
          <a:solidFill>
            <a:srgbClr val="E61E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127248" y="6336792"/>
            <a:ext cx="85496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ao crescimento até 2030 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cobertura desenhada para Itajaí, Pecém, Vitória e Açailândia/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Mapapito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da operação MG e alternativa de abastecimento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—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e automação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pt-BR" sz="1100" noProof="0" dirty="0"/>
              <a:t>etim + Cubatão + Belém — </a:t>
            </a:r>
            <a:r>
              <a:rPr lang="pt-BR" sz="1100" noProof="0" dirty="0" err="1"/>
              <a:t>bundle</a:t>
            </a:r>
            <a:r>
              <a:rPr lang="pt-BR" sz="1100" noProof="0" dirty="0"/>
              <a:t> IPP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Uberlândia — RUMOS (negociação em curso)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· MG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EXECUÇÃO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148840" y="256032"/>
            <a:ext cx="7144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Betim —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e automação destravam capacidade de 90 km³ → 140 km³/mês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148840" y="868680"/>
            <a:ext cx="9585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interno ALE · expansão da capacidade operacional sem ampliação de tancagem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391201"/>
            <a:ext cx="10972800" cy="95385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482641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Filial Betim opera hoje no limite hidráulico da estrutura existente, com teto de movimentação de aproximadamente 108 km³/mês. O projeto combina </a:t>
            </a:r>
            <a:r>
              <a:rPr lang="pt-BR" sz="120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revamp</a:t>
            </a: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hidráulico do sistema de bombeio com automação no </a:t>
            </a:r>
            <a:r>
              <a:rPr lang="pt-BR" sz="120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</a:t>
            </a: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destravar todo o potencial da base.</a:t>
            </a:r>
          </a:p>
          <a:p>
            <a:pPr marL="0" indent="0" algn="l">
              <a:buNone/>
            </a:pPr>
            <a:r>
              <a:rPr lang="pt-BR" sz="1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 sustenta a captura da projeção de demanda comercial em MG sem ampliar perímetro físico ou adicionar contraparte externa.</a:t>
            </a:r>
          </a:p>
          <a:p>
            <a:pPr marL="0" indent="0" algn="l">
              <a:buNone/>
            </a:pP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27935"/>
            <a:ext cx="5349240" cy="307657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527935"/>
            <a:ext cx="5349240" cy="457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61937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— situação atual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030855"/>
            <a:ext cx="4983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atual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30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km³ / mês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limite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hidráulica do sistema de bombeio e ausência de automação no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527935"/>
            <a:ext cx="5349240" cy="3076575"/>
          </a:xfrm>
          <a:prstGeom prst="roundRect">
            <a:avLst>
              <a:gd name="adj" fmla="val 2857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527935"/>
            <a:ext cx="5349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61937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pós-projeto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3030855"/>
            <a:ext cx="5074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projetado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3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km³ / mês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capacidade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6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 km³/mês  (+30%)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4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 todo o potencial físico da estrutura existente, sem novos investimentos em tancagem.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5714999"/>
            <a:ext cx="10972800" cy="684000"/>
          </a:xfrm>
          <a:prstGeom prst="roundRect">
            <a:avLst>
              <a:gd name="adj" fmla="val 14545"/>
            </a:avLst>
          </a:prstGeom>
          <a:solidFill>
            <a:srgbClr val="E5F4FA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91440" cy="684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5956935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operacional durante obras: Ipiranga (base própria em Betim) disponível como contraparte temporária de armazenagem — garante atendimento aos clientes sem interrupção ao longo do período de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· SP · PA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357055" y="29260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357055" y="292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MINUTA CONTRATUAL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7327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Betim + Cubatão + Belém —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corta R$3,8MM em armazenagem até 2027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três praças com Ipiranga · aprovado internamente · em minuta contratual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Bundling</a:t>
            </a:r>
            <a:r>
              <a:rPr lang="pt-BR" sz="12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três praças numa única negociação com a Ipiranga. A IPP aceitou reduzir tarifa de Belém em 53% com a contrapartida de incluir Cubatão e Betim no pacote. Resultado: um operador em três praças no lugar de fragmentação atual, com economia agregada e simplificação de gestão.</a:t>
            </a:r>
          </a:p>
          <a:p>
            <a:r>
              <a:rPr lang="pt-BR" sz="1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Risco operacional mitigado durante o período de obras de Betim: Ipiranga possui base própria em Betim e pode absorver o atendimento aos clientes durante o período de obras, sem impacto no nível de serviço.</a:t>
            </a:r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622852"/>
              </p:ext>
            </p:extLst>
          </p:nvPr>
        </p:nvGraphicFramePr>
        <p:xfrm>
          <a:off x="640080" y="2486714"/>
          <a:ext cx="10972800" cy="1920240"/>
        </p:xfrm>
        <a:graphic>
          <a:graphicData uri="http://schemas.openxmlformats.org/drawingml/2006/table">
            <a:tbl>
              <a:tblPr/>
              <a:tblGrid>
                <a:gridCol w="1875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1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70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(R$/mês)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(R$/mês)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antes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depois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R$ 105,73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R$ 52,87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−53%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Cubatão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R$ 80,31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R$ 45,00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−44%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Betim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(própria)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+105 K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R$ 21,00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+R$2,1 MM/a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CONSOLIDADO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−R$ 3,8 MM até dez/27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−31%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693502"/>
            <a:ext cx="10972800" cy="615857"/>
          </a:xfrm>
          <a:prstGeom prst="roundRect">
            <a:avLst>
              <a:gd name="adj" fmla="val 5333"/>
            </a:avLst>
          </a:prstGeom>
          <a:solidFill>
            <a:srgbClr val="E5F4FA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640080" y="5693502"/>
            <a:ext cx="91440" cy="615857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914400" y="5751908"/>
            <a:ext cx="10515600" cy="55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as três praças como pacote único foi o que destravou a tarifa agregada — ganho que o operador não cederia base a base. Método aplicável a outras renegociações com mesma contraparte e vencimentos próximos.</a:t>
            </a:r>
            <a:endParaRPr lang="pt-BR" sz="1100" noProof="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17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73F495C-2821-E46B-1877-55CEB8D46A53}"/>
              </a:ext>
            </a:extLst>
          </p:cNvPr>
          <p:cNvGrpSpPr/>
          <p:nvPr/>
        </p:nvGrpSpPr>
        <p:grpSpPr>
          <a:xfrm>
            <a:off x="640080" y="4473813"/>
            <a:ext cx="12034418" cy="1075157"/>
            <a:chOff x="640080" y="4473813"/>
            <a:chExt cx="12034418" cy="1075157"/>
          </a:xfrm>
        </p:grpSpPr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23B2E773-4277-4768-CD68-0C6A97E2E04E}"/>
                </a:ext>
              </a:extLst>
            </p:cNvPr>
            <p:cNvSpPr/>
            <p:nvPr/>
          </p:nvSpPr>
          <p:spPr>
            <a:xfrm>
              <a:off x="640080" y="4479122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C734DC1D-6A7F-3AD6-C80D-3894FDB1B9B0}"/>
                </a:ext>
              </a:extLst>
            </p:cNvPr>
            <p:cNvSpPr/>
            <p:nvPr/>
          </p:nvSpPr>
          <p:spPr>
            <a:xfrm>
              <a:off x="640080" y="4479122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A45E49D5-562A-733A-30FF-9C1FA24CD9CA}"/>
                </a:ext>
              </a:extLst>
            </p:cNvPr>
            <p:cNvSpPr/>
            <p:nvPr/>
          </p:nvSpPr>
          <p:spPr>
            <a:xfrm>
              <a:off x="777240" y="4473813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9556AB58-8FA1-88CE-62F5-E077924F4C91}"/>
                </a:ext>
              </a:extLst>
            </p:cNvPr>
            <p:cNvSpPr/>
            <p:nvPr/>
          </p:nvSpPr>
          <p:spPr>
            <a:xfrm>
              <a:off x="1325880" y="5164922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B16B4BF3-87B5-38DE-13D0-D6362484B455}"/>
                </a:ext>
              </a:extLst>
            </p:cNvPr>
            <p:cNvSpPr/>
            <p:nvPr/>
          </p:nvSpPr>
          <p:spPr>
            <a:xfrm>
              <a:off x="1243584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3" name="Text 23">
              <a:extLst>
                <a:ext uri="{FF2B5EF4-FFF2-40B4-BE49-F238E27FC236}">
                  <a16:creationId xmlns:a16="http://schemas.microsoft.com/office/drawing/2014/main" id="{6D6DE746-6BE5-4B2A-6827-A2FB7EBB0CF4}"/>
                </a:ext>
              </a:extLst>
            </p:cNvPr>
            <p:cNvSpPr/>
            <p:nvPr/>
          </p:nvSpPr>
          <p:spPr>
            <a:xfrm>
              <a:off x="640080" y="4637522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24" name="Shape 28">
              <a:extLst>
                <a:ext uri="{FF2B5EF4-FFF2-40B4-BE49-F238E27FC236}">
                  <a16:creationId xmlns:a16="http://schemas.microsoft.com/office/drawing/2014/main" id="{1049D24F-FD74-A8BD-D89F-F576E9662B83}"/>
                </a:ext>
              </a:extLst>
            </p:cNvPr>
            <p:cNvSpPr/>
            <p:nvPr/>
          </p:nvSpPr>
          <p:spPr>
            <a:xfrm>
              <a:off x="6558381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5" name="Text 29">
              <a:extLst>
                <a:ext uri="{FF2B5EF4-FFF2-40B4-BE49-F238E27FC236}">
                  <a16:creationId xmlns:a16="http://schemas.microsoft.com/office/drawing/2014/main" id="{E3DDC97A-7862-A570-BD9A-7D081B73CF76}"/>
                </a:ext>
              </a:extLst>
            </p:cNvPr>
            <p:cNvSpPr/>
            <p:nvPr/>
          </p:nvSpPr>
          <p:spPr>
            <a:xfrm>
              <a:off x="5048711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27" name="Shape 31">
              <a:extLst>
                <a:ext uri="{FF2B5EF4-FFF2-40B4-BE49-F238E27FC236}">
                  <a16:creationId xmlns:a16="http://schemas.microsoft.com/office/drawing/2014/main" id="{744E9DD6-16AC-3597-0447-5EBDFB35B638}"/>
                </a:ext>
              </a:extLst>
            </p:cNvPr>
            <p:cNvSpPr/>
            <p:nvPr/>
          </p:nvSpPr>
          <p:spPr>
            <a:xfrm>
              <a:off x="8990380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17C10E3B-6AB6-DC8D-9F77-9904F4A50793}"/>
                </a:ext>
              </a:extLst>
            </p:cNvPr>
            <p:cNvSpPr/>
            <p:nvPr/>
          </p:nvSpPr>
          <p:spPr>
            <a:xfrm>
              <a:off x="7471188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30" name="Text 33">
              <a:extLst>
                <a:ext uri="{FF2B5EF4-FFF2-40B4-BE49-F238E27FC236}">
                  <a16:creationId xmlns:a16="http://schemas.microsoft.com/office/drawing/2014/main" id="{1DE2807C-F955-1BE6-1088-94A451DCBEF6}"/>
                </a:ext>
              </a:extLst>
            </p:cNvPr>
            <p:cNvSpPr/>
            <p:nvPr/>
          </p:nvSpPr>
          <p:spPr>
            <a:xfrm>
              <a:off x="7472476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8DED630C-0C37-5C30-4F08-1AC849D734D1}"/>
                </a:ext>
              </a:extLst>
            </p:cNvPr>
            <p:cNvSpPr/>
            <p:nvPr/>
          </p:nvSpPr>
          <p:spPr>
            <a:xfrm>
              <a:off x="4078757" y="5087542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FC5DF460-D6F1-98FB-4BA6-4E3BD83C1F6B}"/>
                </a:ext>
              </a:extLst>
            </p:cNvPr>
            <p:cNvSpPr/>
            <p:nvPr/>
          </p:nvSpPr>
          <p:spPr>
            <a:xfrm>
              <a:off x="257119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Impactos</a:t>
              </a:r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7B6253DB-910E-A06E-9FF9-9031280C3204}"/>
                </a:ext>
              </a:extLst>
            </p:cNvPr>
            <p:cNvSpPr/>
            <p:nvPr/>
          </p:nvSpPr>
          <p:spPr>
            <a:xfrm>
              <a:off x="10927080" y="506719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48EA3AE0-1DAB-1289-CA66-0042D7E8C4C8}"/>
                </a:ext>
              </a:extLst>
            </p:cNvPr>
            <p:cNvSpPr/>
            <p:nvPr/>
          </p:nvSpPr>
          <p:spPr>
            <a:xfrm>
              <a:off x="940577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Go/ no Go</a:t>
              </a:r>
              <a:endParaRPr lang="pt-BR" sz="900" noProof="0" dirty="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806B1224-2A61-52A0-766E-09E19D08E899}"/>
                </a:ext>
              </a:extLst>
            </p:cNvPr>
            <p:cNvSpPr/>
            <p:nvPr/>
          </p:nvSpPr>
          <p:spPr>
            <a:xfrm>
              <a:off x="9474098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UBERLÂNDIA · MG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EM CURSO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880360" y="256032"/>
            <a:ext cx="64126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Uberlândia — negociação com RUMOS em curso como alternativa de abastecimento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880360" y="868680"/>
            <a:ext cx="8854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em curso · alternativa de armazenagem na região de Uberlândia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69661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442983"/>
            <a:ext cx="10607040" cy="683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com RUMOS em curso para cessão de espaço como alternativa de abastecimento da região de Uberlândia. A operação local hoje é atendida pela infraestrutura na Transpetro, mas a RUMOS abre uma nova alavanca de capacidade e diferencial de atendimento na região.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16789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16789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11645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negociação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2451613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atual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de tarifa e volume mínimo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operação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Cessão de espaço — armazenagem em base da RUMOS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econômico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giro × tarifa para fechar em condição com retorno positivo (giro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próximo de 4,4×).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16789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16789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11645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alternativa importa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2451613"/>
            <a:ext cx="5166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Uberlândia recebeu volume migrado do </a:t>
            </a:r>
            <a:r>
              <a:rPr lang="pt-BR" sz="1150" noProof="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</a:t>
            </a:r>
            <a:r>
              <a:rPr lang="pt-BR" sz="115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 de Uberaba. Ter alternativa de armazenagem estruturada na região aumenta a resiliência operacional e abre flexibilidade tática para atendimento do entorno, abrindo possibilidade de recebimento rodoviário (inclusive importado).</a:t>
            </a: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Tancagem: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670 m³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40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Tarifa: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R$ 22/m³</a:t>
            </a:r>
            <a:endParaRPr lang="pt-BR" sz="1200" b="1" noProof="0" dirty="0">
              <a:solidFill>
                <a:srgbClr val="0054A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mensal: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3.700</a:t>
            </a:r>
            <a:r>
              <a:rPr lang="pt-BR" sz="12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m³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40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Prazo contratual: 3 anos</a:t>
            </a:r>
            <a:endParaRPr lang="pt-BR" sz="1200" b="1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endParaRPr lang="pt-BR" sz="115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contraproposta para ajustar giro e tarifa às premissas de retorno positivo. Decisão de fechamento dependerá das condições finais.</a:t>
            </a:r>
          </a:p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go no go: julho/26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9C2DD8C-7D86-AC3D-47CD-A967523DDD92}"/>
              </a:ext>
            </a:extLst>
          </p:cNvPr>
          <p:cNvGrpSpPr/>
          <p:nvPr/>
        </p:nvGrpSpPr>
        <p:grpSpPr>
          <a:xfrm>
            <a:off x="640080" y="4473813"/>
            <a:ext cx="12034418" cy="1080073"/>
            <a:chOff x="640080" y="4473813"/>
            <a:chExt cx="12034418" cy="1080073"/>
          </a:xfrm>
        </p:grpSpPr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AAFE4A87-9A67-550C-E6D0-AC88FA33415B}"/>
                </a:ext>
              </a:extLst>
            </p:cNvPr>
            <p:cNvSpPr/>
            <p:nvPr/>
          </p:nvSpPr>
          <p:spPr>
            <a:xfrm>
              <a:off x="640080" y="4479122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15535E85-B775-5578-FFB9-C95A46AC547F}"/>
                </a:ext>
              </a:extLst>
            </p:cNvPr>
            <p:cNvSpPr/>
            <p:nvPr/>
          </p:nvSpPr>
          <p:spPr>
            <a:xfrm>
              <a:off x="640080" y="4479122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12CB8016-7284-53D3-5E30-AD61254F690A}"/>
                </a:ext>
              </a:extLst>
            </p:cNvPr>
            <p:cNvSpPr/>
            <p:nvPr/>
          </p:nvSpPr>
          <p:spPr>
            <a:xfrm>
              <a:off x="777240" y="4473813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9895FD0D-849F-848D-B87A-8EBD5C387FCB}"/>
                </a:ext>
              </a:extLst>
            </p:cNvPr>
            <p:cNvSpPr/>
            <p:nvPr/>
          </p:nvSpPr>
          <p:spPr>
            <a:xfrm>
              <a:off x="1325880" y="5164922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8A81CD3D-D3AE-5303-8EE1-294E16AB0770}"/>
                </a:ext>
              </a:extLst>
            </p:cNvPr>
            <p:cNvSpPr/>
            <p:nvPr/>
          </p:nvSpPr>
          <p:spPr>
            <a:xfrm>
              <a:off x="1243584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619CC483-D570-19AA-7746-C5F408975817}"/>
                </a:ext>
              </a:extLst>
            </p:cNvPr>
            <p:cNvSpPr/>
            <p:nvPr/>
          </p:nvSpPr>
          <p:spPr>
            <a:xfrm>
              <a:off x="640080" y="4637522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58EC641B-83B6-CD0F-8399-22F97D280726}"/>
                </a:ext>
              </a:extLst>
            </p:cNvPr>
            <p:cNvSpPr/>
            <p:nvPr/>
          </p:nvSpPr>
          <p:spPr>
            <a:xfrm>
              <a:off x="6558381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6" name="Text 29">
              <a:extLst>
                <a:ext uri="{FF2B5EF4-FFF2-40B4-BE49-F238E27FC236}">
                  <a16:creationId xmlns:a16="http://schemas.microsoft.com/office/drawing/2014/main" id="{FC3E5F9D-200B-5CB9-6432-5D2A1E564345}"/>
                </a:ext>
              </a:extLst>
            </p:cNvPr>
            <p:cNvSpPr/>
            <p:nvPr/>
          </p:nvSpPr>
          <p:spPr>
            <a:xfrm>
              <a:off x="5048711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733EC205-E46B-E4F3-B174-C9C908C8DE8F}"/>
                </a:ext>
              </a:extLst>
            </p:cNvPr>
            <p:cNvSpPr/>
            <p:nvPr/>
          </p:nvSpPr>
          <p:spPr>
            <a:xfrm>
              <a:off x="5041244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F0AAEF69-BE0E-3E07-0465-F2B561E1EB9C}"/>
                </a:ext>
              </a:extLst>
            </p:cNvPr>
            <p:cNvSpPr/>
            <p:nvPr/>
          </p:nvSpPr>
          <p:spPr>
            <a:xfrm>
              <a:off x="8990380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E4636192-BA32-1F9A-D17C-2B90DF691DF6}"/>
                </a:ext>
              </a:extLst>
            </p:cNvPr>
            <p:cNvSpPr/>
            <p:nvPr/>
          </p:nvSpPr>
          <p:spPr>
            <a:xfrm>
              <a:off x="7471188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40" name="Text 33">
              <a:extLst>
                <a:ext uri="{FF2B5EF4-FFF2-40B4-BE49-F238E27FC236}">
                  <a16:creationId xmlns:a16="http://schemas.microsoft.com/office/drawing/2014/main" id="{95C3E7D5-2CD4-FD30-B7C8-47871B0DAC19}"/>
                </a:ext>
              </a:extLst>
            </p:cNvPr>
            <p:cNvSpPr/>
            <p:nvPr/>
          </p:nvSpPr>
          <p:spPr>
            <a:xfrm>
              <a:off x="7472476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1" name="Shape 25">
              <a:extLst>
                <a:ext uri="{FF2B5EF4-FFF2-40B4-BE49-F238E27FC236}">
                  <a16:creationId xmlns:a16="http://schemas.microsoft.com/office/drawing/2014/main" id="{CDB9FB90-8A1B-7AD1-452F-2CF358658074}"/>
                </a:ext>
              </a:extLst>
            </p:cNvPr>
            <p:cNvSpPr/>
            <p:nvPr/>
          </p:nvSpPr>
          <p:spPr>
            <a:xfrm>
              <a:off x="4078757" y="5087542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B41A6FB7-C10D-44CE-99B9-A09594F66209}"/>
                </a:ext>
              </a:extLst>
            </p:cNvPr>
            <p:cNvSpPr/>
            <p:nvPr/>
          </p:nvSpPr>
          <p:spPr>
            <a:xfrm>
              <a:off x="257119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2CE16D21-0DF7-2744-2242-6544267470F1}"/>
                </a:ext>
              </a:extLst>
            </p:cNvPr>
            <p:cNvSpPr/>
            <p:nvPr/>
          </p:nvSpPr>
          <p:spPr>
            <a:xfrm>
              <a:off x="2581032" y="5297854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4" name="Shape 31">
              <a:extLst>
                <a:ext uri="{FF2B5EF4-FFF2-40B4-BE49-F238E27FC236}">
                  <a16:creationId xmlns:a16="http://schemas.microsoft.com/office/drawing/2014/main" id="{C5DA4CFD-6101-403B-72A7-F13D10D7F2EC}"/>
                </a:ext>
              </a:extLst>
            </p:cNvPr>
            <p:cNvSpPr/>
            <p:nvPr/>
          </p:nvSpPr>
          <p:spPr>
            <a:xfrm>
              <a:off x="10927080" y="506719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5" name="Text 32">
              <a:extLst>
                <a:ext uri="{FF2B5EF4-FFF2-40B4-BE49-F238E27FC236}">
                  <a16:creationId xmlns:a16="http://schemas.microsoft.com/office/drawing/2014/main" id="{65804CFD-A02D-E64F-E970-92F3357DCDAC}"/>
                </a:ext>
              </a:extLst>
            </p:cNvPr>
            <p:cNvSpPr/>
            <p:nvPr/>
          </p:nvSpPr>
          <p:spPr>
            <a:xfrm>
              <a:off x="9405777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Go/ no Go</a:t>
              </a:r>
              <a:endParaRPr lang="pt-BR" sz="900" noProof="0" dirty="0"/>
            </a:p>
          </p:txBody>
        </p:sp>
        <p:sp>
          <p:nvSpPr>
            <p:cNvPr id="46" name="Text 33">
              <a:extLst>
                <a:ext uri="{FF2B5EF4-FFF2-40B4-BE49-F238E27FC236}">
                  <a16:creationId xmlns:a16="http://schemas.microsoft.com/office/drawing/2014/main" id="{472F3B7D-6E9A-1421-8228-947E1464434F}"/>
                </a:ext>
              </a:extLst>
            </p:cNvPr>
            <p:cNvSpPr/>
            <p:nvPr/>
          </p:nvSpPr>
          <p:spPr>
            <a:xfrm>
              <a:off x="9474098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frentes ativas em MA, CE, PE, BA e AL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Açailândia / LEM (MA)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Luís — Granel (renovação · MA)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Pecém — DISLUB (CE)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Suape — Ultracargo (renovação · PE)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+ Maceió (observação)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AÇAILÂNDIA · MA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238183" y="292608"/>
            <a:ext cx="2496312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238183" y="29260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ESCRITURAÇÃO EM CURSO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880360" y="256032"/>
            <a:ext cx="6174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Açailândia / LEM — swap operacional avança para escrituração do terreno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880360" y="868680"/>
            <a:ext cx="8854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classificada como Expansão Seletiva na projeção de demanda · ganho perpétuo de +R$16MM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322070"/>
            <a:ext cx="10972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495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concluído operacionalmente · execução prevista até 1ª </a:t>
            </a:r>
            <a:r>
              <a:rPr lang="pt-BR" sz="11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quinz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junho/26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de troca de documentações e escrituração do terreno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original (ANP em maio) foi ajustado pela complexidade documental. A formalização ANP só avança após a finalização da troca de documentações e da escrituração.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estrutural mantido: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+R$16MM em perpetuidade · ALE saindo de 50% LEM (não-prioritária) e entrando em 11,8% Açailândia (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Mapapito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prioritário). Swap espelhado de R$12,5MM cada lado.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46101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461010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47015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1508760" y="5295900"/>
            <a:ext cx="9235440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1426464" y="52136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-800100" y="476173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 fiscal do Pool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-800100" y="54239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6044184" y="52136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3817620" y="476173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do Pool na ANP</a:t>
            </a:r>
            <a:endParaRPr lang="pt-BR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3817620" y="54239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10661904" y="52136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8435340" y="476173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LEM → Vibra</a:t>
            </a:r>
            <a:endParaRPr lang="pt-B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8435340" y="56144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640080" y="581025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5810250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914400" y="590169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conclusão da escrituração e troca de notas · Prazo: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 · Resp.: Planejamento de Infraestrutura.</a:t>
            </a:r>
            <a:endParaRPr lang="pt-BR" sz="1100" noProof="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LUÍS · MA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 CONSELHO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587752" y="256032"/>
            <a:ext cx="60377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São Luís — proposta Granel reduz tarifa em 8,5% e captura combo SL + PN + Teresina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587752" y="868680"/>
            <a:ext cx="9146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aceitar Granel · valor total contrato 36 meses R$ 18,5MM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457201" y="1417320"/>
            <a:ext cx="11277294" cy="27889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41956" y="1405891"/>
            <a:ext cx="11268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38847" y="139082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 × propostas — comparativo detalhado</a:t>
            </a:r>
            <a:endParaRPr lang="pt-B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2536231" cy="2262302"/>
          </a:xfrm>
          <a:prstGeom prst="roundRect">
            <a:avLst>
              <a:gd name="adj" fmla="val 5128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2536231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594360" y="4389120"/>
            <a:ext cx="2399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Granel</a:t>
            </a:r>
          </a:p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 contrato (36 meses)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594360" y="4748218"/>
            <a:ext cx="2536231" cy="44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8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R$ 19,5 MM</a:t>
            </a:r>
            <a:endParaRPr lang="pt-BR" sz="2800" noProof="0" dirty="0"/>
          </a:p>
        </p:txBody>
      </p:sp>
      <p:sp>
        <p:nvSpPr>
          <p:cNvPr id="17" name="Shape 14"/>
          <p:cNvSpPr/>
          <p:nvPr/>
        </p:nvSpPr>
        <p:spPr>
          <a:xfrm>
            <a:off x="3130591" y="4297679"/>
            <a:ext cx="8603904" cy="226230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/>
          <p:cNvSpPr/>
          <p:nvPr/>
        </p:nvSpPr>
        <p:spPr>
          <a:xfrm>
            <a:off x="3130591" y="4303091"/>
            <a:ext cx="8568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3236034" y="430850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estar na Granel se torna estratégico:</a:t>
            </a:r>
            <a:endParaRPr lang="pt-BR" sz="1200" noProof="0" dirty="0"/>
          </a:p>
        </p:txBody>
      </p:sp>
      <p:sp>
        <p:nvSpPr>
          <p:cNvPr id="20" name="Text 17"/>
          <p:cNvSpPr/>
          <p:nvPr/>
        </p:nvSpPr>
        <p:spPr>
          <a:xfrm>
            <a:off x="3236034" y="4599750"/>
            <a:ext cx="8361606" cy="1892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100" b="1" noProof="0" dirty="0"/>
              <a:t>Por que estar na Granel é estratégico</a:t>
            </a:r>
            <a:endParaRPr lang="pt-BR" sz="1100" noProof="0" dirty="0"/>
          </a:p>
          <a:p>
            <a:r>
              <a:rPr lang="pt-BR" sz="1100" noProof="0" dirty="0"/>
              <a:t>O mercado de São Luís opera com entrada constante de produto importado — </a:t>
            </a:r>
            <a:r>
              <a:rPr lang="pt-BR" sz="1100" b="1" noProof="0" dirty="0"/>
              <a:t>44,5% no 1º quadrimestre de 2026</a:t>
            </a:r>
            <a:r>
              <a:rPr lang="pt-BR" sz="1100" noProof="0" dirty="0"/>
              <a:t>. </a:t>
            </a:r>
          </a:p>
          <a:p>
            <a:r>
              <a:rPr lang="pt-BR" sz="1100" noProof="0" dirty="0"/>
              <a:t>Como negociamos produto frequentemente com as </a:t>
            </a:r>
            <a:r>
              <a:rPr lang="pt-BR" sz="1100" noProof="0" dirty="0" err="1"/>
              <a:t>majors</a:t>
            </a:r>
            <a:r>
              <a:rPr lang="pt-BR" sz="1100" noProof="0" dirty="0"/>
              <a:t>, a presença em terminal define melhor flexibilidade de recebimento, spot e compras de oportunidade. Considerando os terminais de São Luís temos: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b="1" noProof="0" dirty="0"/>
              <a:t>Granel:</a:t>
            </a:r>
            <a:r>
              <a:rPr lang="pt-BR" sz="1100" noProof="0" dirty="0"/>
              <a:t> Ipiranga, Vibra e Raízen (concentra 57,2% da Tancagem de GAA e 48,6% da tancagem de S10 do polo)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b="1" noProof="0" dirty="0"/>
              <a:t>Ultracargo:</a:t>
            </a:r>
            <a:r>
              <a:rPr lang="pt-BR" sz="1100" noProof="0" dirty="0"/>
              <a:t> apenas Ipiranga (concentra 38,5% da Tancagem de GAA e 35,2% da tancagem de S10 do polo)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b="1" noProof="0" dirty="0"/>
              <a:t>Santos Brasil:</a:t>
            </a:r>
            <a:r>
              <a:rPr lang="pt-BR" sz="1100" noProof="0" dirty="0"/>
              <a:t> Ipiranga e Raízen</a:t>
            </a:r>
          </a:p>
          <a:p>
            <a:r>
              <a:rPr lang="pt-BR" sz="1100" noProof="0" dirty="0"/>
              <a:t>A Granel concentra o maior número de fornecedores ativos — </a:t>
            </a:r>
            <a:r>
              <a:rPr lang="pt-BR" sz="1100" b="1" noProof="0" dirty="0"/>
              <a:t>três </a:t>
            </a:r>
            <a:r>
              <a:rPr lang="pt-BR" sz="1100" b="1" noProof="0" dirty="0" err="1"/>
              <a:t>majors</a:t>
            </a:r>
            <a:r>
              <a:rPr lang="pt-BR" sz="1100" noProof="0" dirty="0"/>
              <a:t> —, ampliando nossa janela de negociação e o acesso ao produto importado mais competitivo.</a:t>
            </a:r>
          </a:p>
          <a:p>
            <a:r>
              <a:rPr lang="pt-BR" sz="1100" noProof="0" dirty="0"/>
              <a:t>Estar na Granel não é só tarifa: amplia a oportunidade em um mercado estruturalmente importador.</a:t>
            </a:r>
          </a:p>
        </p:txBody>
      </p:sp>
      <p:sp>
        <p:nvSpPr>
          <p:cNvPr id="21" name="Shape 18"/>
          <p:cNvSpPr/>
          <p:nvPr/>
        </p:nvSpPr>
        <p:spPr>
          <a:xfrm>
            <a:off x="640080" y="6492240"/>
            <a:ext cx="10972800" cy="0"/>
          </a:xfrm>
          <a:prstGeom prst="roundRect">
            <a:avLst>
              <a:gd name="adj" fmla="val Infinity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9EBA0E9-D9E4-10D0-8E9C-47781FF62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36105"/>
            <a:ext cx="2551776" cy="235784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DD80AB0-E0EE-FF6D-A27A-A9E69C042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" y="1697199"/>
            <a:ext cx="10759097" cy="2437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6E1B-0D0A-27CE-94A7-A8BF76BC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E0DBED-5CD2-8E55-C00B-AEA78189E735}"/>
              </a:ext>
            </a:extLst>
          </p:cNvPr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C9AA80-E3DC-61AA-0A94-B79901B26E16}"/>
              </a:ext>
            </a:extLst>
          </p:cNvPr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TERESINA- PORTO NACIONAL</a:t>
            </a:r>
            <a:endParaRPr lang="pt-BR" sz="11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B5C7DE-EC32-498C-91C3-7DEA9992BF07}"/>
              </a:ext>
            </a:extLst>
          </p:cNvPr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4DC388-1627-AEDF-7280-7F738A6E5BD3}"/>
              </a:ext>
            </a:extLst>
          </p:cNvPr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 CONSELHO</a:t>
            </a:r>
            <a:endParaRPr lang="pt-BR" sz="10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E87ACA-BB9A-CE41-187E-5B12EF6BBD39}"/>
              </a:ext>
            </a:extLst>
          </p:cNvPr>
          <p:cNvSpPr/>
          <p:nvPr/>
        </p:nvSpPr>
        <p:spPr>
          <a:xfrm>
            <a:off x="2587752" y="256032"/>
            <a:ext cx="62206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Teresina e Porto Nacional</a:t>
            </a:r>
            <a:endParaRPr lang="pt-BR" sz="20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4A44DFF-EE14-55C1-7FE3-3A0AC9ACA873}"/>
              </a:ext>
            </a:extLst>
          </p:cNvPr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FD55D9-FC57-2121-F0DD-D100432399A7}"/>
              </a:ext>
            </a:extLst>
          </p:cNvPr>
          <p:cNvSpPr/>
          <p:nvPr/>
        </p:nvSpPr>
        <p:spPr>
          <a:xfrm>
            <a:off x="659042" y="1417320"/>
            <a:ext cx="10972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1809D0C-B51F-FA09-6D31-CC460F494357}"/>
              </a:ext>
            </a:extLst>
          </p:cNvPr>
          <p:cNvSpPr/>
          <p:nvPr/>
        </p:nvSpPr>
        <p:spPr>
          <a:xfrm>
            <a:off x="640080" y="141732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23ACFB-1E5D-04E7-C213-184B08239F03}"/>
              </a:ext>
            </a:extLst>
          </p:cNvPr>
          <p:cNvSpPr/>
          <p:nvPr/>
        </p:nvSpPr>
        <p:spPr>
          <a:xfrm>
            <a:off x="777240" y="1508760"/>
            <a:ext cx="10698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 × proposta Granel — comparativo detalhado</a:t>
            </a:r>
            <a:endParaRPr lang="pt-BR" sz="1200" noProof="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E9D599B-A705-F494-9E0E-A856F2AF5DCC}"/>
              </a:ext>
            </a:extLst>
          </p:cNvPr>
          <p:cNvSpPr/>
          <p:nvPr/>
        </p:nvSpPr>
        <p:spPr>
          <a:xfrm>
            <a:off x="640080" y="4617720"/>
            <a:ext cx="5148000" cy="1783080"/>
          </a:xfrm>
          <a:prstGeom prst="roundRect">
            <a:avLst>
              <a:gd name="adj" fmla="val 5128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84F6235-EB8B-8DA3-7B1E-692E20DE1EF4}"/>
              </a:ext>
            </a:extLst>
          </p:cNvPr>
          <p:cNvSpPr/>
          <p:nvPr/>
        </p:nvSpPr>
        <p:spPr>
          <a:xfrm>
            <a:off x="640080" y="4617720"/>
            <a:ext cx="514800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6F4C5F4-5C90-FFBF-8FAA-3001A828E209}"/>
              </a:ext>
            </a:extLst>
          </p:cNvPr>
          <p:cNvSpPr/>
          <p:nvPr/>
        </p:nvSpPr>
        <p:spPr>
          <a:xfrm>
            <a:off x="777239" y="4709160"/>
            <a:ext cx="50749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Teresina		</a:t>
            </a:r>
            <a:r>
              <a:rPr lang="pt-BR" sz="12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Teresina Solo</a:t>
            </a:r>
          </a:p>
          <a:p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 contrato (36 meses)	</a:t>
            </a:r>
            <a:r>
              <a:rPr lang="pt-BR" sz="12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 contrato (36 meses)</a:t>
            </a:r>
            <a:endParaRPr lang="pt-BR" sz="1200" noProof="0" dirty="0">
              <a:solidFill>
                <a:srgbClr val="FFC000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B9EE9E6-C1B5-1FA0-44E4-3010B03680FF}"/>
              </a:ext>
            </a:extLst>
          </p:cNvPr>
          <p:cNvSpPr/>
          <p:nvPr/>
        </p:nvSpPr>
        <p:spPr>
          <a:xfrm>
            <a:off x="777240" y="511424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4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R$ 5,62 MM		</a:t>
            </a:r>
            <a:r>
              <a:rPr lang="pt-BR" sz="24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R$ 7,78 MM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2400" b="1" noProof="0" dirty="0">
              <a:solidFill>
                <a:srgbClr val="00A8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endParaRPr lang="pt-BR" sz="800" b="1" noProof="0" dirty="0">
              <a:solidFill>
                <a:srgbClr val="00A8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24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R$ 3,42 MM		</a:t>
            </a:r>
            <a:r>
              <a:rPr lang="pt-BR" sz="24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R$ 5,04 MM</a:t>
            </a:r>
            <a:endParaRPr lang="pt-BR" sz="2400" noProof="0" dirty="0">
              <a:solidFill>
                <a:srgbClr val="FFC000"/>
              </a:solidFill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9055CBA-11D0-C243-93EB-01C2F51EDEEA}"/>
              </a:ext>
            </a:extLst>
          </p:cNvPr>
          <p:cNvSpPr/>
          <p:nvPr/>
        </p:nvSpPr>
        <p:spPr>
          <a:xfrm>
            <a:off x="6339842" y="4570156"/>
            <a:ext cx="5292000" cy="1830641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02FC72E-D311-0523-CD72-8DF6E31E66AC}"/>
              </a:ext>
            </a:extLst>
          </p:cNvPr>
          <p:cNvSpPr/>
          <p:nvPr/>
        </p:nvSpPr>
        <p:spPr>
          <a:xfrm>
            <a:off x="6339842" y="4570157"/>
            <a:ext cx="5292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A3B4138-9029-935A-B38F-386C52A534C5}"/>
              </a:ext>
            </a:extLst>
          </p:cNvPr>
          <p:cNvSpPr/>
          <p:nvPr/>
        </p:nvSpPr>
        <p:spPr>
          <a:xfrm>
            <a:off x="6381134" y="46405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Granel enviou duas propostas</a:t>
            </a:r>
            <a:endParaRPr lang="pt-BR" sz="1200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CC14760-54E2-C253-2603-B567B1CDF24A}"/>
              </a:ext>
            </a:extLst>
          </p:cNvPr>
          <p:cNvSpPr/>
          <p:nvPr/>
        </p:nvSpPr>
        <p:spPr>
          <a:xfrm>
            <a:off x="6400799" y="5025513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100" b="1" noProof="0" dirty="0"/>
              <a:t>Proposta Granel em formato </a:t>
            </a:r>
            <a:r>
              <a:rPr lang="pt-BR" sz="1100" b="1" noProof="0" dirty="0" err="1"/>
              <a:t>bundle</a:t>
            </a:r>
            <a:r>
              <a:rPr lang="pt-BR" sz="1100" b="1" noProof="0" dirty="0"/>
              <a:t> (São Luís + Porto Nacional + Teresina):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noProof="0" dirty="0"/>
              <a:t>Em </a:t>
            </a:r>
            <a:r>
              <a:rPr lang="pt-BR" sz="1100" b="1" noProof="0" dirty="0"/>
              <a:t>Teresina</a:t>
            </a:r>
            <a:r>
              <a:rPr lang="pt-BR" sz="1100" noProof="0" dirty="0"/>
              <a:t>, a tarifa efetiva fica estável vs. contrato atual (+3%) e </a:t>
            </a:r>
            <a:r>
              <a:rPr lang="pt-BR" sz="1100" b="1" noProof="0" dirty="0"/>
              <a:t>28% abaixo</a:t>
            </a:r>
            <a:r>
              <a:rPr lang="pt-BR" sz="1100" noProof="0" dirty="0"/>
              <a:t> da proposta solo.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noProof="0" dirty="0"/>
              <a:t>Em </a:t>
            </a:r>
            <a:r>
              <a:rPr lang="pt-BR" sz="1100" b="1" noProof="0" dirty="0"/>
              <a:t>Porto Nacional</a:t>
            </a:r>
            <a:r>
              <a:rPr lang="pt-BR" sz="1100" noProof="0" dirty="0"/>
              <a:t>, +25% vs. contrato atual, porém </a:t>
            </a:r>
            <a:r>
              <a:rPr lang="pt-BR" sz="1100" b="1" noProof="0" dirty="0"/>
              <a:t>32% abaixo</a:t>
            </a:r>
            <a:r>
              <a:rPr lang="pt-BR" sz="1100" noProof="0" dirty="0"/>
              <a:t> da proposta solo.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698BC8B-0DE6-0589-56C8-FE77BE445B39}"/>
              </a:ext>
            </a:extLst>
          </p:cNvPr>
          <p:cNvSpPr/>
          <p:nvPr/>
        </p:nvSpPr>
        <p:spPr>
          <a:xfrm>
            <a:off x="640080" y="6492240"/>
            <a:ext cx="10972800" cy="0"/>
          </a:xfrm>
          <a:prstGeom prst="roundRect">
            <a:avLst>
              <a:gd name="adj" fmla="val Infinity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5017424-64E2-93C6-FFD0-362BDA345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4597600"/>
            <a:ext cx="5208956" cy="183297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28FD97F7-FADC-7A3E-9A64-67BA76976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44" y="1700056"/>
            <a:ext cx="10786463" cy="244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IPOJUCA · PE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CONCLUÍDO · ALÇADA CONSELHO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1840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Suape — Ultracargo única alternativa viável em mercado saturado, redução de 18%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classificado como prioritário na projeção de demanda do Plano de Expansão · contrato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Tequimar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vence Jul/26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103178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583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658368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atual ALE em Suape</a:t>
            </a:r>
            <a:endParaRPr lang="pt-BR" sz="12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09481"/>
              </p:ext>
            </p:extLst>
          </p:nvPr>
        </p:nvGraphicFramePr>
        <p:xfrm>
          <a:off x="777240" y="1920240"/>
          <a:ext cx="635508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Cedente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efetiva (R$)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/ Status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Ultracargo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 m³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69,9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Vencimento em Jul/26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 err="1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3.420 m³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69,8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Vencimento em Jan/28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médio movimentado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6.300 m³/mês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R$ 69,8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406640" y="1417320"/>
            <a:ext cx="4206240" cy="2697480"/>
          </a:xfrm>
          <a:prstGeom prst="roundRect">
            <a:avLst>
              <a:gd name="adj" fmla="val 3390"/>
            </a:avLst>
          </a:prstGeom>
          <a:solidFill>
            <a:srgbClr val="FCEAE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7406640" y="1417320"/>
            <a:ext cx="420624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75438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BID — saturação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7543800" y="19202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operadores consultados: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Temape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sem disponibilidade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Decal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sem disponibilidade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Pandenor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sem disponibilidade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Ultracargo  </a:t>
            </a:r>
            <a:r>
              <a:rPr lang="pt-BR" sz="11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única proposta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Suape com indicação de saturação.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Operação do PECEM pode roubar volume de Ipojuca.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 cláusula de renegociação após a entrada do PECÉM.</a:t>
            </a:r>
            <a:endParaRPr lang="pt-BR" sz="1100" noProof="0" dirty="0"/>
          </a:p>
        </p:txBody>
      </p:sp>
      <p:sp>
        <p:nvSpPr>
          <p:cNvPr id="12" name="Shape 14"/>
          <p:cNvSpPr/>
          <p:nvPr/>
        </p:nvSpPr>
        <p:spPr>
          <a:xfrm>
            <a:off x="640080" y="4251960"/>
            <a:ext cx="6583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/>
          <p:cNvSpPr/>
          <p:nvPr/>
        </p:nvSpPr>
        <p:spPr>
          <a:xfrm>
            <a:off x="640080" y="4251960"/>
            <a:ext cx="658368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777240" y="4343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Ultracargo </a:t>
            </a:r>
            <a:endParaRPr lang="pt-BR" sz="1200" noProof="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9824"/>
              </p:ext>
            </p:extLst>
          </p:nvPr>
        </p:nvGraphicFramePr>
        <p:xfrm>
          <a:off x="777240" y="4754880"/>
          <a:ext cx="6355080" cy="12435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Renocação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1º giro (R$/m³)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78,89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2º giro (R$/m³)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39,45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(m³)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406640" y="425196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18"/>
          <p:cNvSpPr/>
          <p:nvPr/>
        </p:nvSpPr>
        <p:spPr>
          <a:xfrm>
            <a:off x="7406640" y="4251960"/>
            <a:ext cx="4206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9"/>
          <p:cNvSpPr/>
          <p:nvPr/>
        </p:nvSpPr>
        <p:spPr>
          <a:xfrm>
            <a:off x="754380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</a:p>
        </p:txBody>
      </p:sp>
      <p:sp>
        <p:nvSpPr>
          <p:cNvPr id="24" name="Text 20"/>
          <p:cNvSpPr/>
          <p:nvPr/>
        </p:nvSpPr>
        <p:spPr>
          <a:xfrm>
            <a:off x="7543800" y="466344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base contrato 36 meses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2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R$ 8,4 MM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Efetiva (Renovação Ultracargo)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2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R$ 57/m³</a:t>
            </a:r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Efetiva Total (</a:t>
            </a:r>
            <a:r>
              <a:rPr lang="pt-BR" sz="11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Temape</a:t>
            </a: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Renovação Ultracargo)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20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R$ 63,5/m³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</p:txBody>
      </p:sp>
      <p:sp>
        <p:nvSpPr>
          <p:cNvPr id="25" name="Shape 21"/>
          <p:cNvSpPr/>
          <p:nvPr/>
        </p:nvSpPr>
        <p:spPr>
          <a:xfrm>
            <a:off x="640080" y="6446520"/>
            <a:ext cx="10972800" cy="0"/>
          </a:xfrm>
          <a:prstGeom prst="roundRect">
            <a:avLst>
              <a:gd name="adj" fmla="val Infinity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PECÉM · CE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000439" y="29260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000439" y="2926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RECEBIDA · NDA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148840" y="256032"/>
            <a:ext cx="6668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Pecém — proposta DISLUB recebida e NDA assinado abrem avaliação de viabilidade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148840" y="868680"/>
            <a:ext cx="9585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= praça prioritária no Plano de Expansão (projeção de demanda) ·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início Jul/27 · concessão 25 anos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12129" y="1122401"/>
            <a:ext cx="8788310" cy="150930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272091" y="1117980"/>
            <a:ext cx="8319459" cy="151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projeto prevê um terminal </a:t>
            </a:r>
            <a:r>
              <a:rPr lang="pt-BR" sz="11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greenfield</a:t>
            </a: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desenvolvido pelo Grupo DISLUB Equador, com início de operação previsto para julho de 2027 e concessão de 25 anos.</a:t>
            </a:r>
          </a:p>
          <a:p>
            <a:pPr>
              <a:lnSpc>
                <a:spcPct val="150000"/>
              </a:lnSpc>
            </a:pP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tancagem total será de 170 km³, com área reservada para expansão futura (220 km³). </a:t>
            </a:r>
          </a:p>
          <a:p>
            <a:pPr>
              <a:lnSpc>
                <a:spcPct val="150000"/>
              </a:lnSpc>
            </a:pPr>
            <a:r>
              <a:rPr lang="pt-B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portfólio de produtos abrange Gasolina A, Diesel S10, Etanol Hidratado, Etanol Anidro, Biodiesel, QAV e demais derivados e petróleo bruto.</a:t>
            </a:r>
            <a:endParaRPr lang="pt-BR" sz="1100" noProof="0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Modais: rodoviário + naval (possibilidade futura de ferroviário).</a:t>
            </a:r>
            <a:endParaRPr lang="pt-BR" sz="11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704638" y="1109666"/>
            <a:ext cx="2160000" cy="1381998"/>
          </a:xfrm>
          <a:prstGeom prst="roundRect">
            <a:avLst>
              <a:gd name="adj" fmla="val 3226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52208"/>
              </p:ext>
            </p:extLst>
          </p:nvPr>
        </p:nvGraphicFramePr>
        <p:xfrm>
          <a:off x="9700558" y="2096838"/>
          <a:ext cx="2183765" cy="487680"/>
        </p:xfrm>
        <a:graphic>
          <a:graphicData uri="http://schemas.openxmlformats.org/drawingml/2006/table">
            <a:tbl>
              <a:tblPr/>
              <a:tblGrid>
                <a:gridCol w="952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 (m³)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Giros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(m³)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3.500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pt-B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9708718" y="1111190"/>
            <a:ext cx="216000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9745108" y="1168721"/>
            <a:ext cx="2019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comerciais propostas</a:t>
            </a:r>
            <a:endParaRPr lang="pt-BR" sz="1200" noProof="0" dirty="0"/>
          </a:p>
        </p:txBody>
      </p:sp>
      <p:sp>
        <p:nvSpPr>
          <p:cNvPr id="18" name="Text 15"/>
          <p:cNvSpPr/>
          <p:nvPr/>
        </p:nvSpPr>
        <p:spPr>
          <a:xfrm>
            <a:off x="9764600" y="1362078"/>
            <a:ext cx="2019913" cy="119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pt-BR" sz="1050" b="1" noProof="0" dirty="0">
                <a:solidFill>
                  <a:srgbClr val="0054A4"/>
                </a:solidFill>
                <a:ea typeface="Calibri" pitchFamily="34" charset="-122"/>
                <a:cs typeface="Calibri" pitchFamily="34" charset="-120"/>
              </a:rPr>
              <a:t>Preço:	</a:t>
            </a:r>
          </a:p>
          <a:p>
            <a:pPr>
              <a:spcAft>
                <a:spcPts val="200"/>
              </a:spcAft>
            </a:pPr>
            <a:r>
              <a:rPr lang="pt-BR" sz="1050" b="1" noProof="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R$ 78,00/m³</a:t>
            </a:r>
            <a:r>
              <a:rPr lang="pt-BR" sz="1050" noProof="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	</a:t>
            </a:r>
            <a:r>
              <a:rPr lang="pt-BR" sz="1050" b="1" noProof="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R$ 624 K / mês</a:t>
            </a:r>
            <a:endParaRPr lang="pt-BR" sz="10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i="1" noProof="0" dirty="0">
                <a:solidFill>
                  <a:srgbClr val="43434F"/>
                </a:solidFill>
                <a:ea typeface="Calibri" pitchFamily="34" charset="-122"/>
                <a:cs typeface="Calibri" pitchFamily="34" charset="-120"/>
              </a:rPr>
              <a:t>(R$ 75 MM em 10 anos· base sem reajuste)</a:t>
            </a:r>
            <a:endParaRPr lang="pt-BR" sz="8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b="1" noProof="0" dirty="0">
                <a:solidFill>
                  <a:srgbClr val="0054A4"/>
                </a:solidFill>
                <a:ea typeface="Calibri" pitchFamily="34" charset="-122"/>
                <a:cs typeface="Calibri" pitchFamily="34" charset="-120"/>
              </a:rPr>
              <a:t>Prazo: </a:t>
            </a:r>
            <a:r>
              <a:rPr lang="pt-BR" sz="1050" b="1" noProof="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10 anos (Jul/27 → Jul/37)</a:t>
            </a:r>
            <a:endParaRPr lang="pt-BR" sz="10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noProof="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pt-BR" sz="105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050" noProof="0" dirty="0"/>
          </a:p>
        </p:txBody>
      </p:sp>
      <p:sp>
        <p:nvSpPr>
          <p:cNvPr id="31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33" name="Text 3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23E0CBA7-E2FA-50A3-98BA-9CAB5C084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18" y="2670100"/>
            <a:ext cx="3377682" cy="2550188"/>
          </a:xfrm>
          <a:prstGeom prst="rect">
            <a:avLst/>
          </a:prstGeom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81A6FC45-A6FA-2607-365F-5DE73916B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0080" y="2646454"/>
            <a:ext cx="3931920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do tempo do projeto: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sz="105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Dezembro/2024:</a:t>
            </a:r>
            <a:r>
              <a:rPr kumimoji="0" lang="pt-BR" sz="105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Anúncio oficial pelo Governo do Ceará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pt-BR" sz="1050" noProof="0" dirty="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Fevereiro/2025:</a:t>
            </a:r>
            <a:r>
              <a:rPr kumimoji="0" lang="pt-BR" sz="105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Início efetivo das obras.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pt-BR" sz="1050" noProof="0" dirty="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050" b="1" noProof="0" dirty="0">
                <a:latin typeface="Arial" panose="020B0604020202020204" pitchFamily="34" charset="0"/>
              </a:rPr>
              <a:t>Dezembro/2026: </a:t>
            </a:r>
            <a:r>
              <a:rPr lang="pt-BR" sz="1050" noProof="0" dirty="0">
                <a:latin typeface="Arial" panose="020B0604020202020204" pitchFamily="34" charset="0"/>
              </a:rPr>
              <a:t>Conclusão da obras</a:t>
            </a:r>
            <a:endParaRPr kumimoji="0" lang="pt-BR" sz="105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sz="105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050" b="1" noProof="0" dirty="0">
                <a:latin typeface="Arial" panose="020B0604020202020204" pitchFamily="34" charset="0"/>
              </a:rPr>
              <a:t>Julho/</a:t>
            </a:r>
            <a:r>
              <a:rPr kumimoji="0" lang="pt-BR" sz="105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2027:</a:t>
            </a:r>
            <a:r>
              <a:rPr kumimoji="0" lang="pt-BR" sz="105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Previsão de início da operação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CA38A55-7FC3-2A0D-1E52-E7F7B048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29" y="2670099"/>
            <a:ext cx="4839688" cy="2550187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51FA866-4F9C-0A68-5AAA-A35577C768F9}"/>
              </a:ext>
            </a:extLst>
          </p:cNvPr>
          <p:cNvGrpSpPr/>
          <p:nvPr/>
        </p:nvGrpSpPr>
        <p:grpSpPr>
          <a:xfrm>
            <a:off x="-685309" y="5316226"/>
            <a:ext cx="12648218" cy="1075157"/>
            <a:chOff x="-274320" y="4473813"/>
            <a:chExt cx="12648218" cy="1075157"/>
          </a:xfrm>
        </p:grpSpPr>
        <p:sp>
          <p:nvSpPr>
            <p:cNvPr id="11" name="Shape 17">
              <a:extLst>
                <a:ext uri="{FF2B5EF4-FFF2-40B4-BE49-F238E27FC236}">
                  <a16:creationId xmlns:a16="http://schemas.microsoft.com/office/drawing/2014/main" id="{C4F72D0B-901F-E708-F9E8-D8D5A8A179EF}"/>
                </a:ext>
              </a:extLst>
            </p:cNvPr>
            <p:cNvSpPr/>
            <p:nvPr/>
          </p:nvSpPr>
          <p:spPr>
            <a:xfrm>
              <a:off x="640080" y="4479122"/>
              <a:ext cx="11733818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F86C1457-06AF-BFF5-E7CC-D03A3F0E1329}"/>
                </a:ext>
              </a:extLst>
            </p:cNvPr>
            <p:cNvSpPr/>
            <p:nvPr/>
          </p:nvSpPr>
          <p:spPr>
            <a:xfrm>
              <a:off x="640080" y="4479122"/>
              <a:ext cx="11733818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5" name="Text 19">
              <a:extLst>
                <a:ext uri="{FF2B5EF4-FFF2-40B4-BE49-F238E27FC236}">
                  <a16:creationId xmlns:a16="http://schemas.microsoft.com/office/drawing/2014/main" id="{C5A6462B-91B8-A3FE-D590-8399F938B211}"/>
                </a:ext>
              </a:extLst>
            </p:cNvPr>
            <p:cNvSpPr/>
            <p:nvPr/>
          </p:nvSpPr>
          <p:spPr>
            <a:xfrm>
              <a:off x="777240" y="4473813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86EAA7C1-EBFC-5026-6DA4-6A36EF78F058}"/>
                </a:ext>
              </a:extLst>
            </p:cNvPr>
            <p:cNvSpPr/>
            <p:nvPr/>
          </p:nvSpPr>
          <p:spPr>
            <a:xfrm>
              <a:off x="1325880" y="5164922"/>
              <a:ext cx="108000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8" name="Shape 21">
              <a:extLst>
                <a:ext uri="{FF2B5EF4-FFF2-40B4-BE49-F238E27FC236}">
                  <a16:creationId xmlns:a16="http://schemas.microsoft.com/office/drawing/2014/main" id="{B27D24A7-91A4-4C7C-87AA-766BC27BD5A1}"/>
                </a:ext>
              </a:extLst>
            </p:cNvPr>
            <p:cNvSpPr/>
            <p:nvPr/>
          </p:nvSpPr>
          <p:spPr>
            <a:xfrm>
              <a:off x="1243584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0" name="Text 23">
              <a:extLst>
                <a:ext uri="{FF2B5EF4-FFF2-40B4-BE49-F238E27FC236}">
                  <a16:creationId xmlns:a16="http://schemas.microsoft.com/office/drawing/2014/main" id="{5BD57087-8C1D-B611-8DE2-6E94020B6821}"/>
                </a:ext>
              </a:extLst>
            </p:cNvPr>
            <p:cNvSpPr/>
            <p:nvPr/>
          </p:nvSpPr>
          <p:spPr>
            <a:xfrm>
              <a:off x="2586870" y="4637522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41" name="Text 24">
              <a:extLst>
                <a:ext uri="{FF2B5EF4-FFF2-40B4-BE49-F238E27FC236}">
                  <a16:creationId xmlns:a16="http://schemas.microsoft.com/office/drawing/2014/main" id="{C577D621-7B59-2CB5-8115-0C0BF6EA224A}"/>
                </a:ext>
              </a:extLst>
            </p:cNvPr>
            <p:cNvSpPr/>
            <p:nvPr/>
          </p:nvSpPr>
          <p:spPr>
            <a:xfrm>
              <a:off x="-274320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00A8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pt-BR" sz="900" noProof="0" dirty="0"/>
            </a:p>
          </p:txBody>
        </p:sp>
        <p:sp>
          <p:nvSpPr>
            <p:cNvPr id="42" name="Shape 25">
              <a:extLst>
                <a:ext uri="{FF2B5EF4-FFF2-40B4-BE49-F238E27FC236}">
                  <a16:creationId xmlns:a16="http://schemas.microsoft.com/office/drawing/2014/main" id="{F5B1BC7F-CCCF-954F-8E6F-A4732E604E5F}"/>
                </a:ext>
              </a:extLst>
            </p:cNvPr>
            <p:cNvSpPr/>
            <p:nvPr/>
          </p:nvSpPr>
          <p:spPr>
            <a:xfrm>
              <a:off x="3180283" y="5082626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4" name="Text 27">
              <a:extLst>
                <a:ext uri="{FF2B5EF4-FFF2-40B4-BE49-F238E27FC236}">
                  <a16:creationId xmlns:a16="http://schemas.microsoft.com/office/drawing/2014/main" id="{45F29619-2EB6-DE67-08E0-392F4910075B}"/>
                </a:ext>
              </a:extLst>
            </p:cNvPr>
            <p:cNvSpPr/>
            <p:nvPr/>
          </p:nvSpPr>
          <p:spPr>
            <a:xfrm>
              <a:off x="1647883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900" b="1" noProof="0" dirty="0">
                  <a:solidFill>
                    <a:srgbClr val="00A8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pt-BR" sz="900" noProof="0" dirty="0"/>
            </a:p>
          </p:txBody>
        </p:sp>
        <p:sp>
          <p:nvSpPr>
            <p:cNvPr id="45" name="Shape 28">
              <a:extLst>
                <a:ext uri="{FF2B5EF4-FFF2-40B4-BE49-F238E27FC236}">
                  <a16:creationId xmlns:a16="http://schemas.microsoft.com/office/drawing/2014/main" id="{DD2365B5-C4A5-B57C-8D37-CA40C98F5039}"/>
                </a:ext>
              </a:extLst>
            </p:cNvPr>
            <p:cNvSpPr/>
            <p:nvPr/>
          </p:nvSpPr>
          <p:spPr>
            <a:xfrm>
              <a:off x="5578842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6" name="Text 29">
              <a:extLst>
                <a:ext uri="{FF2B5EF4-FFF2-40B4-BE49-F238E27FC236}">
                  <a16:creationId xmlns:a16="http://schemas.microsoft.com/office/drawing/2014/main" id="{91E67071-9A1F-A4DC-44C8-DED0B9F477E7}"/>
                </a:ext>
              </a:extLst>
            </p:cNvPr>
            <p:cNvSpPr/>
            <p:nvPr/>
          </p:nvSpPr>
          <p:spPr>
            <a:xfrm>
              <a:off x="6399421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47" name="Text 30">
              <a:extLst>
                <a:ext uri="{FF2B5EF4-FFF2-40B4-BE49-F238E27FC236}">
                  <a16:creationId xmlns:a16="http://schemas.microsoft.com/office/drawing/2014/main" id="{C3B5CC2A-E420-6CF9-4DD9-D4483ED4088C}"/>
                </a:ext>
              </a:extLst>
            </p:cNvPr>
            <p:cNvSpPr/>
            <p:nvPr/>
          </p:nvSpPr>
          <p:spPr>
            <a:xfrm>
              <a:off x="4061705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378F8065-EA29-5A95-CBE1-8E745EAEBB4C}"/>
                </a:ext>
              </a:extLst>
            </p:cNvPr>
            <p:cNvSpPr/>
            <p:nvPr/>
          </p:nvSpPr>
          <p:spPr>
            <a:xfrm>
              <a:off x="7899000" y="508262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9" name="Text 32">
              <a:extLst>
                <a:ext uri="{FF2B5EF4-FFF2-40B4-BE49-F238E27FC236}">
                  <a16:creationId xmlns:a16="http://schemas.microsoft.com/office/drawing/2014/main" id="{A7B68EBC-2C63-E00F-75ED-60A8E807988B}"/>
                </a:ext>
              </a:extLst>
            </p:cNvPr>
            <p:cNvSpPr/>
            <p:nvPr/>
          </p:nvSpPr>
          <p:spPr>
            <a:xfrm>
              <a:off x="8641230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50" name="Text 33">
              <a:extLst>
                <a:ext uri="{FF2B5EF4-FFF2-40B4-BE49-F238E27FC236}">
                  <a16:creationId xmlns:a16="http://schemas.microsoft.com/office/drawing/2014/main" id="{B387245D-D133-A8EA-930B-6955ED4E9BA7}"/>
                </a:ext>
              </a:extLst>
            </p:cNvPr>
            <p:cNvSpPr/>
            <p:nvPr/>
          </p:nvSpPr>
          <p:spPr>
            <a:xfrm>
              <a:off x="6381096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52" name="Text 26">
              <a:extLst>
                <a:ext uri="{FF2B5EF4-FFF2-40B4-BE49-F238E27FC236}">
                  <a16:creationId xmlns:a16="http://schemas.microsoft.com/office/drawing/2014/main" id="{EBA57CAE-AF28-61FA-FC73-FEA30A76D0EE}"/>
                </a:ext>
              </a:extLst>
            </p:cNvPr>
            <p:cNvSpPr/>
            <p:nvPr/>
          </p:nvSpPr>
          <p:spPr>
            <a:xfrm>
              <a:off x="4081373" y="4641944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C7A70805-4322-1138-37B3-FF4CFE238187}"/>
                </a:ext>
              </a:extLst>
            </p:cNvPr>
            <p:cNvSpPr/>
            <p:nvPr/>
          </p:nvSpPr>
          <p:spPr>
            <a:xfrm>
              <a:off x="10150332" y="506719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6" name="Text 33">
              <a:extLst>
                <a:ext uri="{FF2B5EF4-FFF2-40B4-BE49-F238E27FC236}">
                  <a16:creationId xmlns:a16="http://schemas.microsoft.com/office/drawing/2014/main" id="{038E75CF-1657-D87B-8C10-DF23878136D7}"/>
                </a:ext>
              </a:extLst>
            </p:cNvPr>
            <p:cNvSpPr/>
            <p:nvPr/>
          </p:nvSpPr>
          <p:spPr>
            <a:xfrm>
              <a:off x="8697350" y="529293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  <p:sp>
        <p:nvSpPr>
          <p:cNvPr id="58" name="Shape 31">
            <a:extLst>
              <a:ext uri="{FF2B5EF4-FFF2-40B4-BE49-F238E27FC236}">
                <a16:creationId xmlns:a16="http://schemas.microsoft.com/office/drawing/2014/main" id="{2E1A0C5D-CEC5-6C40-9E37-E7B24F469845}"/>
              </a:ext>
            </a:extLst>
          </p:cNvPr>
          <p:cNvSpPr/>
          <p:nvPr/>
        </p:nvSpPr>
        <p:spPr>
          <a:xfrm>
            <a:off x="11514071" y="5924351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5156D098-63C3-B0A0-B952-1770ADD76879}"/>
              </a:ext>
            </a:extLst>
          </p:cNvPr>
          <p:cNvSpPr/>
          <p:nvPr/>
        </p:nvSpPr>
        <p:spPr>
          <a:xfrm>
            <a:off x="9992768" y="5499105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 no Go</a:t>
            </a:r>
            <a:endParaRPr lang="pt-BR" sz="900" noProof="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5E37847C-4258-A312-8F97-1C8895DBA400}"/>
              </a:ext>
            </a:extLst>
          </p:cNvPr>
          <p:cNvSpPr/>
          <p:nvPr/>
        </p:nvSpPr>
        <p:spPr>
          <a:xfrm>
            <a:off x="163215" y="5467225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Crato e Maceió — análises de viabilidade de filial em curso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em estágio de avaliação · sem decisão pedida neste update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7538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303020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3030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4117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741170"/>
            <a:ext cx="5349240" cy="4572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74117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· CE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28981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</a:t>
            </a:r>
            <a:endParaRPr lang="pt-BR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4701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S10 melhora o mix da região. Análise de viabilidade da filial iniciada para definição de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 ou manutenção da operação.</a:t>
            </a:r>
            <a:endParaRPr lang="pt-B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263640" y="174117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1741170"/>
            <a:ext cx="5349240" cy="4572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174117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· AL</a:t>
            </a:r>
            <a:endParaRPr lang="pt-B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228981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</a:t>
            </a:r>
            <a:endParaRPr lang="pt-B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274701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 da filial em curso.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5945505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5945505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6036945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acompanhadas pela área. Próximo update reportará evoluções materiais.</a:t>
            </a:r>
            <a:endParaRPr lang="pt-B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1CEC70-7F1D-2226-C683-41EE559A1D90}"/>
              </a:ext>
            </a:extLst>
          </p:cNvPr>
          <p:cNvSpPr/>
          <p:nvPr/>
        </p:nvSpPr>
        <p:spPr>
          <a:xfrm>
            <a:off x="640080" y="4870741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6604BE7E-9731-743E-326C-954628BF510A}"/>
              </a:ext>
            </a:extLst>
          </p:cNvPr>
          <p:cNvSpPr/>
          <p:nvPr/>
        </p:nvSpPr>
        <p:spPr>
          <a:xfrm>
            <a:off x="640080" y="4870741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6FF8B82-2580-1F9E-392F-3C143629E18A}"/>
              </a:ext>
            </a:extLst>
          </p:cNvPr>
          <p:cNvSpPr/>
          <p:nvPr/>
        </p:nvSpPr>
        <p:spPr>
          <a:xfrm>
            <a:off x="777240" y="4865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A1D2721F-05CE-D15D-D5C4-00F9409B1DEC}"/>
              </a:ext>
            </a:extLst>
          </p:cNvPr>
          <p:cNvSpPr/>
          <p:nvPr/>
        </p:nvSpPr>
        <p:spPr>
          <a:xfrm>
            <a:off x="1325880" y="5556541"/>
            <a:ext cx="9601200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B48A15F7-63F4-DEAE-E9BE-19484CF2C0F8}"/>
              </a:ext>
            </a:extLst>
          </p:cNvPr>
          <p:cNvSpPr/>
          <p:nvPr/>
        </p:nvSpPr>
        <p:spPr>
          <a:xfrm>
            <a:off x="1243584" y="5474245"/>
            <a:ext cx="164592" cy="164592"/>
          </a:xfrm>
          <a:prstGeom prst="ellipse">
            <a:avLst/>
          </a:prstGeom>
          <a:solidFill>
            <a:srgbClr val="00A859"/>
          </a:solidFill>
          <a:ln w="254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35C0C41-3485-6C7F-4CD8-BD8FA6750C4E}"/>
              </a:ext>
            </a:extLst>
          </p:cNvPr>
          <p:cNvSpPr/>
          <p:nvPr/>
        </p:nvSpPr>
        <p:spPr>
          <a:xfrm>
            <a:off x="640080" y="5029141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do Estudo</a:t>
            </a:r>
            <a:endParaRPr lang="pt-BR" sz="900" noProof="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37E5B770-E738-0A9E-5BF4-06BBA960E190}"/>
              </a:ext>
            </a:extLst>
          </p:cNvPr>
          <p:cNvSpPr/>
          <p:nvPr/>
        </p:nvSpPr>
        <p:spPr>
          <a:xfrm>
            <a:off x="-274320" y="568455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pt-BR" sz="900" noProof="0" dirty="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F251F014-2174-9108-25EE-371A1D6E14DE}"/>
              </a:ext>
            </a:extLst>
          </p:cNvPr>
          <p:cNvSpPr/>
          <p:nvPr/>
        </p:nvSpPr>
        <p:spPr>
          <a:xfrm>
            <a:off x="4422427" y="5474245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976B4D2-73C4-1E9F-DF81-421FFD89B215}"/>
              </a:ext>
            </a:extLst>
          </p:cNvPr>
          <p:cNvSpPr/>
          <p:nvPr/>
        </p:nvSpPr>
        <p:spPr>
          <a:xfrm>
            <a:off x="2929556" y="503356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Análise de Viabilidade</a:t>
            </a: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414D0802-599D-B30D-CF9A-D51282E39E08}"/>
              </a:ext>
            </a:extLst>
          </p:cNvPr>
          <p:cNvSpPr/>
          <p:nvPr/>
        </p:nvSpPr>
        <p:spPr>
          <a:xfrm>
            <a:off x="2906411" y="568455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74C6924-E9C4-A4A1-D714-66AB102537B7}"/>
              </a:ext>
            </a:extLst>
          </p:cNvPr>
          <p:cNvSpPr/>
          <p:nvPr/>
        </p:nvSpPr>
        <p:spPr>
          <a:xfrm>
            <a:off x="10780114" y="5474245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7DF55D31-12AB-77F0-30FE-A42CC5EAE73A}"/>
              </a:ext>
            </a:extLst>
          </p:cNvPr>
          <p:cNvSpPr/>
          <p:nvPr/>
        </p:nvSpPr>
        <p:spPr>
          <a:xfrm>
            <a:off x="9250781" y="503356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 Go</a:t>
            </a:r>
            <a:endParaRPr lang="pt-BR" sz="900" noProof="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BBEC57D-74FF-898E-F996-32722506F389}"/>
              </a:ext>
            </a:extLst>
          </p:cNvPr>
          <p:cNvSpPr/>
          <p:nvPr/>
        </p:nvSpPr>
        <p:spPr>
          <a:xfrm>
            <a:off x="6067485" y="568455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91A7FC91-6069-9553-6A02-70D795A19378}"/>
              </a:ext>
            </a:extLst>
          </p:cNvPr>
          <p:cNvSpPr/>
          <p:nvPr/>
        </p:nvSpPr>
        <p:spPr>
          <a:xfrm>
            <a:off x="7601270" y="5479161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4C07CAA7-53DE-DEE8-BFCF-1D897E344079}"/>
              </a:ext>
            </a:extLst>
          </p:cNvPr>
          <p:cNvSpPr/>
          <p:nvPr/>
        </p:nvSpPr>
        <p:spPr>
          <a:xfrm>
            <a:off x="6070504" y="503356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Apresentação Executiva</a:t>
            </a: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2D7AE11C-ADA6-92A8-48FF-7AB4EC00E1B4}"/>
              </a:ext>
            </a:extLst>
          </p:cNvPr>
          <p:cNvSpPr/>
          <p:nvPr/>
        </p:nvSpPr>
        <p:spPr>
          <a:xfrm>
            <a:off x="9271528" y="566912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— Santa Catarina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frentes em SC · OPASC, Itajaí e Chapecó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OPASC / Transpetro (Biguaçu, Guaramirim e Itajaí)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Contratação da Stang</a:t>
            </a: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— Novo Negócio com o Grupo Ávila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—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B936-4C9C-0765-9FE4-7354A6A9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63E01A-9864-6B61-07A6-1EC515347D92}"/>
              </a:ext>
            </a:extLst>
          </p:cNvPr>
          <p:cNvSpPr/>
          <p:nvPr/>
        </p:nvSpPr>
        <p:spPr>
          <a:xfrm>
            <a:off x="45720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E50BC-83B6-824E-E311-0ACEC96536E8}"/>
              </a:ext>
            </a:extLst>
          </p:cNvPr>
          <p:cNvSpPr txBox="1"/>
          <p:nvPr/>
        </p:nvSpPr>
        <p:spPr>
          <a:xfrm>
            <a:off x="457200" y="419731"/>
            <a:ext cx="2011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OPASC · SC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D6D3D8-E97C-7EC7-22D5-C0486D548CFF}"/>
              </a:ext>
            </a:extLst>
          </p:cNvPr>
          <p:cNvSpPr/>
          <p:nvPr/>
        </p:nvSpPr>
        <p:spPr>
          <a:xfrm>
            <a:off x="978408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6350">
            <a:solidFill>
              <a:srgbClr val="14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64106-B86C-1F94-79BC-10BEDAD78DEB}"/>
              </a:ext>
            </a:extLst>
          </p:cNvPr>
          <p:cNvSpPr txBox="1"/>
          <p:nvPr/>
        </p:nvSpPr>
        <p:spPr>
          <a:xfrm>
            <a:off x="9784080" y="32004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144E9C"/>
                </a:solidFill>
                <a:latin typeface="Calibri"/>
              </a:rPr>
              <a:t>EM VALIDAÇÃO DE MINUTAS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66A7E-029C-A381-3C88-EADB212F9DED}"/>
              </a:ext>
            </a:extLst>
          </p:cNvPr>
          <p:cNvSpPr txBox="1"/>
          <p:nvPr/>
        </p:nvSpPr>
        <p:spPr>
          <a:xfrm>
            <a:off x="2606040" y="254692"/>
            <a:ext cx="7132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0B2D5C"/>
                </a:solidFill>
                <a:latin typeface="Calibri"/>
              </a:rPr>
              <a:t>Novas Ideias · OPASC destrave de Anidro &gt; Gasolina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FE65C-18E9-B1C3-9159-FC3F32352D45}"/>
              </a:ext>
            </a:extLst>
          </p:cNvPr>
          <p:cNvSpPr txBox="1"/>
          <p:nvPr/>
        </p:nvSpPr>
        <p:spPr>
          <a:xfrm>
            <a:off x="2606040" y="5669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Anidro 80→250 m³ e B100 40→80 m³ ·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ToP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de 1.250 m³/mês exige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ramp-up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comercial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A7A2E-2DC6-8EEF-8AC8-72A5823932DE}"/>
              </a:ext>
            </a:extLst>
          </p:cNvPr>
          <p:cNvSpPr/>
          <p:nvPr/>
        </p:nvSpPr>
        <p:spPr>
          <a:xfrm>
            <a:off x="457200" y="914400"/>
            <a:ext cx="11274552" cy="635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31BDF8-2BA8-B5A0-1225-7AA7358A8166}"/>
              </a:ext>
            </a:extLst>
          </p:cNvPr>
          <p:cNvSpPr/>
          <p:nvPr/>
        </p:nvSpPr>
        <p:spPr>
          <a:xfrm>
            <a:off x="457200" y="1097280"/>
            <a:ext cx="6858000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8F34C-DE98-6354-6C2B-D1E0F839FBCD}"/>
              </a:ext>
            </a:extLst>
          </p:cNvPr>
          <p:cNvSpPr/>
          <p:nvPr/>
        </p:nvSpPr>
        <p:spPr>
          <a:xfrm>
            <a:off x="457200" y="1170432"/>
            <a:ext cx="68580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C25CE-A2B1-30AC-1516-9DE2F8BE2A3A}"/>
              </a:ext>
            </a:extLst>
          </p:cNvPr>
          <p:cNvSpPr txBox="1"/>
          <p:nvPr/>
        </p:nvSpPr>
        <p:spPr>
          <a:xfrm>
            <a:off x="685800" y="129844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O que estava em curso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16018-59F9-00AF-331C-C931E0F0CC14}"/>
              </a:ext>
            </a:extLst>
          </p:cNvPr>
          <p:cNvSpPr txBox="1"/>
          <p:nvPr/>
        </p:nvSpPr>
        <p:spPr>
          <a:xfrm>
            <a:off x="685800" y="1691640"/>
            <a:ext cx="6400800" cy="469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Operação de Anidro no OPASC era travada pela tancagem + Limitação de descargas —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Anidro 220 m³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Tancagem de B100 restringia perfil de </a:t>
            </a:r>
            <a:r>
              <a:rPr lang="pt-BR" sz="1100" b="0" i="0" noProof="0" dirty="0" err="1">
                <a:solidFill>
                  <a:srgbClr val="444444"/>
                </a:solidFill>
                <a:latin typeface="Calibri"/>
              </a:rPr>
              <a:t>CTs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admitidos, comprimindo descarga e fluxo de diesel.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1D9089-B889-1837-AFFA-3CE4B3F16945}"/>
              </a:ext>
            </a:extLst>
          </p:cNvPr>
          <p:cNvSpPr/>
          <p:nvPr/>
        </p:nvSpPr>
        <p:spPr>
          <a:xfrm>
            <a:off x="7498079" y="1097280"/>
            <a:ext cx="4251960" cy="7315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6C8C9D-6D5C-AE7D-B6C5-40D8A46CFD69}"/>
              </a:ext>
            </a:extLst>
          </p:cNvPr>
          <p:cNvSpPr/>
          <p:nvPr/>
        </p:nvSpPr>
        <p:spPr>
          <a:xfrm>
            <a:off x="7498079" y="1170432"/>
            <a:ext cx="4251960" cy="2212848"/>
          </a:xfrm>
          <a:prstGeom prst="rect">
            <a:avLst/>
          </a:prstGeom>
          <a:solidFill>
            <a:srgbClr val="ECF7EE"/>
          </a:solidFill>
          <a:ln w="508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D40BAD-C7BA-1AA2-F3A6-534699532FD3}"/>
              </a:ext>
            </a:extLst>
          </p:cNvPr>
          <p:cNvSpPr txBox="1"/>
          <p:nvPr/>
        </p:nvSpPr>
        <p:spPr>
          <a:xfrm>
            <a:off x="7726679" y="129844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E8E3E"/>
                </a:solidFill>
                <a:latin typeface="Calibri"/>
              </a:rPr>
              <a:t>O que mudou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4134AE-32CC-ABFA-F644-C4B76BF2F0EC}"/>
              </a:ext>
            </a:extLst>
          </p:cNvPr>
          <p:cNvSpPr txBox="1"/>
          <p:nvPr/>
        </p:nvSpPr>
        <p:spPr>
          <a:xfrm>
            <a:off x="7726679" y="16276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1E8E3E"/>
                </a:solidFill>
                <a:latin typeface="Calibri"/>
              </a:rPr>
              <a:t>Tancagem destravada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960B95-A7DF-FE57-9AA3-039BC30CCBF5}"/>
              </a:ext>
            </a:extLst>
          </p:cNvPr>
          <p:cNvSpPr/>
          <p:nvPr/>
        </p:nvSpPr>
        <p:spPr>
          <a:xfrm>
            <a:off x="457200" y="3520440"/>
            <a:ext cx="112745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A494AE-D631-D765-AE5A-F738A69208E7}"/>
              </a:ext>
            </a:extLst>
          </p:cNvPr>
          <p:cNvSpPr/>
          <p:nvPr/>
        </p:nvSpPr>
        <p:spPr>
          <a:xfrm>
            <a:off x="457200" y="3593592"/>
            <a:ext cx="1127455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9A433-75D8-D6AB-3630-069688402337}"/>
              </a:ext>
            </a:extLst>
          </p:cNvPr>
          <p:cNvSpPr txBox="1"/>
          <p:nvPr/>
        </p:nvSpPr>
        <p:spPr>
          <a:xfrm>
            <a:off x="685800" y="3721608"/>
            <a:ext cx="108173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Capacidade nova de Gasolina Transpetro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E635C-A801-D719-6E4D-18593F49B628}"/>
              </a:ext>
            </a:extLst>
          </p:cNvPr>
          <p:cNvSpPr txBox="1"/>
          <p:nvPr/>
        </p:nvSpPr>
        <p:spPr>
          <a:xfrm>
            <a:off x="669798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44E9C"/>
                </a:solidFill>
                <a:latin typeface="Calibri"/>
              </a:rPr>
              <a:t>730 → 3.000 m³/sem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8351E1-4557-5B04-6BFD-49C203078B73}"/>
              </a:ext>
            </a:extLst>
          </p:cNvPr>
          <p:cNvSpPr txBox="1"/>
          <p:nvPr/>
        </p:nvSpPr>
        <p:spPr>
          <a:xfrm>
            <a:off x="669798" y="466344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Capacidade de venda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Gas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C destravada após expansão do Anidro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3C31B8-A59C-1EF2-18D9-504F55A29771}"/>
              </a:ext>
            </a:extLst>
          </p:cNvPr>
          <p:cNvSpPr txBox="1"/>
          <p:nvPr/>
        </p:nvSpPr>
        <p:spPr>
          <a:xfrm>
            <a:off x="4357116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E8E3E"/>
                </a:solidFill>
                <a:latin typeface="Calibri"/>
              </a:rPr>
              <a:t>12.000 m³/mês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54A24F-D384-A537-1542-C24D83639138}"/>
              </a:ext>
            </a:extLst>
          </p:cNvPr>
          <p:cNvSpPr txBox="1"/>
          <p:nvPr/>
        </p:nvSpPr>
        <p:spPr>
          <a:xfrm>
            <a:off x="4801328" y="4671373"/>
            <a:ext cx="246717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Teto operacional potencial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7AA25-26F3-BE43-FC1A-E18411FBCCF9}"/>
              </a:ext>
            </a:extLst>
          </p:cNvPr>
          <p:cNvSpPr txBox="1"/>
          <p:nvPr/>
        </p:nvSpPr>
        <p:spPr>
          <a:xfrm>
            <a:off x="8044434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E8A71E"/>
                </a:solidFill>
                <a:latin typeface="Calibri"/>
              </a:rPr>
              <a:t>4.500 m³/mês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F8B46B-A856-844B-4D5F-0F7DC74EEE41}"/>
              </a:ext>
            </a:extLst>
          </p:cNvPr>
          <p:cNvSpPr txBox="1"/>
          <p:nvPr/>
        </p:nvSpPr>
        <p:spPr>
          <a:xfrm>
            <a:off x="8044434" y="4663440"/>
            <a:ext cx="35778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mínimo contratado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1A11DF-CCC6-17FA-5896-E27BEA2D4AF5}"/>
              </a:ext>
            </a:extLst>
          </p:cNvPr>
          <p:cNvSpPr/>
          <p:nvPr/>
        </p:nvSpPr>
        <p:spPr>
          <a:xfrm>
            <a:off x="4247642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A10586-DD79-1692-28DF-A64526ED28D8}"/>
              </a:ext>
            </a:extLst>
          </p:cNvPr>
          <p:cNvSpPr/>
          <p:nvPr/>
        </p:nvSpPr>
        <p:spPr>
          <a:xfrm>
            <a:off x="7934960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50ECF4-F3FA-7BEF-6387-0A177ACBB15B}"/>
              </a:ext>
            </a:extLst>
          </p:cNvPr>
          <p:cNvSpPr txBox="1"/>
          <p:nvPr/>
        </p:nvSpPr>
        <p:spPr>
          <a:xfrm>
            <a:off x="704087" y="5242867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B100 maior · permite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CTs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 de maior porte, acelerando descarga e melhorando o fluxo de venda de diesel.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771139-00DF-BA42-8377-3E6F2C9C9460}"/>
              </a:ext>
            </a:extLst>
          </p:cNvPr>
          <p:cNvSpPr/>
          <p:nvPr/>
        </p:nvSpPr>
        <p:spPr>
          <a:xfrm>
            <a:off x="457200" y="5623560"/>
            <a:ext cx="11274552" cy="868680"/>
          </a:xfrm>
          <a:prstGeom prst="rect">
            <a:avLst/>
          </a:prstGeom>
          <a:solidFill>
            <a:srgbClr val="FDF5DE"/>
          </a:solidFill>
          <a:ln w="1270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915DC2-9F40-DAF7-0B8D-D4B21D8155FB}"/>
              </a:ext>
            </a:extLst>
          </p:cNvPr>
          <p:cNvSpPr/>
          <p:nvPr/>
        </p:nvSpPr>
        <p:spPr>
          <a:xfrm>
            <a:off x="457200" y="5623560"/>
            <a:ext cx="91440" cy="868680"/>
          </a:xfrm>
          <a:prstGeom prst="rect">
            <a:avLst/>
          </a:prstGeom>
          <a:solidFill>
            <a:srgbClr val="E8A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EE02AF-C8D0-9C30-2444-D51C15E82A99}"/>
              </a:ext>
            </a:extLst>
          </p:cNvPr>
          <p:cNvSpPr txBox="1"/>
          <p:nvPr/>
        </p:nvSpPr>
        <p:spPr>
          <a:xfrm>
            <a:off x="731520" y="5733288"/>
            <a:ext cx="8302379" cy="198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150" b="1" i="0" noProof="0" dirty="0">
                <a:solidFill>
                  <a:srgbClr val="0B2D5C"/>
                </a:solidFill>
                <a:latin typeface="Calibri"/>
              </a:rPr>
              <a:t>A capacidade está destravada.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735F10-86DE-C48A-A39D-6EB11BD98A16}"/>
              </a:ext>
            </a:extLst>
          </p:cNvPr>
          <p:cNvSpPr txBox="1"/>
          <p:nvPr/>
        </p:nvSpPr>
        <p:spPr>
          <a:xfrm>
            <a:off x="457200" y="65836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SUL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AACC3B-A82F-F967-DC5D-845545C84CC8}"/>
              </a:ext>
            </a:extLst>
          </p:cNvPr>
          <p:cNvSpPr txBox="1"/>
          <p:nvPr/>
        </p:nvSpPr>
        <p:spPr>
          <a:xfrm>
            <a:off x="4114800" y="658368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Confidencial · DSTL · Junho/2026</a:t>
            </a:r>
          </a:p>
        </p:txBody>
      </p:sp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5B2A25E6-9441-CF87-9209-E07F6DE04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0490"/>
              </p:ext>
            </p:extLst>
          </p:nvPr>
        </p:nvGraphicFramePr>
        <p:xfrm>
          <a:off x="7726679" y="1878936"/>
          <a:ext cx="3314700" cy="1226820"/>
        </p:xfrm>
        <a:graphic>
          <a:graphicData uri="http://schemas.openxmlformats.org/drawingml/2006/table">
            <a:tbl>
              <a:tblPr/>
              <a:tblGrid>
                <a:gridCol w="757291">
                  <a:extLst>
                    <a:ext uri="{9D8B030D-6E8A-4147-A177-3AD203B41FA5}">
                      <a16:colId xmlns:a16="http://schemas.microsoft.com/office/drawing/2014/main" val="2647107963"/>
                    </a:ext>
                  </a:extLst>
                </a:gridCol>
                <a:gridCol w="583487">
                  <a:extLst>
                    <a:ext uri="{9D8B030D-6E8A-4147-A177-3AD203B41FA5}">
                      <a16:colId xmlns:a16="http://schemas.microsoft.com/office/drawing/2014/main" val="2899276265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64007997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583201951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3095000712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Filial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Espaço Anidro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Potencial </a:t>
                      </a:r>
                      <a:r>
                        <a:rPr lang="pt-BR" sz="10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Gas</a:t>
                      </a: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C/mês(m³)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96328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343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Biguaçu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4.800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1973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Guaramirim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550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3.500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616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Itajaí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1.100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4.000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72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2.950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63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02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GUARAMIRIM · SC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320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 w="6350">
            <a:solidFill>
              <a:srgbClr val="14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144E9C"/>
                </a:solidFill>
                <a:latin typeface="Calibri"/>
              </a:rPr>
              <a:t>EM VALIDAÇÃO DE MINUTAS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1168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0B2D5C"/>
                </a:solidFill>
                <a:latin typeface="Calibri"/>
              </a:rPr>
              <a:t>Novas Ideias · OPASC Guaramirim – destrave de Anidro e B100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5669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Anidro 80→250 m³ e B100 40→80 m³ ·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ToP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de 1.250 m³/mês exige </a:t>
            </a:r>
            <a:r>
              <a:rPr lang="pt-BR" sz="1100" b="0" i="1" noProof="0" dirty="0" err="1">
                <a:solidFill>
                  <a:srgbClr val="6E6E6E"/>
                </a:solidFill>
                <a:latin typeface="Calibri"/>
              </a:rPr>
              <a:t>ramp-up</a:t>
            </a:r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 comercial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74552" cy="635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6858000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68580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29844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O que estava em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6400800" cy="9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Operação de Guaramirim limitada pela tancagem privada —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Anidro 80 m³ + B100 40 m³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.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Volume realizado últimos 6 meses: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média ~338 m³/mês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· </a:t>
            </a:r>
            <a:r>
              <a:rPr lang="pt-BR" sz="1100" b="1" i="0" noProof="0" dirty="0">
                <a:solidFill>
                  <a:srgbClr val="444444"/>
                </a:solidFill>
                <a:latin typeface="Calibri"/>
              </a:rPr>
              <a:t>pico 436 m³ (dez/25)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— operação com maior oportunidade potencial do OPASC.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Tancagem de B100 restringia perfil de </a:t>
            </a:r>
            <a:r>
              <a:rPr lang="pt-BR" sz="1100" b="0" i="0" noProof="0" dirty="0" err="1">
                <a:solidFill>
                  <a:srgbClr val="444444"/>
                </a:solidFill>
                <a:latin typeface="Calibri"/>
              </a:rPr>
              <a:t>CTs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 admitidos, comprimindo descarga e fluxo de diesel.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97280"/>
            <a:ext cx="4251960" cy="7315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7498079" y="1170432"/>
            <a:ext cx="4251960" cy="2212848"/>
          </a:xfrm>
          <a:prstGeom prst="rect">
            <a:avLst/>
          </a:prstGeom>
          <a:solidFill>
            <a:srgbClr val="ECF7EE"/>
          </a:solidFill>
          <a:ln w="508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26679" y="129844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E8E3E"/>
                </a:solidFill>
                <a:latin typeface="Calibri"/>
              </a:rPr>
              <a:t>O que mudou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6276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1E8E3E"/>
                </a:solidFill>
                <a:latin typeface="Calibri"/>
              </a:rPr>
              <a:t>Tancagem destravada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12745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457200" y="3593592"/>
            <a:ext cx="1127455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85800" y="3721608"/>
            <a:ext cx="108173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Capacidade nova de Gasolina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798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44E9C"/>
                </a:solidFill>
                <a:latin typeface="Calibri"/>
              </a:rPr>
              <a:t>270 → 850 m³/sem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798" y="466344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Capacidade de venda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Gas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C destravada após expansão do Anidro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7116" y="422731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E8E3E"/>
                </a:solidFill>
                <a:latin typeface="Calibri"/>
              </a:rPr>
              <a:t>3.500 m³/mês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1328" y="4671373"/>
            <a:ext cx="246717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Teto operacional potencial — ~potencial de 8× o pico histórico recente (dez/25)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4434" y="41605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E8A71E"/>
                </a:solidFill>
                <a:latin typeface="Calibri"/>
              </a:rPr>
              <a:t>1.250 m³/mês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4434" y="4663440"/>
            <a:ext cx="35778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mínimo contratado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7642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Rectangle 27"/>
          <p:cNvSpPr/>
          <p:nvPr/>
        </p:nvSpPr>
        <p:spPr>
          <a:xfrm>
            <a:off x="7934960" y="4251960"/>
            <a:ext cx="6350" cy="96012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704087" y="5242867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B100 maior · permite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CTs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 de maior porte, acelerando descarga e melhorando o fluxo de venda de diesel.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23560"/>
            <a:ext cx="11274552" cy="868680"/>
          </a:xfrm>
          <a:prstGeom prst="rect">
            <a:avLst/>
          </a:prstGeom>
          <a:solidFill>
            <a:srgbClr val="FDF5DE"/>
          </a:solidFill>
          <a:ln w="1270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Rectangle 30"/>
          <p:cNvSpPr/>
          <p:nvPr/>
        </p:nvSpPr>
        <p:spPr>
          <a:xfrm>
            <a:off x="457200" y="5623560"/>
            <a:ext cx="91440" cy="868680"/>
          </a:xfrm>
          <a:prstGeom prst="rect">
            <a:avLst/>
          </a:prstGeom>
          <a:solidFill>
            <a:srgbClr val="E8A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731520" y="5733288"/>
            <a:ext cx="8302379" cy="612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150" b="1" i="0" noProof="0" dirty="0">
                <a:solidFill>
                  <a:srgbClr val="0B2D5C"/>
                </a:solidFill>
                <a:latin typeface="Calibri"/>
              </a:rPr>
              <a:t>A capacidade está destravada — a partir de agora o comercial tem condições de ampliar a movimentação da filial.  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O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upside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operacional (3.500 m³/mês) abre captura de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share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no OPASC Norte, mas o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de 1.250 m³ exige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ramp-up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de 3,7× sobre o realizado atual. </a:t>
            </a:r>
            <a:r>
              <a:rPr lang="pt-BR" sz="1050" b="1" i="0" noProof="0" dirty="0">
                <a:solidFill>
                  <a:srgbClr val="444444"/>
                </a:solidFill>
                <a:latin typeface="Calibri"/>
              </a:rPr>
              <a:t>Monitoramento mensal do gap </a:t>
            </a:r>
            <a:r>
              <a:rPr lang="pt-BR" sz="1050" b="1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1" i="0" noProof="0" dirty="0">
                <a:solidFill>
                  <a:srgbClr val="444444"/>
                </a:solidFill>
                <a:latin typeface="Calibri"/>
              </a:rPr>
              <a:t> × realizado é mandatório.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SUL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58368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Confidencial · DSTL · Junho/2026</a:t>
            </a:r>
          </a:p>
        </p:txBody>
      </p: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5E627EEB-C3C9-FC08-0C9F-F939D4312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20717"/>
              </p:ext>
            </p:extLst>
          </p:nvPr>
        </p:nvGraphicFramePr>
        <p:xfrm>
          <a:off x="7726679" y="1878936"/>
          <a:ext cx="3314700" cy="1226820"/>
        </p:xfrm>
        <a:graphic>
          <a:graphicData uri="http://schemas.openxmlformats.org/drawingml/2006/table">
            <a:tbl>
              <a:tblPr/>
              <a:tblGrid>
                <a:gridCol w="757291">
                  <a:extLst>
                    <a:ext uri="{9D8B030D-6E8A-4147-A177-3AD203B41FA5}">
                      <a16:colId xmlns:a16="http://schemas.microsoft.com/office/drawing/2014/main" val="2647107963"/>
                    </a:ext>
                  </a:extLst>
                </a:gridCol>
                <a:gridCol w="583487">
                  <a:extLst>
                    <a:ext uri="{9D8B030D-6E8A-4147-A177-3AD203B41FA5}">
                      <a16:colId xmlns:a16="http://schemas.microsoft.com/office/drawing/2014/main" val="2899276265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64007997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583201951"/>
                    </a:ext>
                  </a:extLst>
                </a:gridCol>
                <a:gridCol w="657974">
                  <a:extLst>
                    <a:ext uri="{9D8B030D-6E8A-4147-A177-3AD203B41FA5}">
                      <a16:colId xmlns:a16="http://schemas.microsoft.com/office/drawing/2014/main" val="3095000712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Filial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Espaço Anidro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Potencial </a:t>
                      </a:r>
                      <a:r>
                        <a:rPr lang="pt-BR" sz="10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Gas</a:t>
                      </a: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C/mês(m³)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96328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Depois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343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Biguaçu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4.800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1973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Guaramirim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550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3.500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616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</a:rPr>
                        <a:t>Itajaí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1.100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4.000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72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2.950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12.300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9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63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BIGUAÇU · SC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000439" y="29260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000439" y="2926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VALIDAÇÃO DE MINUTAS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376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OPASC Biguaçu — retorno do tanque de anidro estabilizou os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bombeios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SC normalizada após restrição da Transpetro · minutas em validação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68580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em curso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SC enfrentava restrição severa de descarga de Anidro em Biguaçu pela Transpetro a partir de abril/2026. O polo OPASC (Biguaçu + Itajaí + Guaramirim) responde por 81% do volume de gasolina do estado — a restrição comprometia os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bombeios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forçava transferência crescente para Itajaí.</a:t>
            </a:r>
          </a:p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anidro – 100 m³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7589520" y="141732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7589520" y="1417320"/>
            <a:ext cx="402336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266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726680" y="18288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de anidro retornou à operação</a:t>
            </a:r>
            <a:endParaRPr lang="pt-BR" sz="1200" noProof="0" dirty="0"/>
          </a:p>
          <a:p>
            <a:pPr marL="0" indent="0" algn="l"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tanque que estava fora de operação pela Transpetro voltou ao serviço. A situação dos 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bombeios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ficou estável.</a:t>
            </a:r>
          </a:p>
          <a:p>
            <a:pPr marL="0" indent="0" algn="l">
              <a:buNone/>
            </a:pPr>
            <a:endParaRPr lang="pt-BR" sz="105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do espaço: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050" b="1" noProof="0" dirty="0">
                <a:solidFill>
                  <a:schemeClr val="accent4">
                    <a:lumMod val="50000"/>
                  </a:schemeClr>
                </a:solidFill>
              </a:rPr>
              <a:t>Anidro: </a:t>
            </a:r>
            <a:r>
              <a:rPr lang="pt-BR" sz="1050" noProof="0" dirty="0">
                <a:solidFill>
                  <a:schemeClr val="accent4">
                    <a:lumMod val="50000"/>
                  </a:schemeClr>
                </a:solidFill>
              </a:rPr>
              <a:t>100 m³ → 350 m³ </a:t>
            </a:r>
            <a:r>
              <a:rPr lang="pt-BR" sz="1050" b="1" noProof="0" dirty="0">
                <a:solidFill>
                  <a:srgbClr val="1E8E3E"/>
                </a:solidFill>
              </a:rPr>
              <a:t>(+250%)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900" i="1" noProof="0" dirty="0" err="1">
                <a:solidFill>
                  <a:srgbClr val="6E6E6E"/>
                </a:solidFill>
              </a:rPr>
              <a:t>SoP</a:t>
            </a:r>
            <a:r>
              <a:rPr lang="pt-BR" sz="900" i="1" noProof="0" dirty="0">
                <a:solidFill>
                  <a:srgbClr val="6E6E6E"/>
                </a:solidFill>
              </a:rPr>
              <a:t> de 150 m³ → 525 m³/mês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1050" b="1" noProof="0" dirty="0">
                <a:solidFill>
                  <a:srgbClr val="444444"/>
                </a:solidFill>
              </a:rPr>
              <a:t>B100: </a:t>
            </a:r>
            <a:r>
              <a:rPr lang="pt-BR" sz="1050" noProof="0" dirty="0">
                <a:solidFill>
                  <a:srgbClr val="444444"/>
                </a:solidFill>
              </a:rPr>
              <a:t>40 m³ → 80 m³ </a:t>
            </a:r>
            <a:r>
              <a:rPr lang="pt-BR" sz="1050" b="1" noProof="0" dirty="0">
                <a:solidFill>
                  <a:srgbClr val="1E8E3E"/>
                </a:solidFill>
              </a:rPr>
              <a:t>(+100%)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pt-BR" sz="900" i="1" noProof="0" dirty="0" err="1">
                <a:solidFill>
                  <a:srgbClr val="6E6E6E"/>
                </a:solidFill>
              </a:rPr>
              <a:t>SoP</a:t>
            </a:r>
            <a:r>
              <a:rPr lang="pt-BR" sz="900" i="1" noProof="0" dirty="0">
                <a:solidFill>
                  <a:srgbClr val="6E6E6E"/>
                </a:solidFill>
              </a:rPr>
              <a:t> de 168 m³ → 336 m³/mês</a:t>
            </a:r>
          </a:p>
          <a:p>
            <a:pPr marL="0" indent="0" algn="l">
              <a:buNone/>
            </a:pPr>
            <a:endParaRPr lang="pt-BR" sz="105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389763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pt-B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868680" y="4251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pt-B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4E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91440" cy="100584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5303519"/>
            <a:ext cx="10805160" cy="1005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conexão com Itajaí</a:t>
            </a:r>
            <a:endParaRPr lang="pt-BR" sz="1050" noProof="0" dirty="0"/>
          </a:p>
          <a:p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com novos espaços, já considerando o novo cenário de bombeio, em fase de validação.</a:t>
            </a:r>
            <a:endParaRPr lang="pt-BR" sz="1100" noProof="0" dirty="0"/>
          </a:p>
          <a:p>
            <a:r>
              <a:rPr lang="pt-BR" sz="3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r>
              <a:rPr lang="pt-BR" sz="10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estrutural: 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 longo prazo para o polo continua sendo Itajaí (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Grupo Ávila ou outras alternativas). Itajaí absorverá a projeção de demanda que Biguaçu não pode sustentar.</a:t>
            </a:r>
            <a:endParaRPr lang="pt-BR" sz="1100" noProof="0" dirty="0"/>
          </a:p>
          <a:p>
            <a:pPr marL="0" indent="0" algn="l">
              <a:buNone/>
            </a:pPr>
            <a:r>
              <a:rPr lang="pt-BR" sz="105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estabilização atual é operacional, não estrutural. O risco de nova restrição na Transpetro permanece — o que reforça a urgência do </a:t>
            </a:r>
            <a:r>
              <a:rPr lang="pt-BR" sz="1050" i="1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05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Itajaí como solução definitiva para o polo OPASC.</a:t>
            </a:r>
            <a:endParaRPr lang="pt-BR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pt-BR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EE808338-08FE-7CF5-A824-7403CF5508BA}"/>
              </a:ext>
            </a:extLst>
          </p:cNvPr>
          <p:cNvSpPr txBox="1"/>
          <p:nvPr/>
        </p:nvSpPr>
        <p:spPr>
          <a:xfrm>
            <a:off x="701802" y="3874109"/>
            <a:ext cx="108173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44E9C"/>
                </a:solidFill>
                <a:latin typeface="Calibri"/>
              </a:rPr>
              <a:t>Capacidade nova de Gasolina Transpetro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B2E965CA-C916-1030-FB09-4855A6368EF4}"/>
              </a:ext>
            </a:extLst>
          </p:cNvPr>
          <p:cNvSpPr txBox="1"/>
          <p:nvPr/>
        </p:nvSpPr>
        <p:spPr>
          <a:xfrm>
            <a:off x="669798" y="412444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44E9C"/>
                </a:solidFill>
                <a:latin typeface="Calibri"/>
              </a:rPr>
              <a:t>350 → 1.200 m³/sem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1D05050E-9A18-250D-AF84-C53D90FC650E}"/>
              </a:ext>
            </a:extLst>
          </p:cNvPr>
          <p:cNvSpPr txBox="1"/>
          <p:nvPr/>
        </p:nvSpPr>
        <p:spPr>
          <a:xfrm>
            <a:off x="640080" y="4491990"/>
            <a:ext cx="370763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Capacidade de venda </a:t>
            </a:r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Gas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C destravada após expansão do Anidro</a:t>
            </a: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A20D0F9F-2887-CFAD-2282-28F38EF114B0}"/>
              </a:ext>
            </a:extLst>
          </p:cNvPr>
          <p:cNvSpPr txBox="1"/>
          <p:nvPr/>
        </p:nvSpPr>
        <p:spPr>
          <a:xfrm>
            <a:off x="4709540" y="4124444"/>
            <a:ext cx="397725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1E8E3E"/>
                </a:solidFill>
                <a:latin typeface="Calibri"/>
              </a:rPr>
              <a:t>4.800 m³/mês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BFA19CB5-771F-1979-B711-C214CC148958}"/>
              </a:ext>
            </a:extLst>
          </p:cNvPr>
          <p:cNvSpPr txBox="1"/>
          <p:nvPr/>
        </p:nvSpPr>
        <p:spPr>
          <a:xfrm>
            <a:off x="5067300" y="4491990"/>
            <a:ext cx="319239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Teto operacional potencial</a:t>
            </a: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EE85655D-0FAF-B4B0-AC96-111D07919064}"/>
              </a:ext>
            </a:extLst>
          </p:cNvPr>
          <p:cNvSpPr txBox="1"/>
          <p:nvPr/>
        </p:nvSpPr>
        <p:spPr>
          <a:xfrm>
            <a:off x="8044434" y="4124444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400" b="1" i="0" noProof="0" dirty="0">
                <a:solidFill>
                  <a:srgbClr val="E8A71E"/>
                </a:solidFill>
                <a:latin typeface="Calibri"/>
              </a:rPr>
              <a:t>1.750 m³/mês</a:t>
            </a: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CE5864CF-4F63-8DF0-96E8-0E1DB1EAF1A4}"/>
              </a:ext>
            </a:extLst>
          </p:cNvPr>
          <p:cNvSpPr txBox="1"/>
          <p:nvPr/>
        </p:nvSpPr>
        <p:spPr>
          <a:xfrm>
            <a:off x="8044434" y="4491990"/>
            <a:ext cx="35778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50" b="0" i="0" noProof="0" dirty="0" err="1">
                <a:solidFill>
                  <a:srgbClr val="444444"/>
                </a:solidFill>
                <a:latin typeface="Calibri"/>
              </a:rPr>
              <a:t>ToP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 mínimo contratado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D53B1A78-09E6-3A00-74BA-28CBD1F0570C}"/>
              </a:ext>
            </a:extLst>
          </p:cNvPr>
          <p:cNvSpPr txBox="1"/>
          <p:nvPr/>
        </p:nvSpPr>
        <p:spPr>
          <a:xfrm>
            <a:off x="640080" y="4960619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B100 maior · permite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CTs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 de maior porte, acelerando descarga e melhorando o fluxo de venda de diesel.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09344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2295144" y="256032"/>
            <a:ext cx="63303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Itajaí — Stang é a única alternativa de armazenagem com escala e de recebimento  de importado no polo OPASC</a:t>
            </a:r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2295144" y="971321"/>
            <a:ext cx="9439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opera em 14.294 m³/mês — já supera projeção de demanda 2026 e está a 3,5% da projeção 2030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7280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461135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operacional em SC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800225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Polo OPASC (Biguaçu + Itajaí + Guaramirim) responde por 81% do volume de gasolina do estado. Biguaçu transfere parte significativa da demanda para Itajaí, que se torna ponto único de falha do sistema. O modelo Biguaçu-média + Itajaí-picos exige redimensionar a tancagem de Gasolina A em Itajaí de 200 m³ atuais para 406 m³. Não há solução operacional disponível na infraestrutura ALE atual.</a:t>
            </a:r>
          </a:p>
          <a:p>
            <a:pPr marL="0" indent="0" algn="l"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Outras distribuidoras que já operam na Stang: Ipiranga, Vibra e Rede SIM.</a:t>
            </a:r>
            <a:endParaRPr lang="pt-BR" sz="11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0972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avaliadas em Itajaí — apenas Stang reúne os 3 atributos críticos</a:t>
            </a:r>
            <a:endParaRPr lang="pt-BR" sz="1200" noProof="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18738"/>
              </p:ext>
            </p:extLst>
          </p:nvPr>
        </p:nvGraphicFramePr>
        <p:xfrm>
          <a:off x="777240" y="3154680"/>
          <a:ext cx="10698480" cy="2103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Stang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 (atual)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Transpetro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Greenfield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disponível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22.065 m³  (406 = 1,8%)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imediata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 importado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via porto Itajaí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(</a:t>
                      </a:r>
                      <a:r>
                        <a:rPr lang="pt-BR" sz="1050" noProof="0" dirty="0" err="1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</a:t>
                      </a: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-off densidade)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Apenas Petrobras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ativação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Imediato (após destrave)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24–36 meses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comercial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Cessão (com precedente)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Cessão atual saturada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 modelo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Próprio / pool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40080" y="576072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5"/>
          <p:cNvSpPr/>
          <p:nvPr/>
        </p:nvSpPr>
        <p:spPr>
          <a:xfrm>
            <a:off x="640080" y="5760720"/>
            <a:ext cx="91440" cy="5943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Jurídica: Recomenda a contratação... (transcrever o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Vini)</a:t>
            </a:r>
          </a:p>
        </p:txBody>
      </p:sp>
      <p:sp>
        <p:nvSpPr>
          <p:cNvPr id="20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Itajaí/Stang</a:t>
            </a:r>
            <a:endParaRPr lang="pt-BR" sz="900" noProof="0" dirty="0"/>
          </a:p>
        </p:txBody>
      </p:sp>
      <p:sp>
        <p:nvSpPr>
          <p:cNvPr id="22" name="Text 19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63640" y="1170432"/>
            <a:ext cx="5468112" cy="4224528"/>
          </a:xfrm>
          <a:prstGeom prst="rect">
            <a:avLst/>
          </a:prstGeom>
          <a:solidFill>
            <a:srgbClr val="ECF7EE"/>
          </a:solidFill>
          <a:ln w="508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4E2B7E4B-3D21-8E01-A248-0CFBCAA7D76C}"/>
              </a:ext>
            </a:extLst>
          </p:cNvPr>
          <p:cNvCxnSpPr>
            <a:cxnSpLocks/>
          </p:cNvCxnSpPr>
          <p:nvPr/>
        </p:nvCxnSpPr>
        <p:spPr>
          <a:xfrm flipH="1">
            <a:off x="6735097" y="1791928"/>
            <a:ext cx="31463" cy="333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41832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CF7EE"/>
          </a:solidFill>
          <a:ln w="762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418320" y="32004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1E8E3E"/>
                </a:solidFill>
                <a:latin typeface="Calibri"/>
              </a:rPr>
              <a:t>RECOMENDAÇÃO DE CONTRATAÇÃO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01168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800" b="1" i="0" noProof="0" dirty="0">
                <a:solidFill>
                  <a:srgbClr val="0B2D5C"/>
                </a:solidFill>
                <a:latin typeface="Calibri"/>
              </a:rPr>
              <a:t>Novos Negócios · Stang — Plano de contratação com mitigações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56692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b="0" i="1" noProof="0" dirty="0">
                <a:solidFill>
                  <a:srgbClr val="6E6E6E"/>
                </a:solidFill>
                <a:latin typeface="Calibri"/>
              </a:rPr>
              <a:t>Parecer Jurídico ALE habilita contratação · Glencore segue conservador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74552" cy="6350"/>
          </a:xfrm>
          <a:prstGeom prst="rect">
            <a:avLst/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486400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548640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12984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44E9C"/>
                </a:solidFill>
                <a:latin typeface="Calibri"/>
              </a:rPr>
              <a:t>Base jurídica para a contratação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Parecer Jurídico ALE · </a:t>
            </a:r>
            <a:r>
              <a:rPr lang="pt-BR" sz="1000" b="0" i="1" noProof="0" dirty="0" err="1">
                <a:solidFill>
                  <a:srgbClr val="6E6E6E"/>
                </a:solidFill>
                <a:latin typeface="Calibri"/>
              </a:rPr>
              <a:t>jan</a:t>
            </a:r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/2026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2140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Fatos não imputados à Stang.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Ações judiciais não envolvem a distribuidora nem seus ativos.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576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26517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Risco temporal afastado.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Ação corre há 8 anos sem desfecho · provas sequer foram analisadas em audiência.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1012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Pior cenário não atinge a contraparte.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Sentença desfavorável ao réu não gera danos materiais à Stang.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04488"/>
            <a:ext cx="73152" cy="73152"/>
          </a:xfrm>
          <a:prstGeom prst="rect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1100" b="1" i="0" noProof="0" dirty="0">
                <a:solidFill>
                  <a:srgbClr val="0B2D5C"/>
                </a:solidFill>
                <a:latin typeface="Calibri"/>
              </a:rPr>
              <a:t>Relação direta com a Stang. </a:t>
            </a:r>
            <a:r>
              <a:rPr lang="pt-BR" sz="1100" b="0" i="0" noProof="0" dirty="0">
                <a:solidFill>
                  <a:srgbClr val="444444"/>
                </a:solidFill>
                <a:latin typeface="Calibri"/>
              </a:rPr>
              <a:t>Risco material da operação está descolado do passivo judicial em curso.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4937760" cy="685800"/>
          </a:xfrm>
          <a:prstGeom prst="rect">
            <a:avLst/>
          </a:prstGeom>
          <a:solidFill>
            <a:srgbClr val="FAF4E3"/>
          </a:solidFill>
          <a:ln w="635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" y="4690872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1" i="0" noProof="0" dirty="0">
                <a:solidFill>
                  <a:srgbClr val="0B2D5C"/>
                </a:solidFill>
                <a:latin typeface="Calibri"/>
              </a:rPr>
              <a:t>Parecer Glencore (</a:t>
            </a:r>
            <a:r>
              <a:rPr lang="pt-BR" sz="1050" b="1" i="0" noProof="0" dirty="0" err="1">
                <a:solidFill>
                  <a:srgbClr val="0B2D5C"/>
                </a:solidFill>
                <a:latin typeface="Calibri"/>
              </a:rPr>
              <a:t>jan</a:t>
            </a:r>
            <a:r>
              <a:rPr lang="pt-BR" sz="1050" b="1" i="0" noProof="0" dirty="0">
                <a:solidFill>
                  <a:srgbClr val="0B2D5C"/>
                </a:solidFill>
                <a:latin typeface="Calibri"/>
              </a:rPr>
              <a:t>/2026): 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mantém recomendação conservadora. 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1" noProof="0" dirty="0">
                <a:solidFill>
                  <a:srgbClr val="444444"/>
                </a:solidFill>
                <a:latin typeface="Calibri"/>
              </a:rPr>
              <a:t>Jurídico ALE entendeu que o risco material está afastado e é endereçável por mitigações contratuais.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097280"/>
            <a:ext cx="5468112" cy="7315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537960" y="1298448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E8E3E"/>
                </a:solidFill>
                <a:latin typeface="Calibri"/>
              </a:rPr>
              <a:t>Arco de planejamento da contratação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534326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0" i="1" noProof="0" dirty="0">
                <a:solidFill>
                  <a:srgbClr val="6E6E6E"/>
                </a:solidFill>
                <a:latin typeface="Calibri"/>
              </a:rPr>
              <a:t>Três mitigações contratuais · sequência condicional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800" b="1" i="0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057400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850" b="1" i="0" noProof="0" dirty="0">
                <a:solidFill>
                  <a:srgbClr val="1E8E3E"/>
                </a:solidFill>
                <a:latin typeface="Calibri"/>
              </a:rPr>
              <a:t>ANTES DA ASSINATURA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Adesão Stang à política de compliance ALE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Condição precedente. Termo de adesão assinado como parte integrante do contrato — sem adesão, não há contratação.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154680"/>
            <a:ext cx="457200" cy="457200"/>
          </a:xfrm>
          <a:prstGeom prst="ellipse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53796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800" b="1" i="0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154680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850" b="1" i="0" noProof="0" dirty="0">
                <a:solidFill>
                  <a:srgbClr val="1E8E3E"/>
                </a:solidFill>
                <a:latin typeface="Calibri"/>
              </a:rPr>
              <a:t>VIGÊNCIA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Cláusula contratual de saída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ALE com direito de rescisão sem ônus mediante fato gerador relacionado às ações em curso (decisão de mérito desfavorável, fatos novos materialmente relevantes).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14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800" b="1" i="0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251960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850" b="1" i="0" noProof="0" dirty="0">
                <a:solidFill>
                  <a:srgbClr val="1E8E3E"/>
                </a:solidFill>
                <a:latin typeface="Calibri"/>
              </a:rPr>
              <a:t>CONTROLE CONTÍNUO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Monitoramento jurídico ativo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Rotina trimestral de acompanhamento processual · reporte ao Comitê Executivo · gatilhos pré-definidos para acionamento da cláusula de saída.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11274552" cy="914400"/>
          </a:xfrm>
          <a:prstGeom prst="rect">
            <a:avLst/>
          </a:prstGeom>
          <a:solidFill>
            <a:srgbClr val="FDF5DE"/>
          </a:solidFill>
          <a:ln w="12700">
            <a:solidFill>
              <a:srgbClr val="E8A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91440" cy="914400"/>
          </a:xfrm>
          <a:prstGeom prst="rect">
            <a:avLst/>
          </a:prstGeom>
          <a:solidFill>
            <a:srgbClr val="E8A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731520" y="5687568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200" b="1" i="0" noProof="0" dirty="0">
                <a:solidFill>
                  <a:srgbClr val="0B2D5C"/>
                </a:solidFill>
                <a:latin typeface="Calibri"/>
              </a:rPr>
              <a:t>Posição ALE: contratação recomendada com mitigações.  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Os </a:t>
            </a:r>
            <a:r>
              <a:rPr lang="pt-BR" sz="1050" b="1" i="0" noProof="0" dirty="0">
                <a:solidFill>
                  <a:srgbClr val="444444"/>
                </a:solidFill>
                <a:latin typeface="Calibri"/>
              </a:rPr>
              <a:t>406 m³ deixam de ser referência teórica do Plano Diretor e tornam-se pleito ativo de cessão na Stang</a:t>
            </a:r>
            <a:r>
              <a:rPr lang="pt-BR" sz="1050" b="0" i="0" noProof="0" dirty="0">
                <a:solidFill>
                  <a:srgbClr val="444444"/>
                </a:solidFill>
                <a:latin typeface="Calibri"/>
              </a:rPr>
              <a:t>. O risco residual material foi avaliado pelo Jurídico ALE e está endereçado pelo arco de três mitigações contratuais.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Novos Negócios · Itajaí/Stang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58368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6E6E6E"/>
                </a:solidFill>
                <a:latin typeface="Calibri"/>
              </a:rPr>
              <a:t>Confidencial · DSTL · Junho/2026</a:t>
            </a:r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398F14BE-94E1-C620-2CD5-FDBC913B6DD1}"/>
              </a:ext>
            </a:extLst>
          </p:cNvPr>
          <p:cNvSpPr/>
          <p:nvPr/>
        </p:nvSpPr>
        <p:spPr>
          <a:xfrm>
            <a:off x="457200" y="320040"/>
            <a:ext cx="1609344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40773169-B23A-3087-BA2F-EF7A20B67B98}"/>
              </a:ext>
            </a:extLst>
          </p:cNvPr>
          <p:cNvSpPr/>
          <p:nvPr/>
        </p:nvSpPr>
        <p:spPr>
          <a:xfrm>
            <a:off x="457200" y="32004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09344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AVANÇANDO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295144" y="256032"/>
            <a:ext cx="69979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Itajaí avança como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macro-objetivo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Grupo Ávila aparece como primeira possibilidade concreta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295144" y="868680"/>
            <a:ext cx="9439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SC continua sendo o objetivo · uma possibilidade, não a única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Itajaí continua sendo o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macro-objetivo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estratégico — solução estrutural para o polo OPASC e para a captura do potencial de SC. Neste momento, surgiu a possibilidade de avanço com o Grupo Ávila (Rede Galo), mas não deve ser a única alternativa em análise.</a:t>
            </a:r>
          </a:p>
          <a:p>
            <a:pPr marL="0" indent="0" algn="l">
              <a:buNone/>
            </a:pPr>
            <a:endParaRPr lang="pt-BR" sz="12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deseja parceria para destravar operação em SC.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349240" cy="2423160"/>
          </a:xfrm>
          <a:prstGeom prst="roundRect">
            <a:avLst>
              <a:gd name="adj" fmla="val 3774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projetada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alvo: </a:t>
            </a:r>
            <a:r>
              <a:rPr lang="pt-BR" sz="16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 m³/mês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de tancagem: </a:t>
            </a:r>
            <a:r>
              <a:rPr lang="pt-BR" sz="16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m³ &gt; 2.500 m³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— 1ª fase: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rodoviário · com possibilidade de interligação com duto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651760"/>
            <a:ext cx="53492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5074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evoluindo com o Grupo Ávila.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registrar: </a:t>
            </a: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Ávila é a primeira possibilidade concreta, não a única. ALE mantém o </a:t>
            </a:r>
            <a:r>
              <a:rPr lang="pt-BR" sz="1100" i="1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macro-objetivo</a:t>
            </a: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aberto a outras alternativas.</a:t>
            </a:r>
            <a:endParaRPr lang="pt-BR" sz="1150" noProof="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pt-BR" sz="900" noProof="0" dirty="0"/>
          </a:p>
        </p:txBody>
      </p:sp>
      <p:sp>
        <p:nvSpPr>
          <p:cNvPr id="39" name="Text 3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F50F345C-37D3-5513-4352-D06EC6596DCB}"/>
              </a:ext>
            </a:extLst>
          </p:cNvPr>
          <p:cNvGrpSpPr/>
          <p:nvPr/>
        </p:nvGrpSpPr>
        <p:grpSpPr>
          <a:xfrm>
            <a:off x="-274320" y="5206771"/>
            <a:ext cx="12883896" cy="1080073"/>
            <a:chOff x="-274320" y="5206771"/>
            <a:chExt cx="12883896" cy="1080073"/>
          </a:xfrm>
        </p:grpSpPr>
        <p:sp>
          <p:nvSpPr>
            <p:cNvPr id="19" name="Shape 17"/>
            <p:cNvSpPr/>
            <p:nvPr/>
          </p:nvSpPr>
          <p:spPr>
            <a:xfrm>
              <a:off x="640080" y="5212080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0080" y="5212080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77240" y="5206771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325880" y="5897880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243584" y="5815584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0080" y="5370480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NDA assinado</a:t>
              </a:r>
              <a:endParaRPr lang="pt-BR" sz="900" noProof="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-274320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00A8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pt-BR" sz="9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180283" y="58155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709339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Elaboração do projeto conceitual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1647883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053681" y="58155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544011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Definição modelo de negócio</a:t>
              </a:r>
              <a:endParaRPr lang="pt-BR" sz="900" noProof="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536544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set/26</a:t>
              </a:r>
              <a:endParaRPr lang="pt-BR" sz="900" noProof="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8990380" y="58155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7559817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7472476" y="60258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1" name="Shape 25">
              <a:extLst>
                <a:ext uri="{FF2B5EF4-FFF2-40B4-BE49-F238E27FC236}">
                  <a16:creationId xmlns:a16="http://schemas.microsoft.com/office/drawing/2014/main" id="{0B249C83-802E-62B0-100D-E602ED7134CB}"/>
                </a:ext>
              </a:extLst>
            </p:cNvPr>
            <p:cNvSpPr/>
            <p:nvPr/>
          </p:nvSpPr>
          <p:spPr>
            <a:xfrm>
              <a:off x="5116982" y="582050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2" name="Text 26">
              <a:extLst>
                <a:ext uri="{FF2B5EF4-FFF2-40B4-BE49-F238E27FC236}">
                  <a16:creationId xmlns:a16="http://schemas.microsoft.com/office/drawing/2014/main" id="{2EB6A115-AD0E-94FF-9255-9AF8DAB01906}"/>
                </a:ext>
              </a:extLst>
            </p:cNvPr>
            <p:cNvSpPr/>
            <p:nvPr/>
          </p:nvSpPr>
          <p:spPr>
            <a:xfrm>
              <a:off x="3609422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3E474573-0CA4-32F1-BD90-E397F67ACFCF}"/>
                </a:ext>
              </a:extLst>
            </p:cNvPr>
            <p:cNvSpPr/>
            <p:nvPr/>
          </p:nvSpPr>
          <p:spPr>
            <a:xfrm>
              <a:off x="3619257" y="603081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ago26</a:t>
              </a:r>
              <a:endParaRPr lang="pt-BR" sz="900" noProof="0" dirty="0"/>
            </a:p>
          </p:txBody>
        </p:sp>
        <p:sp>
          <p:nvSpPr>
            <p:cNvPr id="44" name="Shape 31">
              <a:extLst>
                <a:ext uri="{FF2B5EF4-FFF2-40B4-BE49-F238E27FC236}">
                  <a16:creationId xmlns:a16="http://schemas.microsoft.com/office/drawing/2014/main" id="{C6FFF7F1-0F2C-19E4-A8BB-EA559016CBA5}"/>
                </a:ext>
              </a:extLst>
            </p:cNvPr>
            <p:cNvSpPr/>
            <p:nvPr/>
          </p:nvSpPr>
          <p:spPr>
            <a:xfrm>
              <a:off x="10927080" y="580014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5" name="Text 32">
              <a:extLst>
                <a:ext uri="{FF2B5EF4-FFF2-40B4-BE49-F238E27FC236}">
                  <a16:creationId xmlns:a16="http://schemas.microsoft.com/office/drawing/2014/main" id="{A387BB75-4C67-D490-708E-8C615D754D00}"/>
                </a:ext>
              </a:extLst>
            </p:cNvPr>
            <p:cNvSpPr/>
            <p:nvPr/>
          </p:nvSpPr>
          <p:spPr>
            <a:xfrm>
              <a:off x="9409176" y="537490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Go/ no Go</a:t>
              </a:r>
              <a:endParaRPr lang="pt-BR" sz="900" noProof="0" dirty="0"/>
            </a:p>
          </p:txBody>
        </p:sp>
        <p:sp>
          <p:nvSpPr>
            <p:cNvPr id="46" name="Text 33">
              <a:extLst>
                <a:ext uri="{FF2B5EF4-FFF2-40B4-BE49-F238E27FC236}">
                  <a16:creationId xmlns:a16="http://schemas.microsoft.com/office/drawing/2014/main" id="{7E40B48E-9C20-6734-080A-736F5D378B62}"/>
                </a:ext>
              </a:extLst>
            </p:cNvPr>
            <p:cNvSpPr/>
            <p:nvPr/>
          </p:nvSpPr>
          <p:spPr>
            <a:xfrm>
              <a:off x="9409176" y="6010460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44E9C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· SC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8808415" y="2926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8808415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DO VOLUME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1840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Chapecó —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cessão em análise comercial do volume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= praça prioritária no Plano de Expansão (projeção de demanda ·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3,7%)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073326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10486"/>
            <a:ext cx="10972800" cy="3184533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265379"/>
            <a:ext cx="10607040" cy="297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Cessão de espaço na base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Maxissul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Chapecó com tarifa e volume mínimo já definidos. A análise comercial está em curso para validar o volume.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 é o terceiro maior município em consumo de combustíveis (4% do estado), com 259 km³ em 2024 (54,5% Diesel, 43,3% GAC e 2,2% EH).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Plano de Expansão: </a:t>
            </a:r>
            <a:r>
              <a:rPr lang="pt-BR" sz="1200" noProof="0" dirty="0"/>
              <a:t>Chapecó é o único ponto de ancoragem de infraestrutura capaz de atender o Oeste catarinense — Considerando a Região Geográfica Intermediária IBGE com </a:t>
            </a:r>
            <a:r>
              <a:rPr lang="pt-BR" sz="1200" b="1" noProof="0" dirty="0"/>
              <a:t>109 municípios e 88 mil m³/mês de consumo de claros (16% do volume estadual)</a:t>
            </a:r>
            <a:r>
              <a:rPr lang="pt-BR" sz="1200" noProof="0" dirty="0"/>
              <a:t> —, hoje sem cobertura de infraestrutura ALE.</a:t>
            </a:r>
          </a:p>
          <a:p>
            <a:pPr>
              <a:spcAft>
                <a:spcPts val="200"/>
              </a:spcAft>
            </a:pPr>
            <a:r>
              <a:rPr lang="pt-BR" sz="1200" noProof="0" dirty="0"/>
              <a:t>TOP negociado (2.000 m³/mês) corresponde a </a:t>
            </a:r>
            <a:r>
              <a:rPr lang="pt-BR" sz="1200" b="1" noProof="0" dirty="0"/>
              <a:t>2,3% desse mercado endereçável</a:t>
            </a:r>
            <a:r>
              <a:rPr lang="pt-BR" sz="1200" noProof="0" dirty="0"/>
              <a:t>, abaixo do </a:t>
            </a:r>
            <a:r>
              <a:rPr lang="pt-BR" sz="1200" noProof="0" dirty="0" err="1"/>
              <a:t>share</a:t>
            </a:r>
            <a:r>
              <a:rPr lang="pt-BR" sz="1200" noProof="0" dirty="0"/>
              <a:t> atual da ALE em SC (3,7%): entrada calibrada, com folga estrutural para crescer dentro do ciclo contratual.</a:t>
            </a:r>
          </a:p>
          <a:p>
            <a:pPr>
              <a:spcAft>
                <a:spcPts val="200"/>
              </a:spcAft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análise comercial e decisão sobre fechamento da cessão.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6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Tancagem: </a:t>
            </a: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m³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3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mensal: </a:t>
            </a: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4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3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Proposta: 6 meses sem TOP.</a:t>
            </a: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0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contratual: 4 anos</a:t>
            </a:r>
            <a:endParaRPr lang="pt-BR" sz="1100" b="1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771603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5F4FA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5771603"/>
            <a:ext cx="9144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5863043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operacional rápida em SC pode ampliar raio de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ALE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59C83474-8190-2806-87F0-4DBE8EF6248B}"/>
              </a:ext>
            </a:extLst>
          </p:cNvPr>
          <p:cNvSpPr/>
          <p:nvPr/>
        </p:nvSpPr>
        <p:spPr>
          <a:xfrm>
            <a:off x="640080" y="4479122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89013A81-B706-B406-474D-9F82C46DA840}"/>
              </a:ext>
            </a:extLst>
          </p:cNvPr>
          <p:cNvSpPr/>
          <p:nvPr/>
        </p:nvSpPr>
        <p:spPr>
          <a:xfrm>
            <a:off x="640080" y="4479122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E432FC40-EA5B-9493-BF82-F702002961E4}"/>
              </a:ext>
            </a:extLst>
          </p:cNvPr>
          <p:cNvSpPr/>
          <p:nvPr/>
        </p:nvSpPr>
        <p:spPr>
          <a:xfrm>
            <a:off x="777240" y="4473813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46859FE6-9065-CA6E-B018-C6CD9A1C8F7B}"/>
              </a:ext>
            </a:extLst>
          </p:cNvPr>
          <p:cNvSpPr/>
          <p:nvPr/>
        </p:nvSpPr>
        <p:spPr>
          <a:xfrm>
            <a:off x="1325880" y="5164922"/>
            <a:ext cx="9601200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9773FFD-EE0D-C439-5F0A-E2857094F2A3}"/>
              </a:ext>
            </a:extLst>
          </p:cNvPr>
          <p:cNvSpPr/>
          <p:nvPr/>
        </p:nvSpPr>
        <p:spPr>
          <a:xfrm>
            <a:off x="1243584" y="5082626"/>
            <a:ext cx="164592" cy="164592"/>
          </a:xfrm>
          <a:prstGeom prst="ellipse">
            <a:avLst/>
          </a:prstGeom>
          <a:solidFill>
            <a:srgbClr val="00A859"/>
          </a:solidFill>
          <a:ln w="254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BE0853F-5DD1-874A-9B09-CF8496452E2D}"/>
              </a:ext>
            </a:extLst>
          </p:cNvPr>
          <p:cNvSpPr/>
          <p:nvPr/>
        </p:nvSpPr>
        <p:spPr>
          <a:xfrm>
            <a:off x="640080" y="4637522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Obtenção da proposta</a:t>
            </a:r>
            <a:endParaRPr lang="pt-BR" sz="900" noProof="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080BFFAD-E199-241F-9A7D-392A3659A3AA}"/>
              </a:ext>
            </a:extLst>
          </p:cNvPr>
          <p:cNvSpPr/>
          <p:nvPr/>
        </p:nvSpPr>
        <p:spPr>
          <a:xfrm>
            <a:off x="-274320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pt-BR" sz="900" noProof="0" dirty="0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54AFB256-BAE1-6FCA-A1AE-AD287C4B372E}"/>
              </a:ext>
            </a:extLst>
          </p:cNvPr>
          <p:cNvSpPr/>
          <p:nvPr/>
        </p:nvSpPr>
        <p:spPr>
          <a:xfrm>
            <a:off x="3180283" y="508262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12658FAE-CB08-15D6-47F4-815C2E3E4298}"/>
              </a:ext>
            </a:extLst>
          </p:cNvPr>
          <p:cNvSpPr/>
          <p:nvPr/>
        </p:nvSpPr>
        <p:spPr>
          <a:xfrm>
            <a:off x="1709339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Alinhamento do volume</a:t>
            </a: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0B3E2D78-DA71-D077-DB13-9DB68A642E51}"/>
              </a:ext>
            </a:extLst>
          </p:cNvPr>
          <p:cNvSpPr/>
          <p:nvPr/>
        </p:nvSpPr>
        <p:spPr>
          <a:xfrm>
            <a:off x="1647883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jun26</a:t>
            </a:r>
            <a:endParaRPr lang="pt-BR" sz="900" noProof="0" dirty="0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72D3970D-0531-0DB7-1EFC-39A8A6C26840}"/>
              </a:ext>
            </a:extLst>
          </p:cNvPr>
          <p:cNvSpPr/>
          <p:nvPr/>
        </p:nvSpPr>
        <p:spPr>
          <a:xfrm>
            <a:off x="7053681" y="508262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D4A229A7-42DC-6195-3943-69DFEF86EDF8}"/>
              </a:ext>
            </a:extLst>
          </p:cNvPr>
          <p:cNvSpPr/>
          <p:nvPr/>
        </p:nvSpPr>
        <p:spPr>
          <a:xfrm>
            <a:off x="5544011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da Proposta</a:t>
            </a:r>
            <a:endParaRPr lang="pt-BR" sz="900" noProof="0" dirty="0"/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D5143935-4C73-48BD-2EE3-514F02B44FBE}"/>
              </a:ext>
            </a:extLst>
          </p:cNvPr>
          <p:cNvSpPr/>
          <p:nvPr/>
        </p:nvSpPr>
        <p:spPr>
          <a:xfrm>
            <a:off x="5536544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89E005F5-D12C-4C2C-FAFF-04A570B112DB}"/>
              </a:ext>
            </a:extLst>
          </p:cNvPr>
          <p:cNvSpPr/>
          <p:nvPr/>
        </p:nvSpPr>
        <p:spPr>
          <a:xfrm>
            <a:off x="8990380" y="508262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5EF9466F-5FEB-BD72-B8B5-A5A42C9F0596}"/>
              </a:ext>
            </a:extLst>
          </p:cNvPr>
          <p:cNvSpPr/>
          <p:nvPr/>
        </p:nvSpPr>
        <p:spPr>
          <a:xfrm>
            <a:off x="7471188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executiva</a:t>
            </a:r>
            <a:endParaRPr lang="pt-BR" sz="900" noProof="0" dirty="0"/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4C6382E2-D495-5736-B804-87D11F9DE643}"/>
              </a:ext>
            </a:extLst>
          </p:cNvPr>
          <p:cNvSpPr/>
          <p:nvPr/>
        </p:nvSpPr>
        <p:spPr>
          <a:xfrm>
            <a:off x="7472476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575C550-83E8-CAB0-95B3-36E114C5443F}"/>
              </a:ext>
            </a:extLst>
          </p:cNvPr>
          <p:cNvSpPr/>
          <p:nvPr/>
        </p:nvSpPr>
        <p:spPr>
          <a:xfrm>
            <a:off x="5116982" y="508754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5B06C8F4-2ABD-B593-2D0C-07DE3DB9DE0D}"/>
              </a:ext>
            </a:extLst>
          </p:cNvPr>
          <p:cNvSpPr/>
          <p:nvPr/>
        </p:nvSpPr>
        <p:spPr>
          <a:xfrm>
            <a:off x="3609422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Estudo de Viabilidade</a:t>
            </a: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2530EC2B-4740-8B0B-085E-CB4DC40F57A8}"/>
              </a:ext>
            </a:extLst>
          </p:cNvPr>
          <p:cNvSpPr/>
          <p:nvPr/>
        </p:nvSpPr>
        <p:spPr>
          <a:xfrm>
            <a:off x="3619257" y="529785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7" name="Shape 31">
            <a:extLst>
              <a:ext uri="{FF2B5EF4-FFF2-40B4-BE49-F238E27FC236}">
                <a16:creationId xmlns:a16="http://schemas.microsoft.com/office/drawing/2014/main" id="{CF5EE566-8E19-4B47-7A01-53CD98F9669A}"/>
              </a:ext>
            </a:extLst>
          </p:cNvPr>
          <p:cNvSpPr/>
          <p:nvPr/>
        </p:nvSpPr>
        <p:spPr>
          <a:xfrm>
            <a:off x="10927080" y="5067190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8" name="Text 32">
            <a:extLst>
              <a:ext uri="{FF2B5EF4-FFF2-40B4-BE49-F238E27FC236}">
                <a16:creationId xmlns:a16="http://schemas.microsoft.com/office/drawing/2014/main" id="{7860EA96-B020-B214-911D-8958FE2C4695}"/>
              </a:ext>
            </a:extLst>
          </p:cNvPr>
          <p:cNvSpPr/>
          <p:nvPr/>
        </p:nvSpPr>
        <p:spPr>
          <a:xfrm>
            <a:off x="9405777" y="4641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 no Go</a:t>
            </a:r>
            <a:endParaRPr lang="pt-BR" sz="900" noProof="0" dirty="0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00673F88-91C5-450A-2D75-DEB21B11A80F}"/>
              </a:ext>
            </a:extLst>
          </p:cNvPr>
          <p:cNvSpPr/>
          <p:nvPr/>
        </p:nvSpPr>
        <p:spPr>
          <a:xfrm>
            <a:off x="9474098" y="529293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38043071-D7F8-84E4-96A5-15FA094D46F2}"/>
              </a:ext>
            </a:extLst>
          </p:cNvPr>
          <p:cNvSpPr/>
          <p:nvPr/>
        </p:nvSpPr>
        <p:spPr>
          <a:xfrm>
            <a:off x="868758" y="3226395"/>
            <a:ext cx="6741410" cy="11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endParaRPr lang="pt-BR" sz="1200" b="1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em Vitória · prioritária no Plano de Expansão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endParaRPr lang="pt-BR" sz="11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(Atlântica + Santa Rosa)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— SPE Navegantes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endParaRPr lang="pt-BR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594799" y="292608"/>
            <a:ext cx="213969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594799" y="292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ATIVA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9704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Vitória opera no limite da grade contratada — gap se amplia até 2030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286000" y="850392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cativa em Vitória: operador único (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Oiltank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contrato vigente até 2029, sem alternativa física no ES no curto prazo.</a:t>
            </a:r>
          </a:p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é sobre grade de carregamento (volume diário de saída), não sobre tancagem.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6583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658368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85800" y="23408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contratada </a:t>
            </a: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demanda real (m³/dia)</a:t>
            </a:r>
            <a:endParaRPr lang="pt-BR" sz="1200" noProof="0" dirty="0"/>
          </a:p>
        </p:txBody>
      </p:sp>
      <p:sp>
        <p:nvSpPr>
          <p:cNvPr id="15" name="Shape 12"/>
          <p:cNvSpPr/>
          <p:nvPr/>
        </p:nvSpPr>
        <p:spPr>
          <a:xfrm>
            <a:off x="7406639" y="2331720"/>
            <a:ext cx="4327855" cy="2697480"/>
          </a:xfrm>
          <a:prstGeom prst="roundRect">
            <a:avLst>
              <a:gd name="adj" fmla="val 3390"/>
            </a:avLst>
          </a:prstGeom>
          <a:solidFill>
            <a:srgbClr val="FFF4E0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7406640" y="2331720"/>
            <a:ext cx="43200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7543800" y="2340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2026 → 2030</a:t>
            </a:r>
            <a:endParaRPr lang="pt-BR" sz="1200" noProof="0" dirty="0"/>
          </a:p>
        </p:txBody>
      </p:sp>
      <p:sp>
        <p:nvSpPr>
          <p:cNvPr id="18" name="Text 15"/>
          <p:cNvSpPr/>
          <p:nvPr/>
        </p:nvSpPr>
        <p:spPr>
          <a:xfrm>
            <a:off x="7543800" y="2645564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médio (m³/mês)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7.516  →  10.200  (+36%)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média (m³/dia) em 2030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3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</a:t>
            </a:r>
            <a:r>
              <a:rPr lang="pt-BR" sz="1300" b="1" noProof="0" dirty="0" err="1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3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grade de 315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300" b="1" noProof="0" dirty="0">
              <a:solidFill>
                <a:srgbClr val="E3061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de grade: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→ 390 m³/dia  (+75 m³/dia · +1.875 m³/mês)</a:t>
            </a:r>
            <a:endParaRPr lang="pt-BR" sz="1100" noProof="0" dirty="0"/>
          </a:p>
          <a:p>
            <a:r>
              <a:rPr lang="pt-BR" sz="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 k/mês =  R$ 1,32 MM/ano = R$ 13,6/m³</a:t>
            </a:r>
            <a:endParaRPr lang="pt-BR" sz="1100" noProof="0" dirty="0"/>
          </a:p>
          <a:p>
            <a:r>
              <a:rPr lang="pt-BR" sz="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r>
              <a:rPr lang="pt-BR" sz="10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concluída · falta apenas decisão interna ALE.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21" name="Text 18"/>
          <p:cNvSpPr/>
          <p:nvPr/>
        </p:nvSpPr>
        <p:spPr>
          <a:xfrm>
            <a:off x="694442" y="3790922"/>
            <a:ext cx="6355080" cy="12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atendimento acima dos 315 m³/dia depende de grade pública — volumes que outras distribuidoras não utilizam. Correlação perversa: a grade pública seca em períodos de pico de mercado.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 média de demanda 2026 com folga (gap médio passa de −8 para +67 m³/dia)</a:t>
            </a:r>
            <a:endParaRPr lang="pt-BR" sz="1200" noProof="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dependência da grade pública para operação típica</a:t>
            </a:r>
            <a:endParaRPr lang="pt-BR" sz="1200" noProof="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dependência de favor por dependência contratual — previsibilidade ganha em S&amp;OE</a:t>
            </a:r>
            <a:endParaRPr lang="pt-BR" sz="1200" noProof="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adequada até aproximadamente 2030</a:t>
            </a:r>
            <a:endParaRPr lang="pt-BR" sz="1200" noProof="0" dirty="0"/>
          </a:p>
        </p:txBody>
      </p:sp>
      <p:sp>
        <p:nvSpPr>
          <p:cNvPr id="22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14" name="Text 21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8855DFF9-FD61-C118-63C7-6501CB791AB8}"/>
              </a:ext>
            </a:extLst>
          </p:cNvPr>
          <p:cNvSpPr/>
          <p:nvPr/>
        </p:nvSpPr>
        <p:spPr>
          <a:xfrm>
            <a:off x="685800" y="34800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proposta resolve</a:t>
            </a:r>
            <a:endParaRPr lang="pt-BR" sz="1200" noProof="0" dirty="0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E01E413E-7EE7-37B0-887A-08E950CF0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2052"/>
              </p:ext>
            </p:extLst>
          </p:nvPr>
        </p:nvGraphicFramePr>
        <p:xfrm>
          <a:off x="694442" y="2644139"/>
          <a:ext cx="6355080" cy="880232"/>
        </p:xfrm>
        <a:graphic>
          <a:graphicData uri="http://schemas.openxmlformats.org/drawingml/2006/table">
            <a:tbl>
              <a:tblPr/>
              <a:tblGrid>
                <a:gridCol w="724815">
                  <a:extLst>
                    <a:ext uri="{9D8B030D-6E8A-4147-A177-3AD203B41FA5}">
                      <a16:colId xmlns:a16="http://schemas.microsoft.com/office/drawing/2014/main" val="177658635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2406046289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2736602267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186611766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659698763"/>
                    </a:ext>
                  </a:extLst>
                </a:gridCol>
                <a:gridCol w="1126053">
                  <a:extLst>
                    <a:ext uri="{9D8B030D-6E8A-4147-A177-3AD203B41FA5}">
                      <a16:colId xmlns:a16="http://schemas.microsoft.com/office/drawing/2014/main" val="3750527597"/>
                    </a:ext>
                  </a:extLst>
                </a:gridCol>
              </a:tblGrid>
              <a:tr h="1973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Média de Volume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Grade contrato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 Média x Contrato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Proposta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 Média x Proposta (m³)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19000"/>
                  </a:ext>
                </a:extLst>
              </a:tr>
              <a:tr h="2534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82099"/>
                  </a:ext>
                </a:extLst>
              </a:tr>
              <a:tr h="2534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54A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Mês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8.075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7.875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9.750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1.675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134777"/>
                  </a:ext>
                </a:extLst>
              </a:tr>
            </a:tbl>
          </a:graphicData>
        </a:graphic>
      </p:graphicFrame>
      <p:sp>
        <p:nvSpPr>
          <p:cNvPr id="32" name="Text 5">
            <a:extLst>
              <a:ext uri="{FF2B5EF4-FFF2-40B4-BE49-F238E27FC236}">
                <a16:creationId xmlns:a16="http://schemas.microsoft.com/office/drawing/2014/main" id="{28A30C56-0F6B-9F83-B2A7-5E8967DD14C2}"/>
              </a:ext>
            </a:extLst>
          </p:cNvPr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alavanca acessível enquanto Atlântica e SPE não maduram · ES = prioritária no Plano de Expansão (projeção de demanda)</a:t>
            </a:r>
            <a:endParaRPr lang="pt-BR" sz="1200" noProof="0" dirty="0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EE455028-2310-34F5-3191-0E5049B5D6C1}"/>
              </a:ext>
            </a:extLst>
          </p:cNvPr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7D1FB35D-F7F5-3CFF-B702-13376172949A}"/>
              </a:ext>
            </a:extLst>
          </p:cNvPr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2284B85-65E6-18E3-7D97-D4CF93673527}"/>
              </a:ext>
            </a:extLst>
          </p:cNvPr>
          <p:cNvSpPr txBox="1"/>
          <p:nvPr/>
        </p:nvSpPr>
        <p:spPr>
          <a:xfrm>
            <a:off x="731520" y="5662582"/>
            <a:ext cx="1088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aceitar a oferta. Mitigação tática que destrava a operação 2026-2028 enquanto Atlântica e SPE evoluem como solução estrutural. R$1,32MM/ano é prêmio razoável pela previsibilidade contratual em praça prioritária com a maior margem do Plano de Expansão (R$243/m³).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832543" y="292608"/>
            <a:ext cx="1901952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832543" y="29260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PENDENTE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7208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Vitória — aceitar ampliação de grade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mitigação tática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alavanca acessível enquanto Atlântica e SPE não maduram · ES = prioritária no Plano de Expansão (projeção de demanda)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7280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na mesa — </a:t>
            </a:r>
            <a:r>
              <a:rPr lang="pt-BR" sz="12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Otamérica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de grade: </a:t>
            </a: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→ 390 m³/dia  (+75 m³/dia · +2.250 m³/mês)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13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 k/mês fixo  =  R$ 1,32 MM/ano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300" noProof="0" dirty="0"/>
          </a:p>
          <a:p>
            <a:pPr marL="0" indent="0" algn="l">
              <a:buNone/>
            </a:pP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concluída · falta apenas decisão interna ALE.</a:t>
            </a:r>
            <a:endParaRPr lang="pt-BR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349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oferta resolve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 média de demanda 2026 com folga (gap médio passa de −8 para +67 m³/dia)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dependência da grade pública para operação típica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dependência de favor por dependência contratual — previsibilidade ganha em S&amp;OE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adequada até aproximadamente 2028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534924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oferta não resolve</a:t>
            </a:r>
            <a:endParaRPr lang="pt-B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demanda continuam estourando a grade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estrutural em 2030 (demanda média 340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grade 390 — pico esperado ~680)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ALE em posição cativa com operador único até 2029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estrutural depende de Atlântica e SPE — ambas em holding</a:t>
            </a:r>
            <a:endParaRPr lang="pt-B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aceitar a oferta. Mitigação tática que destrava a operação 2026-2028 enquanto Atlântica e SPE evoluem como solução estrutural. R$1,32MM/ano é prêmio razoável pela previsibilidade contratual em praça prioritária com a maior margem do Plano de Expansão (R$243/m³).</a:t>
            </a:r>
            <a:endParaRPr lang="pt-B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119311" y="292608"/>
            <a:ext cx="2615184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19311" y="2926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PARALELAS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64949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Vitória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duas frentes paralelas: Atlântica e Grupo Santa Rosa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praça prioritária no Plano de Expansão (projeção de demanda) · margem R$243/m³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105989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43149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243149"/>
            <a:ext cx="5349240" cy="45720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243149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ATLÂNTICA  ·  Pool aquisição (</a:t>
            </a:r>
            <a:r>
              <a:rPr lang="pt-B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1791789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Sondagem informal · sem NDA · dependente de interesse do dono em vender e do interesse em ampliar.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avanço material no período.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entrada via aquisição de participação em base existente. Continua no radar como uma das vias de destravar capacidade adicional em Serra (25 km de Vila Velha).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Reabrir sondagem condicionada a sinal do dono.</a:t>
            </a:r>
            <a:endParaRPr lang="pt-B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1243148"/>
            <a:ext cx="5349240" cy="5157651"/>
          </a:xfrm>
          <a:prstGeom prst="roundRect">
            <a:avLst>
              <a:gd name="adj" fmla="val 2000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263640" y="1243149"/>
            <a:ext cx="5349240" cy="4572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1243149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SANTA ROSA  ·  Base nova (</a:t>
            </a:r>
            <a:r>
              <a:rPr lang="pt-BR" sz="11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construção)</a:t>
            </a:r>
            <a:endParaRPr lang="pt-BR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1791789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5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nova no período. Base do Grupo Santa Rosa está sendo construída.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entrada via cessão de espaço em base nova de terceiro. CAPEX baixo, ativação amarrada ao cronograma de construção do parceiro.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Atlântica: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paralelas — não excludentes. ES precisa de mais de uma alavanca para sustentar a projeção de demanda 2030.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5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discussão formal de cessão + acompanhar cronograma de obra.</a:t>
            </a:r>
            <a:endParaRPr lang="pt-BR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pt-B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1BECFA-D0FC-CA41-967E-CD716650EE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33"/>
          <a:stretch>
            <a:fillRect/>
          </a:stretch>
        </p:blipFill>
        <p:spPr bwMode="auto">
          <a:xfrm>
            <a:off x="1993967" y="3958541"/>
            <a:ext cx="3995353" cy="185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9AC5A7B-CE67-6312-C5A8-B6132A3371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52"/>
          <a:stretch>
            <a:fillRect/>
          </a:stretch>
        </p:blipFill>
        <p:spPr>
          <a:xfrm>
            <a:off x="640080" y="3958543"/>
            <a:ext cx="2232846" cy="186291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71D2FFE-0383-F7BD-7F76-0E487ABB1D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934"/>
          <a:stretch>
            <a:fillRect/>
          </a:stretch>
        </p:blipFill>
        <p:spPr>
          <a:xfrm>
            <a:off x="7007329" y="4129457"/>
            <a:ext cx="4223964" cy="20614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· ES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713671" y="292608"/>
            <a:ext cx="2020824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713671" y="29260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ASSINATURA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441448" y="256032"/>
            <a:ext cx="7089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Vitória SPE Navegantes — NDA em fase de assinatura abre discussão do contrato futuro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441448" y="868680"/>
            <a:ext cx="9293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Navegantes· terminal a ser construído · start operacional previsto 2028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062444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199604"/>
            <a:ext cx="10972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382484"/>
            <a:ext cx="106070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discussão de NDA · solicitação de tarifa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fase de assinatura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com a SPE Navegantes evoluiu da discussão para a redação final do NDA. A assinatura abre formalmente a fase de discussão do contrato futuro de armazenagem no terminal a ser construído. Start operacional previsto para 2028.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NDA e início da discussão do contrato futuro.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771605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5771605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5863045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exige múltiplas alavancas operando em paralelo · SPE é a frente de mais longo prazo, com a maior escala potencial.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856C6D88-AF22-9580-C8B3-96EF6840D3FF}"/>
              </a:ext>
            </a:extLst>
          </p:cNvPr>
          <p:cNvGrpSpPr/>
          <p:nvPr/>
        </p:nvGrpSpPr>
        <p:grpSpPr>
          <a:xfrm>
            <a:off x="640080" y="4642651"/>
            <a:ext cx="12034418" cy="1080073"/>
            <a:chOff x="640080" y="4642651"/>
            <a:chExt cx="12034418" cy="1080073"/>
          </a:xfrm>
        </p:grpSpPr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8AE68F9C-64ED-BA83-5F47-A5BD54E58C6D}"/>
                </a:ext>
              </a:extLst>
            </p:cNvPr>
            <p:cNvSpPr/>
            <p:nvPr/>
          </p:nvSpPr>
          <p:spPr>
            <a:xfrm>
              <a:off x="640080" y="4647960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17E1537E-2FEC-EA81-2D58-31ADB7721B2F}"/>
                </a:ext>
              </a:extLst>
            </p:cNvPr>
            <p:cNvSpPr/>
            <p:nvPr/>
          </p:nvSpPr>
          <p:spPr>
            <a:xfrm>
              <a:off x="640080" y="4647960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667BA38E-21B3-09F0-8849-7F2B29D9C5E1}"/>
                </a:ext>
              </a:extLst>
            </p:cNvPr>
            <p:cNvSpPr/>
            <p:nvPr/>
          </p:nvSpPr>
          <p:spPr>
            <a:xfrm>
              <a:off x="777240" y="4642651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67456136-0767-9C9E-D929-EF1DB50A3725}"/>
                </a:ext>
              </a:extLst>
            </p:cNvPr>
            <p:cNvSpPr/>
            <p:nvPr/>
          </p:nvSpPr>
          <p:spPr>
            <a:xfrm>
              <a:off x="1325880" y="5333760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DC087A1F-2A12-8F19-FAD7-CEDC4CB7AFCF}"/>
                </a:ext>
              </a:extLst>
            </p:cNvPr>
            <p:cNvSpPr/>
            <p:nvPr/>
          </p:nvSpPr>
          <p:spPr>
            <a:xfrm>
              <a:off x="1243584" y="5251464"/>
              <a:ext cx="164592" cy="164592"/>
            </a:xfrm>
            <a:prstGeom prst="ellipse">
              <a:avLst/>
            </a:prstGeom>
            <a:solidFill>
              <a:srgbClr val="F39A00"/>
            </a:solidFill>
            <a:ln w="25400">
              <a:solidFill>
                <a:srgbClr val="F39A00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3" name="Text 23">
              <a:extLst>
                <a:ext uri="{FF2B5EF4-FFF2-40B4-BE49-F238E27FC236}">
                  <a16:creationId xmlns:a16="http://schemas.microsoft.com/office/drawing/2014/main" id="{EBA1D544-C49B-5637-5380-9852066C4945}"/>
                </a:ext>
              </a:extLst>
            </p:cNvPr>
            <p:cNvSpPr/>
            <p:nvPr/>
          </p:nvSpPr>
          <p:spPr>
            <a:xfrm>
              <a:off x="2577038" y="4806360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C5485C66-E690-8353-F45C-8CBDB34F6F15}"/>
                </a:ext>
              </a:extLst>
            </p:cNvPr>
            <p:cNvSpPr/>
            <p:nvPr/>
          </p:nvSpPr>
          <p:spPr>
            <a:xfrm>
              <a:off x="3180283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4449B47E-13C1-2423-D894-BE605BBB46FA}"/>
                </a:ext>
              </a:extLst>
            </p:cNvPr>
            <p:cNvSpPr/>
            <p:nvPr/>
          </p:nvSpPr>
          <p:spPr>
            <a:xfrm>
              <a:off x="3646297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Alinhamento do volume</a:t>
              </a:r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106AB035-8A5B-976D-807C-32A3C3752641}"/>
                </a:ext>
              </a:extLst>
            </p:cNvPr>
            <p:cNvSpPr/>
            <p:nvPr/>
          </p:nvSpPr>
          <p:spPr>
            <a:xfrm>
              <a:off x="1647883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jun26</a:t>
              </a:r>
              <a:endParaRPr lang="pt-BR" sz="900" noProof="0" dirty="0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2D4A7D1A-CF57-03DB-4CCA-43A9C97D777A}"/>
                </a:ext>
              </a:extLst>
            </p:cNvPr>
            <p:cNvSpPr/>
            <p:nvPr/>
          </p:nvSpPr>
          <p:spPr>
            <a:xfrm>
              <a:off x="7053681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42E062D2-C4B5-9B37-F956-8BF11BB2F448}"/>
                </a:ext>
              </a:extLst>
            </p:cNvPr>
            <p:cNvSpPr/>
            <p:nvPr/>
          </p:nvSpPr>
          <p:spPr>
            <a:xfrm>
              <a:off x="7480969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6DE4ED5D-E053-DF53-0BE7-5A61FC7AE1C7}"/>
                </a:ext>
              </a:extLst>
            </p:cNvPr>
            <p:cNvSpPr/>
            <p:nvPr/>
          </p:nvSpPr>
          <p:spPr>
            <a:xfrm>
              <a:off x="5536544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0" name="Shape 31">
              <a:extLst>
                <a:ext uri="{FF2B5EF4-FFF2-40B4-BE49-F238E27FC236}">
                  <a16:creationId xmlns:a16="http://schemas.microsoft.com/office/drawing/2014/main" id="{72834673-5462-C958-1612-E24B0638C814}"/>
                </a:ext>
              </a:extLst>
            </p:cNvPr>
            <p:cNvSpPr/>
            <p:nvPr/>
          </p:nvSpPr>
          <p:spPr>
            <a:xfrm>
              <a:off x="8990380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40F4D6A3-DE22-5F51-02F7-BC82B72FA74B}"/>
                </a:ext>
              </a:extLst>
            </p:cNvPr>
            <p:cNvSpPr/>
            <p:nvPr/>
          </p:nvSpPr>
          <p:spPr>
            <a:xfrm>
              <a:off x="9408146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32" name="Text 33">
              <a:extLst>
                <a:ext uri="{FF2B5EF4-FFF2-40B4-BE49-F238E27FC236}">
                  <a16:creationId xmlns:a16="http://schemas.microsoft.com/office/drawing/2014/main" id="{8F84DAEF-5B0B-B8F8-1B8E-A0B4B4DF7682}"/>
                </a:ext>
              </a:extLst>
            </p:cNvPr>
            <p:cNvSpPr/>
            <p:nvPr/>
          </p:nvSpPr>
          <p:spPr>
            <a:xfrm>
              <a:off x="7472476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2A8CA795-A3E6-0F0A-FF37-B05FD37F5E25}"/>
                </a:ext>
              </a:extLst>
            </p:cNvPr>
            <p:cNvSpPr/>
            <p:nvPr/>
          </p:nvSpPr>
          <p:spPr>
            <a:xfrm>
              <a:off x="5116982" y="525638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0089364E-9CAC-1CC6-9737-8233B2F3AAA9}"/>
                </a:ext>
              </a:extLst>
            </p:cNvPr>
            <p:cNvSpPr/>
            <p:nvPr/>
          </p:nvSpPr>
          <p:spPr>
            <a:xfrm>
              <a:off x="5546380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Estudo de Viabilidade</a:t>
              </a:r>
            </a:p>
          </p:txBody>
        </p:sp>
        <p:sp>
          <p:nvSpPr>
            <p:cNvPr id="35" name="Text 27">
              <a:extLst>
                <a:ext uri="{FF2B5EF4-FFF2-40B4-BE49-F238E27FC236}">
                  <a16:creationId xmlns:a16="http://schemas.microsoft.com/office/drawing/2014/main" id="{C1501296-9B5E-E7D2-280E-0BB27219637C}"/>
                </a:ext>
              </a:extLst>
            </p:cNvPr>
            <p:cNvSpPr/>
            <p:nvPr/>
          </p:nvSpPr>
          <p:spPr>
            <a:xfrm>
              <a:off x="3619257" y="546669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36" name="Shape 31">
              <a:extLst>
                <a:ext uri="{FF2B5EF4-FFF2-40B4-BE49-F238E27FC236}">
                  <a16:creationId xmlns:a16="http://schemas.microsoft.com/office/drawing/2014/main" id="{2EA70813-1E88-705A-95A5-82BED0A3D81D}"/>
                </a:ext>
              </a:extLst>
            </p:cNvPr>
            <p:cNvSpPr/>
            <p:nvPr/>
          </p:nvSpPr>
          <p:spPr>
            <a:xfrm>
              <a:off x="10927080" y="523602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8" name="Text 33">
              <a:extLst>
                <a:ext uri="{FF2B5EF4-FFF2-40B4-BE49-F238E27FC236}">
                  <a16:creationId xmlns:a16="http://schemas.microsoft.com/office/drawing/2014/main" id="{BFF07AB1-8420-9260-98A9-CA378D237023}"/>
                </a:ext>
              </a:extLst>
            </p:cNvPr>
            <p:cNvSpPr/>
            <p:nvPr/>
          </p:nvSpPr>
          <p:spPr>
            <a:xfrm>
              <a:off x="9474098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  <p:sp>
        <p:nvSpPr>
          <p:cNvPr id="39" name="Text 25">
            <a:extLst>
              <a:ext uri="{FF2B5EF4-FFF2-40B4-BE49-F238E27FC236}">
                <a16:creationId xmlns:a16="http://schemas.microsoft.com/office/drawing/2014/main" id="{B25BC44A-A30A-994E-65FA-48113ADFAD1E}"/>
              </a:ext>
            </a:extLst>
          </p:cNvPr>
          <p:cNvSpPr/>
          <p:nvPr/>
        </p:nvSpPr>
        <p:spPr>
          <a:xfrm>
            <a:off x="-1074420" y="481078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em assinatura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8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REGIONAL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frentes organizadas por estado · GO/RS, PA-SP-MG, RJ, SP, RS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endParaRPr lang="pt-BR" sz="11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Caxias / EFEN (RJ)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Torrão → OPLA (SP)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OPLA atenção operacional (SP)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Paulínia + SJRP (SP)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pt-BR" sz="11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Rio Grande + Uberaba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●"/>
            </a:pPr>
            <a:r>
              <a:rPr lang="pt-BR" sz="1100" strike="sngStrike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00" strike="sngStrike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Rede SIM (Goiânia + Santa Maria)</a:t>
            </a:r>
            <a:endParaRPr lang="pt-BR" sz="1100" strike="sngStrike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endParaRPr lang="pt-BR" sz="11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>
            <a:extLst>
              <a:ext uri="{FF2B5EF4-FFF2-40B4-BE49-F238E27FC236}">
                <a16:creationId xmlns:a16="http://schemas.microsoft.com/office/drawing/2014/main" id="{A4ED54B5-52DF-9FF5-C56F-27B92AAEDCBD}"/>
              </a:ext>
            </a:extLst>
          </p:cNvPr>
          <p:cNvSpPr/>
          <p:nvPr/>
        </p:nvSpPr>
        <p:spPr>
          <a:xfrm>
            <a:off x="457200" y="320040"/>
            <a:ext cx="1856232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 · SC · SP · MT 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</a:t>
            </a:r>
            <a:r>
              <a:rPr lang="pt-BR" sz="1900" b="1" noProof="0" dirty="0" err="1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90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uma contraparte conecta três frentes em três estados</a:t>
            </a:r>
            <a:endParaRPr lang="pt-BR" sz="1900" noProof="0" dirty="0"/>
          </a:p>
        </p:txBody>
      </p:sp>
      <p:sp>
        <p:nvSpPr>
          <p:cNvPr id="5" name="Shape 3"/>
          <p:cNvSpPr/>
          <p:nvPr/>
        </p:nvSpPr>
        <p:spPr>
          <a:xfrm>
            <a:off x="9966960" y="320040"/>
            <a:ext cx="1764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589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9966960" y="320040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ASSINADO</a:t>
            </a:r>
            <a:endParaRPr lang="pt-B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990503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para destravar </a:t>
            </a:r>
            <a:r>
              <a:rPr lang="pt-BR" sz="1200" i="1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2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Itajaí, abrindo possibilidade de resolução da hibernação regulatória de Várzea Grande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349378"/>
            <a:ext cx="1127455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559003"/>
            <a:ext cx="357530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1559003"/>
            <a:ext cx="3575304" cy="56692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21792" y="1559003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 · SC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621792" y="2173914"/>
            <a:ext cx="1691640" cy="29260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" y="217391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kern="0" spc="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850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" y="258539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 no </a:t>
            </a:r>
            <a:r>
              <a:rPr lang="pt-BR" sz="1350" b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(Grupo Ávila)</a:t>
            </a:r>
            <a:endParaRPr lang="pt-B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621792" y="283424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sinaliza interesse em embarcar no projeto de base nova em Itajaí, em desenvolvimento com o Grupo Ávila. Como âncora de volume, reduz o risco da tese </a:t>
            </a: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 praça prioritária e acelera a captura do potencial de SC.</a:t>
            </a:r>
            <a:endParaRPr lang="pt-B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" y="3792895"/>
            <a:ext cx="3246120" cy="78638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" y="3792895"/>
            <a:ext cx="54864" cy="786384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68096" y="3847759"/>
            <a:ext cx="3099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pt-BR" sz="85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projetada
</a:t>
            </a:r>
            <a:endParaRPr lang="pt-BR" sz="850" noProof="0" dirty="0"/>
          </a:p>
          <a:p>
            <a:pPr marL="0" indent="0" algn="l">
              <a:lnSpc>
                <a:spcPct val="98000"/>
              </a:lnSpc>
              <a:buNone/>
            </a:pPr>
            <a:r>
              <a:rPr lang="pt-BR" sz="9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m³/mês · tancagem 1.500 → 2.500 m³</a:t>
            </a:r>
            <a:endParaRPr lang="pt-BR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4306824" y="1559003"/>
            <a:ext cx="357530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4306824" y="1559003"/>
            <a:ext cx="3575304" cy="56692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471416" y="1559003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 · SP</a:t>
            </a:r>
            <a:endParaRPr lang="pt-BR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4471416" y="2173914"/>
            <a:ext cx="1691640" cy="292608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471416" y="217391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kern="0" spc="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850" noProof="0" dirty="0"/>
          </a:p>
        </p:txBody>
      </p:sp>
      <p:sp>
        <p:nvSpPr>
          <p:cNvPr id="24" name="Text 22"/>
          <p:cNvSpPr/>
          <p:nvPr/>
        </p:nvSpPr>
        <p:spPr>
          <a:xfrm>
            <a:off x="4471416" y="258539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Rentabilização da fortaleza ALE</a:t>
            </a:r>
            <a:endParaRPr lang="pt-BR" sz="1350" noProof="0" dirty="0"/>
          </a:p>
        </p:txBody>
      </p:sp>
      <p:sp>
        <p:nvSpPr>
          <p:cNvPr id="25" name="Text 23"/>
          <p:cNvSpPr/>
          <p:nvPr/>
        </p:nvSpPr>
        <p:spPr>
          <a:xfrm>
            <a:off x="4471416" y="283424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os players que procuram a base . Para acomodar a </a:t>
            </a: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ALE precisa migrar a própria operação para um terminal — liberando capacidade da base própria para cessão.</a:t>
            </a:r>
            <a:endParaRPr lang="pt-BR" sz="1050" noProof="0" dirty="0"/>
          </a:p>
        </p:txBody>
      </p:sp>
      <p:sp>
        <p:nvSpPr>
          <p:cNvPr id="26" name="Shape 24"/>
          <p:cNvSpPr/>
          <p:nvPr/>
        </p:nvSpPr>
        <p:spPr>
          <a:xfrm>
            <a:off x="4471416" y="3792895"/>
            <a:ext cx="3246120" cy="78638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25"/>
          <p:cNvSpPr/>
          <p:nvPr/>
        </p:nvSpPr>
        <p:spPr>
          <a:xfrm>
            <a:off x="4471416" y="3792895"/>
            <a:ext cx="54864" cy="786384"/>
          </a:xfrm>
          <a:prstGeom prst="rect">
            <a:avLst/>
          </a:prstGeom>
          <a:solidFill>
            <a:srgbClr val="00B6C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4617720" y="3847759"/>
            <a:ext cx="3099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pt-BR" sz="85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
</a:t>
            </a:r>
            <a:endParaRPr lang="pt-BR" sz="850" noProof="0" dirty="0"/>
          </a:p>
          <a:p>
            <a:pPr marL="0" indent="0" algn="l">
              <a:lnSpc>
                <a:spcPct val="98000"/>
              </a:lnSpc>
              <a:buNone/>
            </a:pPr>
            <a:r>
              <a:rPr lang="pt-BR" sz="9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 ativo já operacional × exige realocar a operação ALE</a:t>
            </a:r>
            <a:endParaRPr lang="pt-BR" sz="850" noProof="0" dirty="0"/>
          </a:p>
        </p:txBody>
      </p:sp>
      <p:sp>
        <p:nvSpPr>
          <p:cNvPr id="29" name="Shape 27"/>
          <p:cNvSpPr/>
          <p:nvPr/>
        </p:nvSpPr>
        <p:spPr>
          <a:xfrm>
            <a:off x="8156448" y="1559003"/>
            <a:ext cx="357530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Shape 28"/>
          <p:cNvSpPr/>
          <p:nvPr/>
        </p:nvSpPr>
        <p:spPr>
          <a:xfrm>
            <a:off x="8156448" y="1559003"/>
            <a:ext cx="3575304" cy="56692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8321040" y="1559003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MUTUM · MT</a:t>
            </a:r>
            <a:endParaRPr lang="pt-BR" sz="1300" noProof="0" dirty="0"/>
          </a:p>
        </p:txBody>
      </p:sp>
      <p:sp>
        <p:nvSpPr>
          <p:cNvPr id="32" name="Shape 30"/>
          <p:cNvSpPr/>
          <p:nvPr/>
        </p:nvSpPr>
        <p:spPr>
          <a:xfrm>
            <a:off x="8321040" y="2173914"/>
            <a:ext cx="1691640" cy="292608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8321040" y="217391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kern="0" spc="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850" noProof="0" dirty="0"/>
          </a:p>
        </p:txBody>
      </p:sp>
      <p:sp>
        <p:nvSpPr>
          <p:cNvPr id="34" name="Text 32"/>
          <p:cNvSpPr/>
          <p:nvPr/>
        </p:nvSpPr>
        <p:spPr>
          <a:xfrm>
            <a:off x="8321040" y="258539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1350" b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novo destrava Várzea Grande</a:t>
            </a:r>
            <a:endParaRPr lang="pt-BR" sz="1350" noProof="0" dirty="0"/>
          </a:p>
        </p:txBody>
      </p:sp>
      <p:sp>
        <p:nvSpPr>
          <p:cNvPr id="35" name="Text 33"/>
          <p:cNvSpPr/>
          <p:nvPr/>
        </p:nvSpPr>
        <p:spPr>
          <a:xfrm>
            <a:off x="8321040" y="283424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05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propõe que a ALE construa um terminal em Nova Mutum, sua praça produtora. Tancagem própria em MT pode cumprir a exigência legal de 750 m³ — liberando a saída de Várzea Grande, hoje hibernada apenas por imposição regulatória.</a:t>
            </a:r>
            <a:endParaRPr lang="pt-BR" sz="1050" noProof="0" dirty="0"/>
          </a:p>
        </p:txBody>
      </p:sp>
      <p:sp>
        <p:nvSpPr>
          <p:cNvPr id="36" name="Shape 34"/>
          <p:cNvSpPr/>
          <p:nvPr/>
        </p:nvSpPr>
        <p:spPr>
          <a:xfrm>
            <a:off x="8321040" y="3792895"/>
            <a:ext cx="3246120" cy="78638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Shape 35"/>
          <p:cNvSpPr/>
          <p:nvPr/>
        </p:nvSpPr>
        <p:spPr>
          <a:xfrm>
            <a:off x="8321040" y="3792895"/>
            <a:ext cx="54864" cy="786384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8467344" y="3847759"/>
            <a:ext cx="3099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pt-BR" sz="850" b="1" noProof="0" dirty="0">
                <a:solidFill>
                  <a:srgbClr val="1B5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estrutural (condicional)
</a:t>
            </a:r>
            <a:endParaRPr lang="pt-BR" sz="850" noProof="0" dirty="0"/>
          </a:p>
          <a:p>
            <a:pPr marL="0" indent="0" algn="l">
              <a:lnSpc>
                <a:spcPct val="98000"/>
              </a:lnSpc>
              <a:buNone/>
            </a:pPr>
            <a:r>
              <a:rPr lang="pt-BR" sz="9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a hibernação de Várzea Grande · consulta a MT em curso</a:t>
            </a:r>
            <a:endParaRPr lang="pt-BR" sz="850" noProof="0" dirty="0"/>
          </a:p>
        </p:txBody>
      </p:sp>
      <p:sp>
        <p:nvSpPr>
          <p:cNvPr id="39" name="Shape 37"/>
          <p:cNvSpPr/>
          <p:nvPr/>
        </p:nvSpPr>
        <p:spPr>
          <a:xfrm>
            <a:off x="457200" y="5961888"/>
            <a:ext cx="11274552" cy="512064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457200" y="5961888"/>
            <a:ext cx="73152" cy="512064"/>
          </a:xfrm>
          <a:prstGeom prst="rect">
            <a:avLst/>
          </a:prstGeom>
          <a:solidFill>
            <a:srgbClr val="1B589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1" name="Text 39"/>
          <p:cNvSpPr/>
          <p:nvPr/>
        </p:nvSpPr>
        <p:spPr>
          <a:xfrm>
            <a:off x="676656" y="5961888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 err="1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100" i="1" noProof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única contraparte que conecta três frentes em três estados — possibilidade para encerrar a hibernação regulatória de Várzea Grande abrindo um novo mercado.</a:t>
            </a:r>
            <a:endParaRPr lang="pt-BR" sz="1100" noProof="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800" noProof="0" dirty="0"/>
          </a:p>
        </p:txBody>
      </p:sp>
      <p:sp>
        <p:nvSpPr>
          <p:cNvPr id="43" name="Text 41"/>
          <p:cNvSpPr/>
          <p:nvPr/>
        </p:nvSpPr>
        <p:spPr>
          <a:xfrm>
            <a:off x="3657600" y="6565392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800" noProof="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50750E3A-761A-926E-6DF6-093110AA1D61}"/>
              </a:ext>
            </a:extLst>
          </p:cNvPr>
          <p:cNvSpPr/>
          <p:nvPr/>
        </p:nvSpPr>
        <p:spPr>
          <a:xfrm>
            <a:off x="456609" y="4892141"/>
            <a:ext cx="11291834" cy="1005840"/>
          </a:xfrm>
          <a:prstGeom prst="roundRect">
            <a:avLst>
              <a:gd name="adj" fmla="val 9091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8A32586C-48AF-9259-79B3-18604B2B94FE}"/>
              </a:ext>
            </a:extLst>
          </p:cNvPr>
          <p:cNvSpPr/>
          <p:nvPr/>
        </p:nvSpPr>
        <p:spPr>
          <a:xfrm>
            <a:off x="456609" y="4892141"/>
            <a:ext cx="11291834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28385085-49E0-592B-3A97-FD40A3FF605A}"/>
              </a:ext>
            </a:extLst>
          </p:cNvPr>
          <p:cNvSpPr/>
          <p:nvPr/>
        </p:nvSpPr>
        <p:spPr>
          <a:xfrm>
            <a:off x="597757" y="4886832"/>
            <a:ext cx="11009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Macro-cronograma</a:t>
            </a:r>
            <a:endParaRPr lang="pt-BR" sz="1200" noProof="0" dirty="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320A7229-513E-9158-375C-1BE8399BE015}"/>
              </a:ext>
            </a:extLst>
          </p:cNvPr>
          <p:cNvSpPr/>
          <p:nvPr/>
        </p:nvSpPr>
        <p:spPr>
          <a:xfrm>
            <a:off x="1162349" y="5577941"/>
            <a:ext cx="9880355" cy="0"/>
          </a:xfrm>
          <a:prstGeom prst="line">
            <a:avLst/>
          </a:prstGeom>
          <a:noFill/>
          <a:ln w="190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28108683-E531-DACA-3FD0-EE5042B94E92}"/>
              </a:ext>
            </a:extLst>
          </p:cNvPr>
          <p:cNvSpPr/>
          <p:nvPr/>
        </p:nvSpPr>
        <p:spPr>
          <a:xfrm>
            <a:off x="1077660" y="5495645"/>
            <a:ext cx="169378" cy="164592"/>
          </a:xfrm>
          <a:prstGeom prst="ellipse">
            <a:avLst/>
          </a:prstGeom>
          <a:solidFill>
            <a:srgbClr val="00A859"/>
          </a:solidFill>
          <a:ln w="254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5EE6135-78D5-3665-215F-AAC14F790505}"/>
              </a:ext>
            </a:extLst>
          </p:cNvPr>
          <p:cNvSpPr/>
          <p:nvPr/>
        </p:nvSpPr>
        <p:spPr>
          <a:xfrm>
            <a:off x="388818" y="5040906"/>
            <a:ext cx="15470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Assinado</a:t>
            </a:r>
            <a:endParaRPr lang="pt-BR" sz="900" noProof="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F9839877-714A-9C5F-F328-92706882F7CF}"/>
              </a:ext>
            </a:extLst>
          </p:cNvPr>
          <p:cNvSpPr/>
          <p:nvPr/>
        </p:nvSpPr>
        <p:spPr>
          <a:xfrm>
            <a:off x="3070669" y="5495645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D76722E0-6E50-1C73-7286-DEDD00BA6A1F}"/>
              </a:ext>
            </a:extLst>
          </p:cNvPr>
          <p:cNvSpPr/>
          <p:nvPr/>
        </p:nvSpPr>
        <p:spPr>
          <a:xfrm>
            <a:off x="4248322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Definição do modelo de negócio</a:t>
            </a: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93BF924E-7A28-35EF-BD2D-9F7D3D47860F}"/>
              </a:ext>
            </a:extLst>
          </p:cNvPr>
          <p:cNvSpPr/>
          <p:nvPr/>
        </p:nvSpPr>
        <p:spPr>
          <a:xfrm>
            <a:off x="1493714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 err="1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900" noProof="0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6A77A4A2-B5B3-9895-74AA-843B766A32A0}"/>
              </a:ext>
            </a:extLst>
          </p:cNvPr>
          <p:cNvSpPr/>
          <p:nvPr/>
        </p:nvSpPr>
        <p:spPr>
          <a:xfrm>
            <a:off x="5817819" y="5495645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71322556-9C69-4567-B275-8DE51095A4CD}"/>
              </a:ext>
            </a:extLst>
          </p:cNvPr>
          <p:cNvSpPr/>
          <p:nvPr/>
        </p:nvSpPr>
        <p:spPr>
          <a:xfrm>
            <a:off x="4256574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out/26</a:t>
            </a:r>
            <a:endParaRPr lang="pt-BR" sz="900" noProof="0" dirty="0"/>
          </a:p>
        </p:txBody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4839FD63-0F92-FF75-B4C6-77AD197034C9}"/>
              </a:ext>
            </a:extLst>
          </p:cNvPr>
          <p:cNvSpPr/>
          <p:nvPr/>
        </p:nvSpPr>
        <p:spPr>
          <a:xfrm>
            <a:off x="9049694" y="5495645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4DAED918-7D2C-D18D-D3A4-29A2BAFA9C03}"/>
              </a:ext>
            </a:extLst>
          </p:cNvPr>
          <p:cNvSpPr/>
          <p:nvPr/>
        </p:nvSpPr>
        <p:spPr>
          <a:xfrm>
            <a:off x="7481624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executiva</a:t>
            </a:r>
            <a:endParaRPr lang="pt-BR" sz="900" noProof="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93C72622-A71E-D3F3-E2F4-3D02E2439290}"/>
              </a:ext>
            </a:extLst>
          </p:cNvPr>
          <p:cNvSpPr/>
          <p:nvPr/>
        </p:nvSpPr>
        <p:spPr>
          <a:xfrm>
            <a:off x="7487657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pt-BR" sz="900" noProof="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5BCCBDDA-2AE6-BC0E-272E-B481D8FB749D}"/>
              </a:ext>
            </a:extLst>
          </p:cNvPr>
          <p:cNvSpPr/>
          <p:nvPr/>
        </p:nvSpPr>
        <p:spPr>
          <a:xfrm>
            <a:off x="11042704" y="5480209"/>
            <a:ext cx="169378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D972CA53-55D7-1443-7A45-0B0212ED77FD}"/>
              </a:ext>
            </a:extLst>
          </p:cNvPr>
          <p:cNvSpPr/>
          <p:nvPr/>
        </p:nvSpPr>
        <p:spPr>
          <a:xfrm>
            <a:off x="9547476" y="5705957"/>
            <a:ext cx="3293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pt-BR" sz="900" noProof="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4E98DAC3-A906-12E7-BCFA-95E8994F2F52}"/>
              </a:ext>
            </a:extLst>
          </p:cNvPr>
          <p:cNvSpPr/>
          <p:nvPr/>
        </p:nvSpPr>
        <p:spPr>
          <a:xfrm>
            <a:off x="1508632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/>
              <a:t>Elaboração do projeto conceitual</a:t>
            </a:r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0D581117-81DD-18C8-2544-964F06E13C88}"/>
              </a:ext>
            </a:extLst>
          </p:cNvPr>
          <p:cNvSpPr/>
          <p:nvPr/>
        </p:nvSpPr>
        <p:spPr>
          <a:xfrm>
            <a:off x="9402670" y="5040906"/>
            <a:ext cx="329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 GO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79523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236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DUQUE DE CAXIAS · RJ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000439" y="29260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000439" y="29260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FECHADO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694040" y="256032"/>
            <a:ext cx="612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Caxias / EFEN — Termo de Ajuste fechado · pendente contrato comercial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694040" y="868680"/>
            <a:ext cx="9040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com EFEN (joint venture BP + Prumo) · venda de 6,4% por R$8MM ·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previsto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105987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43147"/>
            <a:ext cx="10972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426027"/>
            <a:ext cx="106070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de instrumentos contratuais · </a:t>
            </a:r>
            <a:r>
              <a:rPr lang="pt-BR" sz="11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previsto </a:t>
            </a:r>
            <a:r>
              <a:rPr lang="pt-BR" sz="11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11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2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do pool fechado · pendente contrato comercial de compra e venda do produto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mantidos: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6,4% por R$8MM · NPV 10A R$12,6MM (WACC 15%)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Bases Próprias: </a:t>
            </a:r>
            <a:r>
              <a:rPr lang="pt-BR" sz="115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crítica de S10 (100% cessão Raízen · sem duto interligado) com possibilidade no radar de interligação direta à refinaria.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contrato comercial · protocolo CADE ·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815146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5815146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590658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em execução · operação monetiza ociosidade da base + diversifica perfil de cotistas.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4008754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F7F7F7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4008754"/>
            <a:ext cx="109728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77240" y="410019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Caxias / EFEN — sem cronograma fechado</a:t>
            </a:r>
            <a:endParaRPr lang="pt-B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868680" y="4511674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Ajuste do pool fechado. Falta o contrato comercial de compra e venda do produto.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contrato comercial · </a:t>
            </a: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</a:t>
            </a: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Cronograma: </a:t>
            </a:r>
            <a:r>
              <a:rPr lang="pt-BR" sz="12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após fechamento do contrato comercial.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 · SP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10088575" y="292608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088575" y="292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EM CURSO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587752" y="256032"/>
            <a:ext cx="7317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saída forçada da Torrão converte-se em oportunidade — BID OPLA em curso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587752" y="868680"/>
            <a:ext cx="9146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de espaço por arrendamento da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abre caminho para alternativa ferroviária + importado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da Torrão — terminal utilizado pela ALE para descargas de importado — foi arrendada pela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 isso, ALE foi convidada a se retirar do espaço.</a:t>
            </a:r>
            <a:endParaRPr lang="pt-BR" sz="1150" noProof="0" dirty="0"/>
          </a:p>
          <a:p>
            <a:pPr marL="0" indent="0" algn="l">
              <a:buNone/>
            </a:pPr>
            <a:endParaRPr lang="pt-BR" sz="1150" noProof="0" dirty="0"/>
          </a:p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era movimento planejado. Mas a saída forçada abriu a janela para revisitar a logística do importado em Paulínia com critério estratégico, não apenas operacional.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349240" cy="4572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proposta: OPLA (Grupo Ultra)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em curso. OPLA é a melhor opção identificada porque resolve três pontos de uma vez: oferece alternativa ferroviária ao Pool de Paulínia, permite descarga de importado, e abre rota de envio de importado para Rondonópolis, Cuiabá e Rio Verde.</a:t>
            </a:r>
            <a:endParaRPr lang="pt-B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benefícios estratégicos do OPLA</a:t>
            </a:r>
            <a:endParaRPr lang="pt-B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868680" y="4251960"/>
            <a:ext cx="411480" cy="41148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ferroviária</a:t>
            </a:r>
            <a:endParaRPr lang="pt-B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868680" y="4754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dependência do Pool de Paulínia (frente em holding) — ferrovia disponível independentemente do andamento do 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re-rateio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4480560" y="4251960"/>
            <a:ext cx="411480" cy="41148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4805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498348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importado</a:t>
            </a:r>
            <a:endParaRPr lang="pt-B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480560" y="4754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a capacidade de descarregar produto importado que foi perdida com a saída da Torrão.</a:t>
            </a:r>
            <a:endParaRPr lang="pt-BR" sz="1050" noProof="0" dirty="0"/>
          </a:p>
        </p:txBody>
      </p:sp>
      <p:sp>
        <p:nvSpPr>
          <p:cNvPr id="28" name="Shape 26"/>
          <p:cNvSpPr/>
          <p:nvPr/>
        </p:nvSpPr>
        <p:spPr>
          <a:xfrm>
            <a:off x="8092440" y="4251960"/>
            <a:ext cx="411480" cy="41148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80924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30" name="Text 28"/>
          <p:cNvSpPr/>
          <p:nvPr/>
        </p:nvSpPr>
        <p:spPr>
          <a:xfrm>
            <a:off x="859536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para o Centro-Oeste</a:t>
            </a:r>
            <a:endParaRPr lang="pt-BR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8092440" y="4754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canal de envio de importado para Rondonópolis, Cuiabá e Rio Verde — bases secundárias que hoje dependem de outras origens.</a:t>
            </a:r>
            <a:endParaRPr lang="pt-BR" sz="1050" noProof="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32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colateral relevante: a operação OPLA passa a ser a BATNA real do Pool de Paulínia. Independente do andamento do </a:t>
            </a:r>
            <a:r>
              <a:rPr lang="pt-BR" sz="1100" i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re-rateio</a:t>
            </a: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ALE terá ferrovia operando — o que muda o poder de barganha nas conversas com as condôminas.</a:t>
            </a:r>
            <a:endParaRPr lang="pt-BR" sz="1100" noProof="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37" name="Text 35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01952" cy="411480"/>
          </a:xfrm>
          <a:prstGeom prst="roundRect">
            <a:avLst>
              <a:gd name="adj" fmla="val 17778"/>
            </a:avLst>
          </a:prstGeom>
          <a:solidFill>
            <a:srgbClr val="0054A4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 · SP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475927" y="292608"/>
            <a:ext cx="2258568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475927" y="292608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OPERACIONAL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587752" y="256032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 · OPLA — atenção operacional com janela de 2 meses sem tanque de Gasolina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587752" y="868680"/>
            <a:ext cx="9146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operacional mapeado · alternativa-ponte necessária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084219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221379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1221379"/>
            <a:ext cx="109728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1312819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identificada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1724299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tanque de Gasolina da OPLA só inicia operação em 2 meses. Durante essa janela, a alternativa para descarga de Gasolina importada via OPLA estará indisponível.</a:t>
            </a:r>
            <a:endParaRPr lang="pt-BR" sz="1200" noProof="0" dirty="0"/>
          </a:p>
          <a:p>
            <a:pPr marL="0" indent="0" algn="l">
              <a:buNone/>
            </a:pPr>
            <a:endParaRPr lang="pt-BR" sz="1200" noProof="0" dirty="0"/>
          </a:p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impeditivo da migração estratégica — os demais produtos podem ser operados normalmente — mas exige solução-ponte para Gasolina A no curto prazo.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2730139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EBF7EE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2730139"/>
            <a:ext cx="5349240" cy="45720"/>
          </a:xfrm>
          <a:prstGeom prst="rect">
            <a:avLst/>
          </a:prstGeom>
          <a:solidFill>
            <a:srgbClr val="00A859"/>
          </a:solidFill>
          <a:ln w="12700">
            <a:solidFill>
              <a:srgbClr val="00A8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821579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sob controle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868680" y="3233059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do BID OPLA segue normalmente para os demais produtos.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ferroviária via OPLA não depende do tanque de Gasolina.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00A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Rondonópolis / Cuiabá / Rio Verde via OPLA pode abrir acesso a ganhos logísticos nos biocombustíveis.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263640" y="2730139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4E0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2730139"/>
            <a:ext cx="534924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0" y="2821579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de ação</a:t>
            </a:r>
            <a:endParaRPr lang="pt-B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3233059"/>
            <a:ext cx="5074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cronograma OPLA da habilitação do tanque de Gasolina.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8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14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ganho ao acessar a rota de biocombustíveis ferroviária.</a:t>
            </a:r>
            <a:endParaRPr lang="pt-BR" sz="1400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640080" y="5954485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640080" y="5954485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914400" y="6045925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levantamento dos ganhos alternativos-com o recebimento de biocombustível ferroviário</a:t>
            </a:r>
            <a:endParaRPr lang="pt-B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pt-BR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E9DFAD5-AC19-0356-5C45-E102C3A4ED94}"/>
              </a:ext>
            </a:extLst>
          </p:cNvPr>
          <p:cNvGrpSpPr/>
          <p:nvPr/>
        </p:nvGrpSpPr>
        <p:grpSpPr>
          <a:xfrm>
            <a:off x="581824" y="4811821"/>
            <a:ext cx="12100294" cy="1080073"/>
            <a:chOff x="574204" y="4642651"/>
            <a:chExt cx="12100294" cy="1080073"/>
          </a:xfrm>
        </p:grpSpPr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50B7E99D-3E12-E606-8C27-FADC6982FE4D}"/>
                </a:ext>
              </a:extLst>
            </p:cNvPr>
            <p:cNvSpPr/>
            <p:nvPr/>
          </p:nvSpPr>
          <p:spPr>
            <a:xfrm>
              <a:off x="640080" y="4647960"/>
              <a:ext cx="10972800" cy="1005840"/>
            </a:xfrm>
            <a:prstGeom prst="roundRect">
              <a:avLst>
                <a:gd name="adj" fmla="val 9091"/>
              </a:avLst>
            </a:prstGeom>
            <a:solidFill>
              <a:srgbClr val="F7F7F7"/>
            </a:solidFill>
            <a:ln w="9525">
              <a:solidFill>
                <a:srgbClr val="ADAFB2"/>
              </a:solidFill>
              <a:prstDash val="solid"/>
            </a:ln>
            <a:effectLst>
              <a:outerShdw blurRad="1016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1" name="Shape 18">
              <a:extLst>
                <a:ext uri="{FF2B5EF4-FFF2-40B4-BE49-F238E27FC236}">
                  <a16:creationId xmlns:a16="http://schemas.microsoft.com/office/drawing/2014/main" id="{693AAA2A-72DE-37AC-B18F-48841C6260F6}"/>
                </a:ext>
              </a:extLst>
            </p:cNvPr>
            <p:cNvSpPr/>
            <p:nvPr/>
          </p:nvSpPr>
          <p:spPr>
            <a:xfrm>
              <a:off x="640080" y="4647960"/>
              <a:ext cx="10972800" cy="45720"/>
            </a:xfrm>
            <a:prstGeom prst="rect">
              <a:avLst/>
            </a:prstGeom>
            <a:solidFill>
              <a:srgbClr val="0054A4"/>
            </a:solidFill>
            <a:ln w="12700">
              <a:solidFill>
                <a:srgbClr val="0054A4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D2EE33D0-8730-6E5E-A2C3-91FA9E007A9F}"/>
                </a:ext>
              </a:extLst>
            </p:cNvPr>
            <p:cNvSpPr/>
            <p:nvPr/>
          </p:nvSpPr>
          <p:spPr>
            <a:xfrm>
              <a:off x="777240" y="4642651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pt-BR" sz="1200" b="1" noProof="0" dirty="0" err="1">
                  <a:solidFill>
                    <a:srgbClr val="0054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Macro-cronograma</a:t>
              </a:r>
              <a:endParaRPr lang="pt-BR" sz="1200" noProof="0" dirty="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E3720D52-F76D-C7B7-F07A-989E1056A01D}"/>
                </a:ext>
              </a:extLst>
            </p:cNvPr>
            <p:cNvSpPr/>
            <p:nvPr/>
          </p:nvSpPr>
          <p:spPr>
            <a:xfrm>
              <a:off x="1325880" y="5333760"/>
              <a:ext cx="9601200" cy="0"/>
            </a:xfrm>
            <a:prstGeom prst="line">
              <a:avLst/>
            </a:prstGeom>
            <a:noFill/>
            <a:ln w="19050">
              <a:solidFill>
                <a:srgbClr val="ADAFB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4" name="Shape 21">
              <a:extLst>
                <a:ext uri="{FF2B5EF4-FFF2-40B4-BE49-F238E27FC236}">
                  <a16:creationId xmlns:a16="http://schemas.microsoft.com/office/drawing/2014/main" id="{A2185A70-8163-20F9-150B-CD1A802F48A2}"/>
                </a:ext>
              </a:extLst>
            </p:cNvPr>
            <p:cNvSpPr/>
            <p:nvPr/>
          </p:nvSpPr>
          <p:spPr>
            <a:xfrm>
              <a:off x="1243584" y="5251464"/>
              <a:ext cx="164592" cy="164592"/>
            </a:xfrm>
            <a:prstGeom prst="ellipse">
              <a:avLst/>
            </a:prstGeom>
            <a:solidFill>
              <a:srgbClr val="00A859"/>
            </a:solidFill>
            <a:ln w="25400">
              <a:solidFill>
                <a:srgbClr val="00A859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5" name="Text 23">
              <a:extLst>
                <a:ext uri="{FF2B5EF4-FFF2-40B4-BE49-F238E27FC236}">
                  <a16:creationId xmlns:a16="http://schemas.microsoft.com/office/drawing/2014/main" id="{46B5FC80-7F35-1196-71F0-FFD0D265A7AF}"/>
                </a:ext>
              </a:extLst>
            </p:cNvPr>
            <p:cNvSpPr/>
            <p:nvPr/>
          </p:nvSpPr>
          <p:spPr>
            <a:xfrm>
              <a:off x="574204" y="4809066"/>
              <a:ext cx="15033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Obtenção da proposta</a:t>
              </a:r>
              <a:endParaRPr lang="pt-BR" sz="900" noProof="0" dirty="0"/>
            </a:p>
          </p:txBody>
        </p:sp>
        <p:sp>
          <p:nvSpPr>
            <p:cNvPr id="36" name="Shape 25">
              <a:extLst>
                <a:ext uri="{FF2B5EF4-FFF2-40B4-BE49-F238E27FC236}">
                  <a16:creationId xmlns:a16="http://schemas.microsoft.com/office/drawing/2014/main" id="{2689DCDF-338F-6715-DAD5-B4050386EE3D}"/>
                </a:ext>
              </a:extLst>
            </p:cNvPr>
            <p:cNvSpPr/>
            <p:nvPr/>
          </p:nvSpPr>
          <p:spPr>
            <a:xfrm>
              <a:off x="3989908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37" name="Text 26">
              <a:extLst>
                <a:ext uri="{FF2B5EF4-FFF2-40B4-BE49-F238E27FC236}">
                  <a16:creationId xmlns:a16="http://schemas.microsoft.com/office/drawing/2014/main" id="{3B5BB838-822D-25B7-A02D-D3EA3344C1EE}"/>
                </a:ext>
              </a:extLst>
            </p:cNvPr>
            <p:cNvSpPr/>
            <p:nvPr/>
          </p:nvSpPr>
          <p:spPr>
            <a:xfrm>
              <a:off x="4884547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/>
                <a:t>Alinhamento do volume</a:t>
              </a:r>
            </a:p>
          </p:txBody>
        </p:sp>
        <p:sp>
          <p:nvSpPr>
            <p:cNvPr id="38" name="Text 27">
              <a:extLst>
                <a:ext uri="{FF2B5EF4-FFF2-40B4-BE49-F238E27FC236}">
                  <a16:creationId xmlns:a16="http://schemas.microsoft.com/office/drawing/2014/main" id="{18134513-96B1-8FA0-3C26-CD850699795A}"/>
                </a:ext>
              </a:extLst>
            </p:cNvPr>
            <p:cNvSpPr/>
            <p:nvPr/>
          </p:nvSpPr>
          <p:spPr>
            <a:xfrm>
              <a:off x="2457508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jun26</a:t>
              </a:r>
              <a:endParaRPr lang="pt-BR" sz="900" noProof="0" dirty="0"/>
            </a:p>
          </p:txBody>
        </p:sp>
        <p:sp>
          <p:nvSpPr>
            <p:cNvPr id="40" name="Text 29">
              <a:extLst>
                <a:ext uri="{FF2B5EF4-FFF2-40B4-BE49-F238E27FC236}">
                  <a16:creationId xmlns:a16="http://schemas.microsoft.com/office/drawing/2014/main" id="{CB207740-74D5-4B23-2669-1BB919EFD304}"/>
                </a:ext>
              </a:extLst>
            </p:cNvPr>
            <p:cNvSpPr/>
            <p:nvPr/>
          </p:nvSpPr>
          <p:spPr>
            <a:xfrm>
              <a:off x="7480969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Calibração da Proposta</a:t>
              </a:r>
              <a:endParaRPr lang="pt-BR" sz="900" noProof="0" dirty="0"/>
            </a:p>
          </p:txBody>
        </p:sp>
        <p:sp>
          <p:nvSpPr>
            <p:cNvPr id="42" name="Shape 31">
              <a:extLst>
                <a:ext uri="{FF2B5EF4-FFF2-40B4-BE49-F238E27FC236}">
                  <a16:creationId xmlns:a16="http://schemas.microsoft.com/office/drawing/2014/main" id="{7E7B32F1-D255-19E1-0FC0-FCD4B9974171}"/>
                </a:ext>
              </a:extLst>
            </p:cNvPr>
            <p:cNvSpPr/>
            <p:nvPr/>
          </p:nvSpPr>
          <p:spPr>
            <a:xfrm>
              <a:off x="8990380" y="525146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3" name="Text 32">
              <a:extLst>
                <a:ext uri="{FF2B5EF4-FFF2-40B4-BE49-F238E27FC236}">
                  <a16:creationId xmlns:a16="http://schemas.microsoft.com/office/drawing/2014/main" id="{E0CF415A-2ED0-711C-F59D-E18CEA9645DD}"/>
                </a:ext>
              </a:extLst>
            </p:cNvPr>
            <p:cNvSpPr/>
            <p:nvPr/>
          </p:nvSpPr>
          <p:spPr>
            <a:xfrm>
              <a:off x="9408146" y="4810782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pt-BR" sz="900" b="1" noProof="0" dirty="0">
                  <a:solidFill>
                    <a:srgbClr val="26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Proposta executiva</a:t>
              </a:r>
              <a:endParaRPr lang="pt-BR" sz="900" noProof="0" dirty="0"/>
            </a:p>
          </p:txBody>
        </p:sp>
        <p:sp>
          <p:nvSpPr>
            <p:cNvPr id="44" name="Text 33">
              <a:extLst>
                <a:ext uri="{FF2B5EF4-FFF2-40B4-BE49-F238E27FC236}">
                  <a16:creationId xmlns:a16="http://schemas.microsoft.com/office/drawing/2014/main" id="{B19A7BA6-0C31-4F3C-5DA6-CCB09677F084}"/>
                </a:ext>
              </a:extLst>
            </p:cNvPr>
            <p:cNvSpPr/>
            <p:nvPr/>
          </p:nvSpPr>
          <p:spPr>
            <a:xfrm>
              <a:off x="7472476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BDA7334F-813A-1CFC-1EE3-534C436F7714}"/>
                </a:ext>
              </a:extLst>
            </p:cNvPr>
            <p:cNvSpPr/>
            <p:nvPr/>
          </p:nvSpPr>
          <p:spPr>
            <a:xfrm>
              <a:off x="6402857" y="525638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7" name="Text 27">
              <a:extLst>
                <a:ext uri="{FF2B5EF4-FFF2-40B4-BE49-F238E27FC236}">
                  <a16:creationId xmlns:a16="http://schemas.microsoft.com/office/drawing/2014/main" id="{C6815743-0D43-95E7-C3B1-DD3AA1676D04}"/>
                </a:ext>
              </a:extLst>
            </p:cNvPr>
            <p:cNvSpPr/>
            <p:nvPr/>
          </p:nvSpPr>
          <p:spPr>
            <a:xfrm>
              <a:off x="4905132" y="546669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084B9894-0A35-AE23-9E04-7F8926726B10}"/>
                </a:ext>
              </a:extLst>
            </p:cNvPr>
            <p:cNvSpPr/>
            <p:nvPr/>
          </p:nvSpPr>
          <p:spPr>
            <a:xfrm>
              <a:off x="10927080" y="523602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291D2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9" name="Text 33">
              <a:extLst>
                <a:ext uri="{FF2B5EF4-FFF2-40B4-BE49-F238E27FC236}">
                  <a16:creationId xmlns:a16="http://schemas.microsoft.com/office/drawing/2014/main" id="{D1C49263-D537-9429-363C-1A20C021ECCF}"/>
                </a:ext>
              </a:extLst>
            </p:cNvPr>
            <p:cNvSpPr/>
            <p:nvPr/>
          </p:nvSpPr>
          <p:spPr>
            <a:xfrm>
              <a:off x="9474098" y="546177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pt-BR" sz="900" b="1" noProof="0" dirty="0" err="1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ago</a:t>
              </a:r>
              <a:r>
                <a:rPr lang="pt-BR" sz="900" b="1" noProof="0" dirty="0">
                  <a:solidFill>
                    <a:srgbClr val="1291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/26</a:t>
              </a:r>
              <a:endParaRPr lang="pt-BR" sz="900" noProof="0" dirty="0"/>
            </a:p>
          </p:txBody>
        </p:sp>
      </p:grpSp>
      <p:sp>
        <p:nvSpPr>
          <p:cNvPr id="50" name="Text 23">
            <a:extLst>
              <a:ext uri="{FF2B5EF4-FFF2-40B4-BE49-F238E27FC236}">
                <a16:creationId xmlns:a16="http://schemas.microsoft.com/office/drawing/2014/main" id="{3E5E3B92-ACDA-4D83-D12A-478115981525}"/>
              </a:ext>
            </a:extLst>
          </p:cNvPr>
          <p:cNvSpPr/>
          <p:nvPr/>
        </p:nvSpPr>
        <p:spPr>
          <a:xfrm>
            <a:off x="3309098" y="4977945"/>
            <a:ext cx="150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9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Viabilidade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Evolução· Pool Paulínia e SJRP (SP) — frentes condicionadas a movimentos das contrapartes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Discussões mantidas, sem evolução material no período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463040" cy="32004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EVOLUÇÃO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6766560" cy="41148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PAULÍNIA — duas frentes paralelas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pt-BR" sz="12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Re-rateio</a:t>
            </a: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Pool ferroviário (Proposta 1)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sem evolução. Condôminas não demonstraram interesse em avançar pelo critério de movimentação histórica. ALE mantém interesse — sem reação favorável.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Formação de pool com base rodoviária IPP (Proposta 2)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holding. Ipiranga declinou da negociação no momento. ALE mantém interesse na tese estrutural, mas sem contraparte engajada não avança.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200"/>
              </a:spcAft>
            </a:pPr>
            <a:r>
              <a:rPr lang="pt-BR" sz="1200" b="1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será tratado na reunião de julho junto a Ipiranga.</a:t>
            </a:r>
            <a:endParaRPr lang="pt-BR" sz="1400" b="1" noProof="0" dirty="0"/>
          </a:p>
          <a:p>
            <a:pPr marL="0" indent="0" algn="l">
              <a:spcAft>
                <a:spcPts val="200"/>
              </a:spcAft>
              <a:buNone/>
            </a:pP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676656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movimentos das condôminas e da IPP · sem ação ofensiva no curto prazo.</a:t>
            </a:r>
            <a:endParaRPr lang="pt-BR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7589520" y="187452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7589520" y="1874520"/>
            <a:ext cx="4023360" cy="41148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2668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SJRP — POOL DE 3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726680" y="23774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condicionou avanço de SJRP à formação de pool em Guarulhos. ALE entende que essa vinculação não faz sentido — projetos têm tamanhos e relevâncias muito desiguais.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não aceita a condicionante. Conversa preservada, sem avanço. Base segue com déficit crítico — ver slide Bases Próprias.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050" i="1" noProof="0" dirty="0">
              <a:solidFill>
                <a:srgbClr val="E3061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pt-BR" sz="1050" b="1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será tratado na reunião de julho junto a Ipiranga.</a:t>
            </a:r>
            <a:endParaRPr lang="pt-BR" sz="1100" b="1" noProof="0" dirty="0"/>
          </a:p>
        </p:txBody>
      </p:sp>
      <p:sp>
        <p:nvSpPr>
          <p:cNvPr id="17" name="Shape 15"/>
          <p:cNvSpPr/>
          <p:nvPr/>
        </p:nvSpPr>
        <p:spPr>
          <a:xfrm>
            <a:off x="7589520" y="5532120"/>
            <a:ext cx="402336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726680" y="5532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NDA · aguardar IPP rever condicionante.</a:t>
            </a:r>
            <a:endParaRPr lang="pt-B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 · BA</a:t>
            </a:r>
            <a:endParaRPr lang="pt-BR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9713671" y="292608"/>
            <a:ext cx="2020824" cy="384048"/>
          </a:xfrm>
          <a:prstGeom prst="roundRect">
            <a:avLst>
              <a:gd name="adj" fmla="val 14286"/>
            </a:avLst>
          </a:prstGeom>
          <a:solidFill>
            <a:srgbClr val="F7F7F7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713671" y="29260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</a:t>
            </a:r>
            <a:endParaRPr lang="pt-BR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2148840" y="256032"/>
            <a:ext cx="73819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 · Phase Out Bahia — análise comercial em curso para comunicação a clientes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148840" y="868680"/>
            <a:ext cx="9585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entre Jequié e Itabuna · etapa final do conjunto Phase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composta sobre qual base baiana manter (a de melhor volume e melhor margem) e qual fechar. A análise comercial está em curso para preparar a comunicação a clientes e estruturar operacionalmente o </a:t>
            </a:r>
            <a:r>
              <a:rPr lang="pt-BR" sz="12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2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-out. Faz parte do conjunto Phase Out (Rio Grande, Uberaba e Bahia) que evita drenagem de R$10,4MM em 10 anos.</a:t>
            </a:r>
            <a:endParaRPr lang="pt-B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34924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atual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comercial: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base a manter e preparação da migração de carteira para comunicação a clientes.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decisão: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volume + melhor margem entre Jequié e Itabuna.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CEAE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34924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5074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análise comercial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 clientes da base a ser desativada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2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operacional do </a:t>
            </a:r>
            <a:r>
              <a:rPr lang="pt-BR" sz="11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1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-out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frente em execução do conjunto Phase Out. Encerra a disciplina de saída das bases não-rentáveis e libera capital para reciclagem nos projetos de expansão.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  <p:extLst>
      <p:ext uri="{BB962C8B-B14F-4D97-AF65-F5344CB8AC3E}">
        <p14:creationId xmlns:p14="http://schemas.microsoft.com/office/powerpoint/2010/main" val="3767105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 · Phase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Rio Grande e Uberaba — execução conforme plano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saída de bases não-rentáveis · conjunto de </a:t>
            </a:r>
            <a:r>
              <a:rPr lang="pt-BR" sz="1200" i="1" noProof="0" dirty="0" err="1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phase-outs</a:t>
            </a: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evita R$10,4MM em 10 anos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73329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210489"/>
            <a:ext cx="1371600" cy="3200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10489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667689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667689"/>
            <a:ext cx="5349240" cy="4114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1667689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RIO GRANDE · RS</a:t>
            </a:r>
            <a:endParaRPr lang="pt-B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217060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0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por logística e financeiro · alçada CEO</a:t>
            </a:r>
            <a:endParaRPr lang="pt-B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2444929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2810689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encerrada conforme planejado. Não havia carteira ativa relevante para migração — margem negativa estrutural justificava a saída imediata. Custos </a:t>
            </a:r>
            <a:r>
              <a:rPr lang="pt-BR" sz="10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-off já dimensionados no NPV anterior.</a:t>
            </a:r>
            <a:endParaRPr lang="pt-BR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5325289"/>
            <a:ext cx="53492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5325289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administrativo e descomissionamento em andamento.</a:t>
            </a:r>
            <a:endParaRPr lang="pt-BR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1667689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1667689"/>
            <a:ext cx="5349240" cy="4114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46520" y="1667689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UBERABA · MG</a:t>
            </a:r>
            <a:endParaRPr lang="pt-B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446520" y="217060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anterior: </a:t>
            </a:r>
            <a:r>
              <a:rPr lang="pt-BR" sz="10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por logística e financeiro · alçada CEO</a:t>
            </a:r>
            <a:endParaRPr lang="pt-B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6446520" y="2444929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atual: 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final de </a:t>
            </a:r>
            <a:r>
              <a:rPr lang="pt-BR" sz="1100" b="1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1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6446520" y="2810689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0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carteira para Uberlândia (40km) em curso. Volume sendo absorvido sem impacto operacional relevante. Permite descomissionamento da estrutura local e abre janela para a alternativa RUMOS na região.</a:t>
            </a:r>
            <a:endParaRPr lang="pt-BR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6263640" y="5325289"/>
            <a:ext cx="53492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6446520" y="5325289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do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e desmobilização dos contratos remanescentes.</a:t>
            </a:r>
            <a:endParaRPr lang="pt-BR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640080" y="5919648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FCEAEA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22"/>
          <p:cNvSpPr/>
          <p:nvPr/>
        </p:nvSpPr>
        <p:spPr>
          <a:xfrm>
            <a:off x="640080" y="5919648"/>
            <a:ext cx="91440" cy="3657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914400" y="601108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encerrada. Uberaba em fase final. Bahia em análise comercial (próximo slide de </a:t>
            </a:r>
            <a:r>
              <a:rPr lang="pt-BR" sz="1100" i="1" noProof="0" dirty="0" err="1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100" i="1" noProof="0" dirty="0" err="1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</a:t>
            </a:r>
            <a:r>
              <a:rPr lang="pt-BR" sz="1100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bloco Nordeste).</a:t>
            </a:r>
            <a:endParaRPr lang="pt-BR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 · </a:t>
            </a:r>
            <a:r>
              <a:rPr lang="pt-BR" sz="2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Rede SIM — Goiânia avança no modelo 50/50 e Santa Maria abre presença no RS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SIM como parceira recorrente em pontos onde a ALE precisa de capilaridade sem CAPEX próprio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8013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217295"/>
            <a:ext cx="1371600" cy="3200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172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674495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674495"/>
            <a:ext cx="5349240" cy="45720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674495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· GO  ·  </a:t>
            </a:r>
            <a:r>
              <a:rPr lang="pt-B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(Rede SIM)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223135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50/50 OPEX/CAPEX acordado · falta definir modelo de negócio.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crítica: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do contrato de arrendamento vigente — exige aceite do locador atual.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estrutural complementar: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2 tanques de 1.500 m³ para destravar capacidade futura.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  <a:p>
            <a:pPr>
              <a:spcAft>
                <a:spcPts val="200"/>
              </a:spcAft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estamos: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/>
              <a:t>Enviamos a informação do </a:t>
            </a:r>
            <a:r>
              <a:rPr lang="pt-BR" sz="1100" noProof="0" dirty="0" err="1"/>
              <a:t>Capex</a:t>
            </a:r>
            <a:r>
              <a:rPr lang="pt-BR" sz="1100" noProof="0" dirty="0"/>
              <a:t> dos próximos anos para </a:t>
            </a:r>
            <a:r>
              <a:rPr lang="pt-BR" sz="1100" noProof="0" dirty="0" err="1"/>
              <a:t>Nexta</a:t>
            </a:r>
            <a:r>
              <a:rPr lang="pt-BR" sz="1100" noProof="0" dirty="0"/>
              <a:t> aprovar internamente.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 err="1"/>
              <a:t>Nexta</a:t>
            </a:r>
            <a:r>
              <a:rPr lang="pt-BR" sz="1100" noProof="0" dirty="0"/>
              <a:t> nos solicitou cessão de espaço para iniciarmos as movimentações na filial.</a:t>
            </a: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spcAft>
                <a:spcPts val="200"/>
              </a:spcAft>
              <a:buNone/>
            </a:pPr>
            <a:endParaRPr lang="pt-BR" sz="400" noProof="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cessão de espaço.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do modelo de negócio e abertura de tratativa com locador.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263640" y="1674495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5F4FA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263640" y="1674495"/>
            <a:ext cx="5349240" cy="4572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1674495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MARIA · RS  ·  Rede SIM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2223135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 via cessão de armazenagem em base nova da Rede SIM. Pendente avaliação comercial.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Plano de Expansão: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classificado como praça de crescimento inorgânico na projeção de demanda. Phase-in via terceiro é o caminho coerente — entrada com CAPEX baixo e horizonte curto.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Rede SIM: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i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Parceira recorrente em pontos onde a ALE precisa de capilaridade sem CAPEX próprio.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4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pt-BR" sz="1100" noProof="0" dirty="0"/>
          </a:p>
          <a:p>
            <a:pPr marL="0" indent="0" algn="l">
              <a:spcAft>
                <a:spcPts val="200"/>
              </a:spcAft>
              <a:buNone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da avaliação comercial.</a:t>
            </a:r>
            <a:endParaRPr lang="pt-BR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5926455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5926455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6017895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contraparte (Rede SIM) viabilizando duas frentes em geografias diferentes — modelo replicável.</a:t>
            </a:r>
            <a:endParaRPr lang="pt-B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pt-BR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C5044AA-8991-1C6B-3766-8C6BF773C255}"/>
              </a:ext>
            </a:extLst>
          </p:cNvPr>
          <p:cNvSpPr/>
          <p:nvPr/>
        </p:nvSpPr>
        <p:spPr>
          <a:xfrm>
            <a:off x="2753524" y="3429000"/>
            <a:ext cx="7020232" cy="1332000"/>
          </a:xfrm>
          <a:prstGeom prst="roundRect">
            <a:avLst>
              <a:gd name="adj" fmla="val 6966"/>
            </a:avLst>
          </a:prstGeom>
          <a:solidFill>
            <a:srgbClr val="F7F7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noProof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Negociações Encerradas</a:t>
            </a: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DF2F7EC-1FC1-9293-CB87-A7D632DB5D60}"/>
              </a:ext>
            </a:extLst>
          </p:cNvPr>
          <p:cNvSpPr/>
          <p:nvPr/>
        </p:nvSpPr>
        <p:spPr>
          <a:xfrm>
            <a:off x="2753756" y="3409336"/>
            <a:ext cx="7020000" cy="4572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>
              <a:ln>
                <a:solidFill>
                  <a:srgbClr val="FFC000"/>
                </a:solidFill>
              </a:ln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ivider2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B">
              <a:alpha val="80000"/>
            </a:srgbClr>
          </a:solidFill>
          <a:ln w="12700">
            <a:solidFill>
              <a:srgbClr val="00366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kern="0" spc="400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ESTRUTURAL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Próprias</a:t>
            </a:r>
            <a:endParaRPr lang="pt-BR" sz="4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i="1" noProof="0" dirty="0">
                <a:solidFill>
                  <a:srgbClr val="C9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consolidado das 8 bases · pontos de atenção e oportunidades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9095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BLOCO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das 8 bases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com projeto em curso</a:t>
            </a:r>
            <a:endParaRPr lang="pt-BR" sz="1100" noProof="0" dirty="0"/>
          </a:p>
          <a:p>
            <a:pPr marL="342900" indent="-342900" algn="l">
              <a:spcAft>
                <a:spcPts val="500"/>
              </a:spcAft>
              <a:buSzPct val="100000"/>
              <a:buChar char="●"/>
            </a:pPr>
            <a:r>
              <a:rPr lang="pt-BR" sz="11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com pontos de atenção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 ALE — visão geral e classificação dos pontos de atenção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bases próprias · 5 com projeto em curso · 3 com pontos de atenção estruturais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8421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177831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17783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580601"/>
            <a:ext cx="10972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580601"/>
            <a:ext cx="10972800" cy="457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672041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consolidado das 8 bases próprias</a:t>
            </a:r>
            <a:endParaRPr lang="pt-BR" sz="12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08359"/>
              </p:ext>
            </p:extLst>
          </p:nvPr>
        </p:nvGraphicFramePr>
        <p:xfrm>
          <a:off x="777240" y="2037801"/>
          <a:ext cx="10698480" cy="345643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de atenção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Tratamento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 · GO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100%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</a:t>
                      </a: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construção de 2 tanques de 1.500 m³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Encerrado</a:t>
                      </a:r>
                      <a:endParaRPr lang="pt-BR" sz="1050" noProof="0" dirty="0">
                        <a:solidFill>
                          <a:srgbClr val="F39A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Betim · MG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100%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hidráulico + automação · 90 → 140 km³/mês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ativo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Duque de Caxias · RJ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100%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Parceria EFEN + dependência crítica S10 (Raízen) · duto no radar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00A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ativo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Várzea Grande · MT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· hibernada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Hibernada · exigência legal MT impede saída · consultas formais em curso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</a:t>
                      </a:r>
                      <a:endParaRPr lang="pt-BR" sz="1050" noProof="0" dirty="0">
                        <a:solidFill>
                          <a:srgbClr val="F39A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Guamaré · RN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ALE 60% / IPP 40%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de área de influência · −30% </a:t>
                      </a:r>
                      <a:r>
                        <a:rPr lang="pt-BR" sz="10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2024→2026 · saída Raízen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estrutural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Guarulhos · SP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100% ALE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ALE · procurada por múltiplos players (oportunidade)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1291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José do Rio Preto · SP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ALE 50% / IPP 50%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Déficit crítico · ação estrutural necessária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estrutural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Brasília · DF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opções de armazenagem na região · acompanhar rentabilidade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b="1" noProof="0" dirty="0">
                          <a:solidFill>
                            <a:srgbClr val="F3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5741122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640080" y="5741122"/>
            <a:ext cx="91440" cy="50292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914400" y="583256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transversal · Transição S500 → S10 pela Petrobras: ponto no radar para todas as bases. Sem ação estrutural neste momento — acompanhamento ativo.</a:t>
            </a:r>
            <a:endParaRPr lang="pt-BR" sz="1100" noProof="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</a:t>
            </a:r>
            <a:endParaRPr lang="pt-BR" sz="900" noProof="0" dirty="0"/>
          </a:p>
        </p:txBody>
      </p:sp>
      <p:sp>
        <p:nvSpPr>
          <p:cNvPr id="16" name="Text 13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 com pontos de atenção — oportunidades e riscos estruturais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5982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bases sem projeto estruturado neste momento 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71300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308460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3084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1123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711230"/>
            <a:ext cx="2697480" cy="36576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7112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 · SP</a:t>
            </a:r>
            <a:endParaRPr lang="pt-BR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1684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50" b="1" i="1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9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48847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ALE como vetor de rentabilização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31143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como fortaleza ALE. Procurada recorrentemente por diversos players: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FS, DTC, Ipiranga,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Nimofast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Midas e outras tradings menores. Oportunidade de novas parcerias e rentabilização adicional do ativo já operacional.</a:t>
            </a:r>
          </a:p>
          <a:p>
            <a:pPr marL="0" indent="0" algn="l">
              <a:buNone/>
            </a:pPr>
            <a:endParaRPr lang="pt-BR" sz="10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 NDA assinado com a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novamente demonstrou interesse em participar de alguma forma da filial.</a:t>
            </a:r>
            <a:endParaRPr lang="pt-BR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3429000" y="171123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429000" y="1711230"/>
            <a:ext cx="2697480" cy="3657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3566160" y="17112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SJRP · SP</a:t>
            </a:r>
            <a:endParaRPr lang="pt-BR" sz="1050" noProof="0" dirty="0"/>
          </a:p>
        </p:txBody>
      </p:sp>
      <p:sp>
        <p:nvSpPr>
          <p:cNvPr id="16" name="Text 14"/>
          <p:cNvSpPr/>
          <p:nvPr/>
        </p:nvSpPr>
        <p:spPr>
          <a:xfrm>
            <a:off x="3566160" y="21684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50" b="1" i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holding</a:t>
            </a:r>
            <a:endParaRPr lang="pt-BR" sz="950" noProof="0" dirty="0"/>
          </a:p>
        </p:txBody>
      </p:sp>
      <p:sp>
        <p:nvSpPr>
          <p:cNvPr id="17" name="Text 15"/>
          <p:cNvSpPr/>
          <p:nvPr/>
        </p:nvSpPr>
        <p:spPr>
          <a:xfrm>
            <a:off x="3566160" y="248847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crítico — ação estrutural necessária</a:t>
            </a:r>
            <a:endParaRPr lang="pt-B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3566160" y="331143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ALE 50% / IPP 50% com déficit crítico de capacidade. Ação estrutural necessária. Pool de 3 com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IPP+Vibra+ALE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holding é uma das alternativas em discussão.</a:t>
            </a:r>
            <a:endParaRPr lang="pt-B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6217920" y="171123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6217920" y="1711230"/>
            <a:ext cx="2697480" cy="365760"/>
          </a:xfrm>
          <a:prstGeom prst="rect">
            <a:avLst/>
          </a:prstGeom>
          <a:solidFill>
            <a:srgbClr val="F39A00"/>
          </a:solidFill>
          <a:ln w="12700">
            <a:solidFill>
              <a:srgbClr val="F39A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355080" y="17112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5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· DF</a:t>
            </a:r>
            <a:endParaRPr lang="pt-BR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6355080" y="216843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950" b="1" i="1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pt-BR" sz="950" noProof="0" dirty="0"/>
          </a:p>
        </p:txBody>
      </p:sp>
      <p:sp>
        <p:nvSpPr>
          <p:cNvPr id="23" name="Text 21"/>
          <p:cNvSpPr/>
          <p:nvPr/>
        </p:nvSpPr>
        <p:spPr>
          <a:xfrm>
            <a:off x="6355080" y="248847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alternativa de armazenagem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6355080" y="331143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opções de armazenagem na região. Acompanhar rentabilidade e área de influência da operação. Sem ação estruturada no momento.</a:t>
            </a:r>
            <a:endParaRPr lang="pt-BR" sz="1000" noProof="0" dirty="0"/>
          </a:p>
        </p:txBody>
      </p:sp>
      <p:sp>
        <p:nvSpPr>
          <p:cNvPr id="31" name="Shape 29"/>
          <p:cNvSpPr/>
          <p:nvPr/>
        </p:nvSpPr>
        <p:spPr>
          <a:xfrm>
            <a:off x="640080" y="6011091"/>
            <a:ext cx="10972800" cy="365760"/>
          </a:xfrm>
          <a:prstGeom prst="roundRect">
            <a:avLst>
              <a:gd name="adj" fmla="val 20000"/>
            </a:avLst>
          </a:prstGeom>
          <a:solidFill>
            <a:srgbClr val="E8EFF7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30"/>
          <p:cNvSpPr/>
          <p:nvPr/>
        </p:nvSpPr>
        <p:spPr>
          <a:xfrm>
            <a:off x="640080" y="6011091"/>
            <a:ext cx="9144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914400" y="6102531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i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listados como observação · próximas movimentações dependem de definição estratégica adicional.</a:t>
            </a:r>
            <a:endParaRPr lang="pt-BR" sz="1100" noProof="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</a:t>
            </a:r>
            <a:endParaRPr lang="pt-BR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 com projeto em curso — 5 frentes estruturais ativas</a:t>
            </a:r>
            <a:endParaRPr lang="pt-BR" sz="2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00" i="1" noProof="0" dirty="0">
                <a:solidFill>
                  <a:srgbClr val="43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base referencia o projeto já mapeado no plano · novos pontos adicionados onde relevantes</a:t>
            </a:r>
            <a:endParaRPr lang="pt-BR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38645"/>
            <a:ext cx="11277295" cy="0"/>
          </a:xfrm>
          <a:prstGeom prst="line">
            <a:avLst/>
          </a:prstGeom>
          <a:noFill/>
          <a:ln w="9525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275805"/>
            <a:ext cx="1371600" cy="320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7580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pt-BR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3300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73300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7330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· GO</a:t>
            </a:r>
            <a:endParaRPr lang="pt-BR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1902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tanques</a:t>
            </a:r>
            <a:endParaRPr lang="pt-B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60168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</a:t>
            </a:r>
            <a:r>
              <a:rPr lang="pt-BR" sz="1000" noProof="0" dirty="0" err="1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000" noProof="0" dirty="0">
                <a:solidFill>
                  <a:srgbClr val="F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encerrado.</a:t>
            </a:r>
          </a:p>
          <a:p>
            <a:pPr marL="0" indent="0" algn="l">
              <a:buNone/>
            </a:pPr>
            <a:endParaRPr lang="pt-BR" sz="1000" noProof="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estrutural complementar: construção de 2 tanques de 1.500 m³ para destravar capacidade futura.</a:t>
            </a: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de tanques para solução de curto prazo.</a:t>
            </a:r>
            <a:endParaRPr lang="pt-B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63495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Novos Negócios · Goiânia–</a:t>
            </a:r>
            <a:r>
              <a:rPr lang="pt-BR" sz="850" i="1" noProof="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endParaRPr lang="pt-BR" sz="850" noProof="0" dirty="0"/>
          </a:p>
        </p:txBody>
      </p:sp>
      <p:sp>
        <p:nvSpPr>
          <p:cNvPr id="13" name="Shape 11"/>
          <p:cNvSpPr/>
          <p:nvPr/>
        </p:nvSpPr>
        <p:spPr>
          <a:xfrm>
            <a:off x="4416552" y="173300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4416552" y="173300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4553712" y="17330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· MG</a:t>
            </a:r>
            <a:endParaRPr lang="pt-B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4553712" y="21902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+ automação</a:t>
            </a:r>
            <a:endParaRPr lang="pt-B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553712" y="260168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hidráulico e automação no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destrava potencial de movimentação da filial. Projeção: 90 km³/mês (teto atual) → 140 km³/mês.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553712" y="363495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novo · sem projeto referenciado anteriormente</a:t>
            </a:r>
            <a:endParaRPr lang="pt-BR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8193024" y="173300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8193024" y="173300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330184" y="17330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DUQUE DE CAXIAS · RJ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8330184" y="219020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EFEN + dependência S10 + duto</a:t>
            </a:r>
            <a:endParaRPr lang="pt-BR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8330184" y="260168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EFEN fortalece posição (já em fechamento). Dependência crítica S10: base sem duto interligado, 100% cessão Raízen (frete + armazenagem). Possibilidade no radar: interligação direta à refinaria via duto.</a:t>
            </a:r>
            <a:endParaRPr lang="pt-BR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8330184" y="363495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Novos Negócios · Caxias–EFEN</a:t>
            </a:r>
            <a:endParaRPr lang="pt-BR" sz="85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411044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640080" y="411044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77240" y="41104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VÁRZEA GRANDE · MT</a:t>
            </a:r>
            <a:endParaRPr lang="pt-B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777240" y="45676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hibernado · sem saída legal</a:t>
            </a:r>
            <a:endParaRPr lang="pt-BR" sz="1150" noProof="0" dirty="0"/>
          </a:p>
        </p:txBody>
      </p:sp>
      <p:sp>
        <p:nvSpPr>
          <p:cNvPr id="29" name="Text 27"/>
          <p:cNvSpPr/>
          <p:nvPr/>
        </p:nvSpPr>
        <p:spPr>
          <a:xfrm>
            <a:off x="777240" y="497912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hibernado. ALE não utiliza, mas exigência legal MT (tancagem própria comprovada de 750 m³) impede saída. Consultas formais ao estado em curso para alinhar regulação ao restante do país.</a:t>
            </a:r>
          </a:p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pode ser parceria com a 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Inpasa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Nova Mutum.</a:t>
            </a:r>
            <a:endParaRPr lang="pt-B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777240" y="601239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Outras frentes monitoradas</a:t>
            </a:r>
            <a:endParaRPr lang="pt-BR" sz="850" noProof="0" dirty="0"/>
          </a:p>
        </p:txBody>
      </p:sp>
      <p:sp>
        <p:nvSpPr>
          <p:cNvPr id="31" name="Shape 29"/>
          <p:cNvSpPr/>
          <p:nvPr/>
        </p:nvSpPr>
        <p:spPr>
          <a:xfrm>
            <a:off x="4416552" y="4110445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ADAFB2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30"/>
          <p:cNvSpPr/>
          <p:nvPr/>
        </p:nvSpPr>
        <p:spPr>
          <a:xfrm>
            <a:off x="4416552" y="4110445"/>
            <a:ext cx="3657600" cy="36576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4553712" y="41104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GUAMARÉ · RN</a:t>
            </a:r>
            <a:endParaRPr lang="pt-BR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4553712" y="45676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15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com IPP · risco estrutural</a:t>
            </a:r>
            <a:endParaRPr lang="pt-BR" sz="1150" noProof="0" dirty="0"/>
          </a:p>
        </p:txBody>
      </p:sp>
      <p:sp>
        <p:nvSpPr>
          <p:cNvPr id="35" name="Text 33"/>
          <p:cNvSpPr/>
          <p:nvPr/>
        </p:nvSpPr>
        <p:spPr>
          <a:xfrm>
            <a:off x="4553712" y="4979125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ALE 60% / IPP 40%. Perda de área de influência: −30% volume ALE 2024→2026. Saída da Raízen sinaliza problema de mercado. 47,5% do RN abastecido de fora do estado em 2026 (</a:t>
            </a:r>
            <a:r>
              <a:rPr lang="pt-BR" sz="10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0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3,6% em 2022). Pecém pode amplificar o efeito.</a:t>
            </a:r>
            <a:endParaRPr lang="pt-BR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4553712" y="601239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85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slide Outras frentes monitoradas</a:t>
            </a:r>
            <a:endParaRPr lang="pt-BR" sz="850" noProof="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ADAFB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Bases próprias</a:t>
            </a:r>
            <a:endParaRPr lang="pt-BR" sz="900" noProof="0" dirty="0"/>
          </a:p>
        </p:txBody>
      </p:sp>
      <p:sp>
        <p:nvSpPr>
          <p:cNvPr id="39" name="Text 37"/>
          <p:cNvSpPr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DSTL · Junho/2026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18380C67-B251-9562-C805-7D0E96973221}"/>
              </a:ext>
            </a:extLst>
          </p:cNvPr>
          <p:cNvSpPr/>
          <p:nvPr/>
        </p:nvSpPr>
        <p:spPr>
          <a:xfrm>
            <a:off x="-12447" y="-7074"/>
            <a:ext cx="12191144" cy="630095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55A7"/>
          </a:solidFill>
        </p:spPr>
        <p:txBody>
          <a:bodyPr wrap="square" lIns="0" tIns="0" rIns="0" bIns="0" rtlCol="0"/>
          <a:lstStyle/>
          <a:p>
            <a:endParaRPr lang="pt-BR" sz="849" noProof="0" dirty="0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B4FB8DD4-BEF7-339B-D473-F4E1D5B98BAC}"/>
              </a:ext>
            </a:extLst>
          </p:cNvPr>
          <p:cNvPicPr/>
          <p:nvPr/>
        </p:nvPicPr>
        <p:blipFill>
          <a:blip r:embed="rId2" cstate="print"/>
          <a:srcRect t="86927"/>
          <a:stretch>
            <a:fillRect/>
          </a:stretch>
        </p:blipFill>
        <p:spPr>
          <a:xfrm>
            <a:off x="428" y="5785596"/>
            <a:ext cx="12191144" cy="870117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82912EDC-811E-5D2E-7BA7-68BA7C734519}"/>
              </a:ext>
            </a:extLst>
          </p:cNvPr>
          <p:cNvSpPr txBox="1">
            <a:spLocks/>
          </p:cNvSpPr>
          <p:nvPr/>
        </p:nvSpPr>
        <p:spPr>
          <a:xfrm>
            <a:off x="4409416" y="2184282"/>
            <a:ext cx="4297320" cy="9405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spcBef>
                <a:spcPts val="57"/>
              </a:spcBef>
            </a:pPr>
            <a:r>
              <a:rPr lang="pt-BR" sz="6064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C9A2BED-9798-7F38-CA4E-06A015851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471" y="4595581"/>
            <a:ext cx="2541060" cy="66080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6FB72C1-D8CE-F08D-AB5F-0FBC381AE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16702" b="91327"/>
          <a:stretch>
            <a:fillRect/>
          </a:stretch>
        </p:blipFill>
        <p:spPr>
          <a:xfrm rot="10800000">
            <a:off x="428" y="-7073"/>
            <a:ext cx="3489920" cy="731509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25C5B41-6DE6-2244-1B6D-1848003CB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1" r="-508" b="91327"/>
          <a:stretch>
            <a:fillRect/>
          </a:stretch>
        </p:blipFill>
        <p:spPr>
          <a:xfrm rot="10800000">
            <a:off x="2907664" y="-7073"/>
            <a:ext cx="4210945" cy="73150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1EF0BBD-C62F-070D-22D8-0C282E07B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1" r="-508" b="91328"/>
          <a:stretch>
            <a:fillRect/>
          </a:stretch>
        </p:blipFill>
        <p:spPr>
          <a:xfrm rot="10800000">
            <a:off x="6558077" y="-7073"/>
            <a:ext cx="4210945" cy="73150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1922F5FF-EB19-B82B-8AAD-CA697D316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647" t="1" r="-508" b="91327"/>
          <a:stretch>
            <a:fillRect/>
          </a:stretch>
        </p:blipFill>
        <p:spPr>
          <a:xfrm rot="10800000">
            <a:off x="10186337" y="2"/>
            <a:ext cx="2005236" cy="73150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5D807EC-C54C-3455-B4FD-5B9397D09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-75383" y="5242131"/>
            <a:ext cx="4178811" cy="942707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DA4D802-6707-A362-D5D9-159C841DD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7683208" y="5242131"/>
            <a:ext cx="4178811" cy="94270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A35BFF97-18AA-702F-588D-1D6403A10B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76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8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ESTRATÉGICA · MAIO 2026</a:t>
            </a:r>
            <a:endParaRPr lang="pt-BR" sz="13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× </a:t>
            </a:r>
            <a:r>
              <a:rPr lang="pt-BR" sz="6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endParaRPr lang="pt-BR" sz="60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Ipiranga</a:t>
            </a:r>
            <a:endParaRPr lang="pt-BR" sz="32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Infraestrutura, Relacionamento e Aderência ao Plano de Expansão</a:t>
            </a:r>
            <a:endParaRPr lang="pt-B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D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Estratégica  ·  S&amp;OP e Torre de Controle Logística</a:t>
            </a:r>
            <a:endParaRPr lang="pt-BR" sz="12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C7C124E-4B13-EC80-A5FA-58CFABE8945C}"/>
              </a:ext>
            </a:extLst>
          </p:cNvPr>
          <p:cNvSpPr/>
          <p:nvPr/>
        </p:nvSpPr>
        <p:spPr>
          <a:xfrm>
            <a:off x="868680" y="4572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Negócios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Ideias</a:t>
            </a:r>
            <a:endParaRPr lang="pt-BR" sz="2200" noProof="0" dirty="0"/>
          </a:p>
          <a:p>
            <a:pPr marL="0" indent="0" algn="l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</a:t>
            </a:r>
            <a:endParaRPr lang="pt-BR" sz="2200" noProof="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BCB4D5A-1B52-4755-0F42-4028F1BC3979}"/>
              </a:ext>
            </a:extLst>
          </p:cNvPr>
          <p:cNvSpPr/>
          <p:nvPr/>
        </p:nvSpPr>
        <p:spPr>
          <a:xfrm>
            <a:off x="640080" y="4859386"/>
            <a:ext cx="64008" cy="73152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E89E322-C575-F675-611E-6CC86ADAAD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955" r="100000">
                        <a14:foregroundMark x1="12947" y1="44737" x2="20297" y2="46805"/>
                        <a14:foregroundMark x1="20297" y1="46805" x2="34053" y2="63910"/>
                        <a14:foregroundMark x1="34053" y1="63910" x2="32839" y2="42669"/>
                        <a14:foregroundMark x1="32839" y1="42669" x2="24680" y2="33459"/>
                        <a14:foregroundMark x1="22320" y1="30827" x2="21915" y2="31015"/>
                        <a14:foregroundMark x1="21645" y1="20301" x2="16183" y2="38910"/>
                        <a14:foregroundMark x1="17802" y1="22932" x2="12812" y2="40977"/>
                        <a14:foregroundMark x1="16521" y1="24624" x2="23264" y2="17293"/>
                        <a14:foregroundMark x1="23264" y1="17293" x2="28591" y2="17105"/>
                        <a14:foregroundMark x1="28591" y1="17105" x2="31895" y2="28759"/>
                        <a14:foregroundMark x1="31895" y1="28759" x2="37626" y2="37782"/>
                        <a14:foregroundMark x1="37626" y1="37782" x2="36952" y2="23120"/>
                        <a14:foregroundMark x1="36952" y1="23120" x2="29737" y2="5639"/>
                        <a14:foregroundMark x1="29737" y1="5639" x2="14498" y2="3195"/>
                        <a14:foregroundMark x1="14498" y1="3195" x2="9238" y2="5263"/>
                        <a14:foregroundMark x1="9238" y1="5263" x2="6541" y2="21429"/>
                        <a14:foregroundMark x1="6541" y1="21429" x2="13688" y2="41353"/>
                        <a14:foregroundMark x1="13688" y1="41353" x2="19488" y2="45113"/>
                        <a14:foregroundMark x1="21915" y1="66541" x2="27242" y2="63534"/>
                        <a14:foregroundMark x1="27242" y1="63534" x2="30411" y2="75940"/>
                        <a14:foregroundMark x1="30411" y1="75940" x2="22185" y2="92293"/>
                        <a14:foregroundMark x1="22185" y1="92293" x2="12407" y2="81579"/>
                        <a14:foregroundMark x1="12407" y1="81579" x2="9845" y2="93797"/>
                        <a14:foregroundMark x1="9845" y1="93797" x2="2090" y2="95865"/>
                        <a14:foregroundMark x1="2090" y1="95865" x2="9373" y2="64662"/>
                        <a14:foregroundMark x1="9373" y1="64662" x2="25624" y2="68421"/>
                        <a14:foregroundMark x1="12272" y1="96617" x2="11800" y2="99812"/>
                        <a14:foregroundMark x1="11598" y1="96805" x2="13419" y2="99812"/>
                        <a14:foregroundMark x1="11598" y1="96805" x2="11396" y2="97556"/>
                        <a14:foregroundMark x1="7755" y1="94549" x2="2765" y2="99812"/>
                        <a14:foregroundMark x1="12407" y1="94361" x2="18341" y2="99812"/>
                        <a14:foregroundMark x1="12407" y1="94361" x2="7283" y2="94737"/>
                        <a14:foregroundMark x1="4788" y1="15602" x2="0" y2="44173"/>
                        <a14:foregroundMark x1="4855" y1="15602" x2="9440" y2="3571"/>
                        <a14:foregroundMark x1="9440" y1="3571" x2="20364" y2="1692"/>
                        <a14:foregroundMark x1="20364" y1="1692" x2="28658" y2="3195"/>
                        <a14:foregroundMark x1="28658" y1="3195" x2="51382" y2="940"/>
                        <a14:foregroundMark x1="51382" y1="940" x2="61767" y2="2068"/>
                        <a14:foregroundMark x1="61767" y1="2068" x2="67229" y2="1880"/>
                        <a14:foregroundMark x1="67229" y1="1880" x2="73702" y2="4511"/>
                        <a14:foregroundMark x1="73702" y1="4511" x2="98045" y2="50940"/>
                        <a14:foregroundMark x1="98045" y1="50940" x2="99933" y2="57331"/>
                        <a14:foregroundMark x1="46527" y1="69361" x2="48618" y2="73684"/>
                        <a14:foregroundMark x1="15779" y1="73496" x2="2967" y2="71805"/>
                        <a14:foregroundMark x1="2967" y1="71805" x2="12475" y2="78383"/>
                        <a14:foregroundMark x1="12475" y1="78383" x2="15846" y2="73684"/>
                        <a14:foregroundMark x1="39919" y1="37406" x2="35941" y2="40602"/>
                        <a14:foregroundMark x1="35941" y1="40602" x2="41133" y2="45113"/>
                        <a14:foregroundMark x1="41133" y1="45113" x2="39649" y2="36278"/>
                        <a14:foregroundMark x1="37761" y1="38158" x2="30276" y2="31767"/>
                        <a14:foregroundMark x1="30276" y1="31767" x2="27377" y2="49060"/>
                        <a14:foregroundMark x1="27377" y1="49060" x2="29467" y2="63534"/>
                        <a14:foregroundMark x1="29467" y1="63534" x2="35941" y2="64286"/>
                        <a14:foregroundMark x1="35941" y1="64286" x2="38436" y2="42857"/>
                        <a14:foregroundMark x1="38436" y1="42857" x2="36615" y2="31955"/>
                        <a14:foregroundMark x1="36615" y1="31955" x2="36615" y2="31955"/>
                        <a14:foregroundMark x1="35131" y1="37970" x2="35334" y2="53759"/>
                        <a14:foregroundMark x1="35334" y1="53759" x2="35941" y2="56579"/>
                        <a14:foregroundMark x1="30614" y1="46617" x2="33311" y2="54887"/>
                        <a14:foregroundMark x1="35401" y1="99248" x2="38638" y2="99812"/>
                        <a14:foregroundMark x1="35334" y1="99248" x2="34929" y2="99812"/>
                        <a14:foregroundMark x1="37222" y1="63910" x2="26433" y2="99812"/>
                        <a14:foregroundMark x1="37289" y1="63910" x2="44774" y2="3759"/>
                        <a14:foregroundMark x1="49899" y1="0" x2="44774" y2="3571"/>
                        <a14:foregroundMark x1="51382" y1="0" x2="68914" y2="13158"/>
                        <a14:foregroundMark x1="68982" y1="13346" x2="80445" y2="32895"/>
                        <a14:foregroundMark x1="80445" y1="32895" x2="84019" y2="46429"/>
                        <a14:foregroundMark x1="84019" y1="46429" x2="97235" y2="52444"/>
                        <a14:foregroundMark x1="97235" y1="52444" x2="99933" y2="63534"/>
                        <a14:foregroundMark x1="99933" y1="65602" x2="91301" y2="84023"/>
                        <a14:foregroundMark x1="91301" y1="84211" x2="72286" y2="85902"/>
                        <a14:foregroundMark x1="72218" y1="85902" x2="67498" y2="99812"/>
                        <a14:foregroundMark x1="61117" y1="18263" x2="58647" y2="44311"/>
                        <a14:foregroundMark x1="58647" y1="44311" x2="54672" y2="47006"/>
                        <a14:foregroundMark x1="58110" y1="8683" x2="49946" y2="20359"/>
                        <a14:foregroundMark x1="49946" y1="20359" x2="44253" y2="52695"/>
                        <a14:foregroundMark x1="44253" y1="52695" x2="46079" y2="70659"/>
                        <a14:foregroundMark x1="46079" y1="70659" x2="45972" y2="75749"/>
                        <a14:foregroundMark x1="42857" y1="67066" x2="50161" y2="94012"/>
                        <a14:foregroundMark x1="50161" y1="94012" x2="62299" y2="89820"/>
                        <a14:foregroundMark x1="62299" y1="89820" x2="60473" y2="64970"/>
                        <a14:foregroundMark x1="60473" y1="64970" x2="47261" y2="64970"/>
                        <a14:foregroundMark x1="47261" y1="64970" x2="45220" y2="68862"/>
                        <a14:foregroundMark x1="54243" y1="73353" x2="60580" y2="70958"/>
                        <a14:foregroundMark x1="74221" y1="84132" x2="69817" y2="93413"/>
                        <a14:foregroundMark x1="69817" y1="93413" x2="67777" y2="94012"/>
                        <a14:foregroundMark x1="73899" y1="87425" x2="67669" y2="95210"/>
                        <a14:foregroundMark x1="67669" y1="95210" x2="67562" y2="94910"/>
                        <a14:foregroundMark x1="73362" y1="88323" x2="68743" y2="98503"/>
                        <a14:foregroundMark x1="73040" y1="6287" x2="65199" y2="7186"/>
                        <a14:foregroundMark x1="65199" y1="7186" x2="70569" y2="5689"/>
                        <a14:foregroundMark x1="70569" y1="5689" x2="65736" y2="7186"/>
                        <a14:foregroundMark x1="85070" y1="59281" x2="83566" y2="79641"/>
                        <a14:foregroundMark x1="83566" y1="79641" x2="93018" y2="73952"/>
                        <a14:foregroundMark x1="93018" y1="73952" x2="95489" y2="67066"/>
                        <a14:foregroundMark x1="98389" y1="64371" x2="88507" y2="69760"/>
                        <a14:foregroundMark x1="88507" y1="69760" x2="88937" y2="73054"/>
                        <a14:backgroundMark x1="90627" y1="1880" x2="91234" y2="16917"/>
                        <a14:backgroundMark x1="91234" y1="16917" x2="93931" y2="29699"/>
                        <a14:backgroundMark x1="93931" y1="29699" x2="98989" y2="21805"/>
                        <a14:backgroundMark x1="99933" y1="9586" x2="98989" y2="21617"/>
                        <a14:backgroundMark x1="88739" y1="188" x2="99933" y2="1504"/>
                        <a14:backgroundMark x1="88739" y1="188" x2="90627" y2="6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874" y="1883502"/>
            <a:ext cx="8565498" cy="30771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estratégico e gargalos de infraestrutura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5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comercial depende de infraestrutura disponível nas praças certas. Este mapa é a régua: onde a cor é azul escuro, qualquer gargalo logístico vira custo estratégico. Bandeiras vermelhas em três frentes: alto custo no N/NE, capacidade restrita em praças prioritárias e dependência de operador único. Mapa calibrado pelo Plano de Expansão Comercial 2025/2026.</a:t>
            </a:r>
            <a:endParaRPr lang="pt-BR" sz="1150" noProof="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A627AA4-3386-ED36-EF95-2EABC1C4C81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6923" l="2347" r="100000">
                        <a14:foregroundMark x1="18026" y1="0" x2="13595" y2="59333"/>
                        <a14:foregroundMark x1="13595" y1="60000" x2="21349" y2="56667"/>
                        <a14:foregroundMark x1="21349" y1="56667" x2="23464" y2="9333"/>
                        <a14:foregroundMark x1="21148" y1="0" x2="23364" y2="8667"/>
                        <a14:foregroundMark x1="3927" y1="0" x2="101" y2="8667"/>
                        <a14:foregroundMark x1="101" y1="9333" x2="1410" y2="75333"/>
                        <a14:foregroundMark x1="1410" y1="75333" x2="16918" y2="92000"/>
                        <a14:foregroundMark x1="16918" y1="92000" x2="32830" y2="79333"/>
                        <a14:foregroundMark x1="32830" y1="79333" x2="30715" y2="4000"/>
                        <a14:foregroundMark x1="28902" y1="0" x2="30614" y2="3333"/>
                        <a14:foregroundMark x1="80363" y1="73333" x2="99899" y2="79333"/>
                        <a14:foregroundMark x1="80363" y1="73333" x2="73817" y2="91333"/>
                        <a14:foregroundMark x1="73817" y1="91333" x2="6949" y2="96000"/>
                        <a14:foregroundMark x1="0" y1="70000" x2="6848" y2="95333"/>
                        <a14:foregroundMark x1="0" y1="69333" x2="0" y2="69333"/>
                        <a14:foregroundMark x1="63243" y1="0" x2="98892" y2="14000"/>
                        <a14:foregroundMark x1="52064" y1="0" x2="45821" y2="16667"/>
                        <a14:foregroundMark x1="45821" y1="17333" x2="38872" y2="7333"/>
                        <a14:foregroundMark x1="39778" y1="0" x2="38872" y2="6667"/>
                        <a14:foregroundMark x1="99899" y1="8667" x2="97583" y2="24000"/>
                        <a14:foregroundMark x1="97583" y1="24667" x2="96576" y2="25333"/>
                        <a14:foregroundMark x1="4695" y1="10769" x2="3521" y2="70769"/>
                        <a14:foregroundMark x1="5869" y1="4615" x2="2347" y2="1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3817" y="4363325"/>
            <a:ext cx="4857703" cy="757316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C775CC4A-8EB3-993E-9CCC-4DFE65659D58}"/>
              </a:ext>
            </a:extLst>
          </p:cNvPr>
          <p:cNvSpPr/>
          <p:nvPr/>
        </p:nvSpPr>
        <p:spPr>
          <a:xfrm>
            <a:off x="447873" y="498348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3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DE GARGALO</a:t>
            </a:r>
            <a:endParaRPr lang="pt-BR" sz="950" noProof="0" dirty="0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86817D4E-D20B-074C-66DE-18C9403E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3629" y="5965675"/>
            <a:ext cx="130837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Categorias Plano de Expansão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Regiões Prioritárias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Defesa de </a:t>
            </a:r>
            <a:r>
              <a:rPr kumimoji="0" lang="pt-BR" sz="600" b="0" i="0" u="none" strike="noStrike" cap="none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Expansão Seletiva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600" b="1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pt-BR" sz="600" b="0" i="0" u="none" strike="noStrike" cap="none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 = Sem foco</a:t>
            </a:r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567CCABD-7407-153D-236F-7EEE73712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08448"/>
              </p:ext>
            </p:extLst>
          </p:nvPr>
        </p:nvGraphicFramePr>
        <p:xfrm>
          <a:off x="447873" y="5349240"/>
          <a:ext cx="8885352" cy="1188720"/>
        </p:xfrm>
        <a:graphic>
          <a:graphicData uri="http://schemas.openxmlformats.org/drawingml/2006/table">
            <a:tbl>
              <a:tblPr/>
              <a:tblGrid>
                <a:gridCol w="1392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5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Filiais (operador)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Natureza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custo unitário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(Vibra) · Belém (</a:t>
                      </a:r>
                      <a:r>
                        <a:rPr lang="pt-BR" sz="8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Vibra+IPP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· </a:t>
                      </a: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(Vibra) 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Maceió (Vibra)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acima da média; mercado concentrado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restrita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 (própria ALE) · OPASC-SC: Itajaí/Biguaçu/Guaramirim (</a:t>
                      </a:r>
                      <a:r>
                        <a:rPr lang="pt-BR" sz="800" b="1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RDP+Transpetro</a:t>
                      </a: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insuficiente vs. ambição de volume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único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(Vibra) · Vitória (</a:t>
                      </a:r>
                      <a:r>
                        <a:rPr lang="pt-BR" sz="800" b="1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Oiltank</a:t>
                      </a: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pt-BR" sz="800" b="1" noProof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BATNA; tarifa extraída pelo monopolista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</a:t>
                      </a:r>
                      <a:r>
                        <a:rPr lang="pt-BR" sz="800" b="1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pt-BR" sz="800" b="1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</a:t>
                      </a:r>
                      <a:r>
                        <a:rPr lang="pt-BR" sz="8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crônico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(IPP 4.625 m³) · Montes Claros (IPP) · Porto Nacional (Granel)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B/C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contratado &gt;&gt; movimentação real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b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 com risco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Teresina (Granel) · São Luís (Granel/</a:t>
                      </a:r>
                      <a:r>
                        <a:rPr lang="pt-BR" sz="8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Tequimar</a:t>
                      </a: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· Porto Nacional (Granel)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ok; custo a otimizar; sem alternativa major usada</a:t>
                      </a:r>
                      <a:endParaRPr lang="pt-BR" sz="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14">
            <a:extLst>
              <a:ext uri="{FF2B5EF4-FFF2-40B4-BE49-F238E27FC236}">
                <a16:creationId xmlns:a16="http://schemas.microsoft.com/office/drawing/2014/main" id="{A3C040E3-1DD7-4DF4-0EE2-8B91A18FF01B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167F9AFC-BEEB-7FAD-18F8-AEFB2DC5C018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B8F1B981-0EC9-CB35-5B6A-F41983CAAF12}"/>
              </a:ext>
            </a:extLst>
          </p:cNvPr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Contexto ALE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B9E395-656B-9C5B-B6C5-D3A03906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8">
            <a:extLst>
              <a:ext uri="{FF2B5EF4-FFF2-40B4-BE49-F238E27FC236}">
                <a16:creationId xmlns:a16="http://schemas.microsoft.com/office/drawing/2014/main" id="{27A0DB10-B179-7821-ED0D-D9CB01A095C8}"/>
              </a:ext>
            </a:extLst>
          </p:cNvPr>
          <p:cNvSpPr/>
          <p:nvPr/>
        </p:nvSpPr>
        <p:spPr>
          <a:xfrm>
            <a:off x="457200" y="6092044"/>
            <a:ext cx="11192439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5C651F3-AF81-E0C6-1E61-11EDC972CA04}"/>
              </a:ext>
            </a:extLst>
          </p:cNvPr>
          <p:cNvSpPr/>
          <p:nvPr/>
        </p:nvSpPr>
        <p:spPr>
          <a:xfrm>
            <a:off x="457201" y="6092044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483889-1E5C-D0FF-64D3-FC61E4EC4B49}"/>
              </a:ext>
            </a:extLst>
          </p:cNvPr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EXPANSÃO BRASIL</a:t>
            </a:r>
            <a:endParaRPr lang="pt-BR" sz="10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23812B-6705-A7F7-DE9B-943FF6DB158A}"/>
              </a:ext>
            </a:extLst>
          </p:cNvPr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estratégico e gargalos</a:t>
            </a:r>
            <a:endParaRPr lang="pt-BR" sz="24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4C4A4B-C5B4-657C-6DB8-D4FAAC191235}"/>
              </a:ext>
            </a:extLst>
          </p:cNvPr>
          <p:cNvSpPr/>
          <p:nvPr/>
        </p:nvSpPr>
        <p:spPr>
          <a:xfrm>
            <a:off x="457199" y="900399"/>
            <a:ext cx="11322151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EDF387-189A-E434-B173-60524DD8BC31}"/>
              </a:ext>
            </a:extLst>
          </p:cNvPr>
          <p:cNvSpPr/>
          <p:nvPr/>
        </p:nvSpPr>
        <p:spPr>
          <a:xfrm>
            <a:off x="457200" y="900399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C435BE-217F-F702-4F1C-658070D94FB5}"/>
              </a:ext>
            </a:extLst>
          </p:cNvPr>
          <p:cNvSpPr/>
          <p:nvPr/>
        </p:nvSpPr>
        <p:spPr>
          <a:xfrm>
            <a:off x="621792" y="87240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5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expansão Brasil evidencia uma ambição comercial relevante, mas sua captura depende da disponibilidade efetiva de infraestrutura logística nas regiões críticas. A análise compara volume projetado, potencial disponível e realidade operacional para identificar onde a operação sustenta o crescimento e onde há gargalos que exigem ação prévia.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4525F-401E-E4CE-E5E8-E8051F565427}"/>
              </a:ext>
            </a:extLst>
          </p:cNvPr>
          <p:cNvSpPr txBox="1"/>
          <p:nvPr/>
        </p:nvSpPr>
        <p:spPr>
          <a:xfrm>
            <a:off x="530536" y="6105387"/>
            <a:ext cx="11018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noProof="0" dirty="0"/>
              <a:t>Garantir infraestrutura competitiva nos mercados certos. As regiões em amarelo e vermelho indicam onde o crescimento depende de negociação, expansão, cessão de espaço ou solução estrutural antes da execução comercial.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F4885F2-7E32-BBD9-F224-175CB11E9202}"/>
              </a:ext>
            </a:extLst>
          </p:cNvPr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44BF2B6-626E-0501-5AAA-C18241F19CCD}"/>
              </a:ext>
            </a:extLst>
          </p:cNvPr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948DCC2-AFB2-D9E6-A7F0-DFED0097C4EA}"/>
              </a:ext>
            </a:extLst>
          </p:cNvPr>
          <p:cNvSpPr txBox="1"/>
          <p:nvPr/>
        </p:nvSpPr>
        <p:spPr>
          <a:xfrm>
            <a:off x="457201" y="1500459"/>
            <a:ext cx="4018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Regiões Prioritárias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999214E-BCCD-25D8-CF68-41FD02BE8437}"/>
              </a:ext>
            </a:extLst>
          </p:cNvPr>
          <p:cNvSpPr txBox="1"/>
          <p:nvPr/>
        </p:nvSpPr>
        <p:spPr>
          <a:xfrm>
            <a:off x="4452648" y="1500459"/>
            <a:ext cx="377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Expansão Seletiva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D176418-D368-D6E6-64F9-05F76E8BB1BB}"/>
              </a:ext>
            </a:extLst>
          </p:cNvPr>
          <p:cNvSpPr txBox="1"/>
          <p:nvPr/>
        </p:nvSpPr>
        <p:spPr>
          <a:xfrm>
            <a:off x="8200496" y="1500459"/>
            <a:ext cx="3274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noProof="0" dirty="0"/>
              <a:t>Defesa de </a:t>
            </a:r>
            <a:r>
              <a:rPr lang="pt-BR" sz="1400" b="1" noProof="0" dirty="0" err="1"/>
              <a:t>Share</a:t>
            </a:r>
            <a:endParaRPr lang="pt-BR" sz="1400" b="1" noProof="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2698C46-5606-C7A9-5CD6-B7EE59E91C8F}"/>
              </a:ext>
            </a:extLst>
          </p:cNvPr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30613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9D6AD48-1A20-BFA3-1947-04552FF06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9994"/>
              </p:ext>
            </p:extLst>
          </p:nvPr>
        </p:nvGraphicFramePr>
        <p:xfrm>
          <a:off x="457199" y="1794387"/>
          <a:ext cx="3670300" cy="43053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350396814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47152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39303018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78791283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28238363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793365783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2030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2030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747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FORTALEZA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4,0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7,6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5747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VITORIA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7,3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7,9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6374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BETIM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76,4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0843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MONTES CLAROS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196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GOV VAL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261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UBERLANDIA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4718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UBERABA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078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PAULINIA POOL 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40,1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11,8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13,9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0886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ITAJAI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6,5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9,3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41516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BIGUACU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D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2141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GUARAMIRIM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558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LAGES 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7,2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316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CRATO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12176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CABEDELO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7,3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1048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IPOJUCA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14,0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9,6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4715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GUAMARE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50,1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9,7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13,2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3048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GOIANIA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61,3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14,3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19,2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20946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RIO VERDE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103504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597669B7-940E-B714-C8DD-B71E6BE47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74472"/>
              </p:ext>
            </p:extLst>
          </p:nvPr>
        </p:nvGraphicFramePr>
        <p:xfrm>
          <a:off x="4359915" y="1794387"/>
          <a:ext cx="3670300" cy="40386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327163609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960225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0522831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78554311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65667394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79956982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1979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DUQUE DE CAXIAS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63,2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26,2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7851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GUARULHOS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62,7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21,2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32,9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82733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S J RIO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18,9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3891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CUBATAO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54293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 J DOS CAMPOS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1038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RIBEIRAO PRETO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9425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OURINHOS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95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SAO CAETANO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9087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ARAUCARIA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10,2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3,8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204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CANOAS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15,5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258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RIO GRANDE 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9140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SAO LUIS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20,3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16,2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5160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ACAILANDIA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6,8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760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BELEM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3,9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5,9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398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BRASILIA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5,3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7271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RONDONOPOLIS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218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CUIABA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993878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ED706B4-57A4-376D-DA63-D10026ABC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924600"/>
              </p:ext>
            </p:extLst>
          </p:nvPr>
        </p:nvGraphicFramePr>
        <p:xfrm>
          <a:off x="8262631" y="1799358"/>
          <a:ext cx="3670300" cy="18288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8360551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5437225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724272365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46075649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2718101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86107539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Região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Cap. m³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26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Demanda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Status 30 (m³)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7751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MACEIO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0,8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842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LEM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Carlito"/>
                        </a:rPr>
                        <a:t>2,9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C997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0521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SAO FCO DO CONDE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8,7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7703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ITABUNA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043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JEQUIE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0,2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3954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TERESINA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4988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PORTO NACIONAL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10,6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1,9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900" b="0" i="0" u="none" strike="noStrike" noProof="0" dirty="0">
                          <a:solidFill>
                            <a:srgbClr val="111827"/>
                          </a:solidFill>
                          <a:effectLst/>
                          <a:latin typeface="Carlito"/>
                        </a:rPr>
                        <a:t>2,1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noProof="0" dirty="0">
                          <a:solidFill>
                            <a:srgbClr val="00876C"/>
                          </a:solidFill>
                          <a:effectLst/>
                          <a:latin typeface="Arial" panose="020B0604020202020204" pitchFamily="34" charset="0"/>
                        </a:rPr>
                        <a:t>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8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308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ALE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infraestrutura e posição financeira com </a:t>
            </a:r>
            <a:r>
              <a:rPr lang="pt-BR" sz="24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da movimentação em infra própria.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Vibra+IPP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representam 13% do volume mas 25% da despesa total de armazenagem. Saldo líquido negativo com os dois — desequilíbrio maior com a Vibra.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199" y="1752286"/>
            <a:ext cx="4133461" cy="25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2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ALE — PARTICIPAÇÃO POR OPERADOR</a:t>
            </a:r>
            <a:endParaRPr lang="pt-BR" sz="95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01356"/>
              </p:ext>
            </p:extLst>
          </p:nvPr>
        </p:nvGraphicFramePr>
        <p:xfrm>
          <a:off x="457200" y="2044894"/>
          <a:ext cx="384048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(%)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Própria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Ipiranga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Oiltanking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54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Ultracargo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Santos Brasil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Raízen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Idaza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Rejaile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Torrão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Tecab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Diversas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076381"/>
            <a:ext cx="3840480" cy="457200"/>
          </a:xfrm>
          <a:prstGeom prst="rect">
            <a:avLst/>
          </a:prstGeom>
          <a:solidFill>
            <a:srgbClr val="EBF4FF"/>
          </a:solidFill>
          <a:ln w="889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57200" y="6076381"/>
            <a:ext cx="64008" cy="457200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566880" y="6076381"/>
            <a:ext cx="3730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pt-BR" sz="1000" b="1" noProof="0" dirty="0" err="1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Vibra+IPP</a:t>
            </a:r>
            <a:r>
              <a:rPr lang="pt-BR" sz="1000" b="1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</a:t>
            </a:r>
            <a:r>
              <a:rPr lang="pt-BR" sz="9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do volume total  ·  dependência direta em 15 filiais  ·  48% da despesa plural</a:t>
            </a:r>
            <a:endParaRPr lang="pt-BR" sz="1000" noProof="0" dirty="0"/>
          </a:p>
        </p:txBody>
      </p:sp>
      <p:sp>
        <p:nvSpPr>
          <p:cNvPr id="13" name="Text 10"/>
          <p:cNvSpPr/>
          <p:nvPr/>
        </p:nvSpPr>
        <p:spPr>
          <a:xfrm>
            <a:off x="4663440" y="1752287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2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COM MAJORS — 2025 FECHADO</a:t>
            </a:r>
            <a:endParaRPr lang="pt-BR" sz="950" noProof="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005376"/>
              </p:ext>
            </p:extLst>
          </p:nvPr>
        </p:nvGraphicFramePr>
        <p:xfrm>
          <a:off x="4663440" y="2044895"/>
          <a:ext cx="7040880" cy="3240341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2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Ipiranga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ALE ARMAZENA (DESPESA)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Despesa total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R$ 8,9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R$ 8,8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Volume movimentado (m³/ano)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135.763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188.673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Tarifa efetiva média (R$/m³)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R$ 95,0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R$ 48,8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Nº de filiais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ALE É CEDENTE (RECEITA)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Receita total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R$ 1,4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R$ 3,6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Volume movimentado (m³/ano)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58.079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171.316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Tarifa efetiva média (R$/m³)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R$ 23,6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R$ 34,2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Nº de filiais cedidas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(LEM)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(GRU+LEM)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LÍQUIDO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R$ 7,5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R$ 5,1 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despesa/receita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663440" y="6071616"/>
            <a:ext cx="70408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4668059" y="6080759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4777740" y="6071616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 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Vibra a ALE paga 6,5× o que recebe — relação estruturalmente desequilibrada. Com a IPP o múltiplo é 2,4×, mais próximo de uma parceria bilateral. O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pode reduzir a despesa Vibra em ~R$ 3,4M/ano.</a:t>
            </a:r>
            <a:endParaRPr lang="pt-BR" sz="900" noProof="0" dirty="0"/>
          </a:p>
        </p:txBody>
      </p:sp>
      <p:sp>
        <p:nvSpPr>
          <p:cNvPr id="18" name="Shape 14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0" name="Text 16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Contexto ALE</a:t>
            </a:r>
            <a:endParaRPr lang="pt-BR" sz="850" noProof="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38DD0F77-A892-80FE-F210-DDDDAD0402C3}"/>
              </a:ext>
            </a:extLst>
          </p:cNvPr>
          <p:cNvSpPr/>
          <p:nvPr/>
        </p:nvSpPr>
        <p:spPr>
          <a:xfrm flipH="1">
            <a:off x="4505286" y="1752288"/>
            <a:ext cx="7622" cy="4831392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PARTE 1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Mapa de Contratos e Oportunidades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armazena em 7 bases Vibra — concentradas no N/NE e SP. Vibra armazena em LEM (única relação bilateral). Em laranja: praças com operador atual onde Vibra é BATNA disponível.</a:t>
            </a:r>
            <a:endParaRPr lang="pt-BR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384048" y="1801368"/>
            <a:ext cx="4937760" cy="4809744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3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ATIVOS ALE ↔ VIBRA</a:t>
            </a:r>
            <a:endParaRPr lang="pt-BR" sz="95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2130551"/>
            <a:ext cx="4543481" cy="406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4360" y="6336792"/>
            <a:ext cx="146304" cy="146304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777240" y="6309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(base própria)</a:t>
            </a:r>
            <a:endParaRPr lang="pt-BR" sz="800" noProof="0" dirty="0"/>
          </a:p>
        </p:txBody>
      </p:sp>
      <p:sp>
        <p:nvSpPr>
          <p:cNvPr id="13" name="Shape 10"/>
          <p:cNvSpPr/>
          <p:nvPr/>
        </p:nvSpPr>
        <p:spPr>
          <a:xfrm>
            <a:off x="1653381" y="6318504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1836261" y="6291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ALE→Vibra</a:t>
            </a: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(contrato)</a:t>
            </a:r>
            <a:endParaRPr lang="pt-BR" sz="800" noProof="0" dirty="0"/>
          </a:p>
        </p:txBody>
      </p:sp>
      <p:sp>
        <p:nvSpPr>
          <p:cNvPr id="15" name="Shape 12"/>
          <p:cNvSpPr/>
          <p:nvPr/>
        </p:nvSpPr>
        <p:spPr>
          <a:xfrm>
            <a:off x="2900878" y="6318504"/>
            <a:ext cx="146304" cy="146304"/>
          </a:xfrm>
          <a:prstGeom prst="ellipse">
            <a:avLst/>
          </a:prstGeom>
          <a:solidFill>
            <a:srgbClr val="00B6C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3083758" y="6291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Vibra→ALE</a:t>
            </a: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(LEM)</a:t>
            </a:r>
            <a:endParaRPr lang="pt-BR" sz="800" noProof="0" dirty="0"/>
          </a:p>
        </p:txBody>
      </p:sp>
      <p:sp>
        <p:nvSpPr>
          <p:cNvPr id="17" name="Shape 14"/>
          <p:cNvSpPr/>
          <p:nvPr/>
        </p:nvSpPr>
        <p:spPr>
          <a:xfrm>
            <a:off x="3936569" y="6318504"/>
            <a:ext cx="146304" cy="146304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4119449" y="6291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subst.</a:t>
            </a:r>
            <a:endParaRPr lang="pt-BR" sz="800" noProof="0" dirty="0"/>
          </a:p>
        </p:txBody>
      </p:sp>
      <p:sp>
        <p:nvSpPr>
          <p:cNvPr id="19" name="Text 16"/>
          <p:cNvSpPr/>
          <p:nvPr/>
        </p:nvSpPr>
        <p:spPr>
          <a:xfrm>
            <a:off x="5482664" y="1809203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VIBRA</a:t>
            </a:r>
            <a:endParaRPr lang="pt-BR" sz="1000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971353"/>
              </p:ext>
            </p:extLst>
          </p:nvPr>
        </p:nvGraphicFramePr>
        <p:xfrm>
          <a:off x="5482664" y="2083523"/>
          <a:ext cx="5852160" cy="17068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Açailândia / MA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LEM↔Açailândia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concluído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/ PA ⚠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0,55×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108→297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alto; candidata ao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/ CE ⚠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0,53×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pt-BR" sz="90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Monopólio Vibra; sem BATNA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Cubatão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 (~50% tarifa menor)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/ CE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95–159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no limite; monitorar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Maceió / 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102–112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disponível como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caiu 45% no 1T26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491049" y="38643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VIBRA ARMAZENA NA ALE</a:t>
            </a:r>
            <a:endParaRPr lang="pt-BR" sz="1000" noProof="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56825"/>
              </p:ext>
            </p:extLst>
          </p:nvPr>
        </p:nvGraphicFramePr>
        <p:xfrm>
          <a:off x="5491049" y="4138621"/>
          <a:ext cx="5852160" cy="4267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 / BA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concluído; giro caiu 40% no 1T26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5491048" y="4870141"/>
            <a:ext cx="5843775" cy="208872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19"/>
          <p:cNvSpPr/>
          <p:nvPr/>
        </p:nvSpPr>
        <p:spPr>
          <a:xfrm>
            <a:off x="5582489" y="4906717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Vibra como BATNA em praças com operador atual não-Major</a:t>
            </a:r>
            <a:endParaRPr lang="pt-BR" sz="850" noProof="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157385"/>
              </p:ext>
            </p:extLst>
          </p:nvPr>
        </p:nvGraphicFramePr>
        <p:xfrm>
          <a:off x="5491048" y="5144461"/>
          <a:ext cx="5843776" cy="1280160"/>
        </p:xfrm>
        <a:graphic>
          <a:graphicData uri="http://schemas.openxmlformats.org/drawingml/2006/table">
            <a:tbl>
              <a:tblPr/>
              <a:tblGrid>
                <a:gridCol w="167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atual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Despesa/mês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 tem base?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Nacional / TO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R$ 92k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solidFill>
                          <a:srgbClr val="FFC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Luís / MA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Granel/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Tequimar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R$ 526k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Teresina / PI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R$ 159k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Ipojuca / PE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R$ 284k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Caxias / RJ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Raízen (S10)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1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28" name="Text 22"/>
          <p:cNvSpPr/>
          <p:nvPr/>
        </p:nvSpPr>
        <p:spPr>
          <a:xfrm>
            <a:off x="7772400" y="662647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Vibra · Relacionamento</a:t>
            </a:r>
            <a:endParaRPr lang="pt-BR" sz="850" noProof="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332DB74B-6384-5AD8-0CD5-81C44442F541}"/>
              </a:ext>
            </a:extLst>
          </p:cNvPr>
          <p:cNvSpPr>
            <a:spLocks noChangeAspect="1"/>
          </p:cNvSpPr>
          <p:nvPr/>
        </p:nvSpPr>
        <p:spPr>
          <a:xfrm>
            <a:off x="3568056" y="4953013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FA3F520E-D626-E91E-DE79-A1C1AE248836}"/>
              </a:ext>
            </a:extLst>
          </p:cNvPr>
          <p:cNvSpPr>
            <a:spLocks noChangeAspect="1"/>
          </p:cNvSpPr>
          <p:nvPr/>
        </p:nvSpPr>
        <p:spPr>
          <a:xfrm>
            <a:off x="4029449" y="4989013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C49193B4-D53F-FCD6-33A4-773A5BEAAE68}"/>
              </a:ext>
            </a:extLst>
          </p:cNvPr>
          <p:cNvSpPr>
            <a:spLocks noChangeAspect="1"/>
          </p:cNvSpPr>
          <p:nvPr/>
        </p:nvSpPr>
        <p:spPr>
          <a:xfrm>
            <a:off x="3919721" y="4899013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05F11208-DDC1-E8FE-3557-9E2A58B4C477}"/>
              </a:ext>
            </a:extLst>
          </p:cNvPr>
          <p:cNvSpPr>
            <a:spLocks noChangeAspect="1"/>
          </p:cNvSpPr>
          <p:nvPr/>
        </p:nvSpPr>
        <p:spPr>
          <a:xfrm>
            <a:off x="3829721" y="4657417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E9C26821-AB26-1E54-2F0E-7182DC881B5A}"/>
              </a:ext>
            </a:extLst>
          </p:cNvPr>
          <p:cNvSpPr>
            <a:spLocks noChangeAspect="1"/>
          </p:cNvSpPr>
          <p:nvPr/>
        </p:nvSpPr>
        <p:spPr>
          <a:xfrm>
            <a:off x="3270921" y="4306981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9CEB2BB6-C5D7-75AD-D240-797EE505EBAA}"/>
              </a:ext>
            </a:extLst>
          </p:cNvPr>
          <p:cNvSpPr>
            <a:spLocks noChangeAspect="1"/>
          </p:cNvSpPr>
          <p:nvPr/>
        </p:nvSpPr>
        <p:spPr>
          <a:xfrm>
            <a:off x="2522061" y="4206240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22C5C33-0F96-80AA-27F8-D080B9672167}"/>
              </a:ext>
            </a:extLst>
          </p:cNvPr>
          <p:cNvSpPr>
            <a:spLocks noChangeAspect="1"/>
          </p:cNvSpPr>
          <p:nvPr/>
        </p:nvSpPr>
        <p:spPr>
          <a:xfrm>
            <a:off x="3270921" y="4704902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DFCB5561-C9C4-F5A9-5989-6ACA9FD64F22}"/>
              </a:ext>
            </a:extLst>
          </p:cNvPr>
          <p:cNvSpPr>
            <a:spLocks noChangeAspect="1"/>
          </p:cNvSpPr>
          <p:nvPr/>
        </p:nvSpPr>
        <p:spPr>
          <a:xfrm>
            <a:off x="3784721" y="4057045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31277165-60CE-DBF4-EB54-31C6A5EDF1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8810" y="4048045"/>
            <a:ext cx="258261" cy="108000"/>
          </a:xfrm>
          <a:prstGeom prst="rect">
            <a:avLst/>
          </a:prstGeom>
        </p:spPr>
      </p:pic>
      <p:sp>
        <p:nvSpPr>
          <p:cNvPr id="43" name="Shape 8">
            <a:extLst>
              <a:ext uri="{FF2B5EF4-FFF2-40B4-BE49-F238E27FC236}">
                <a16:creationId xmlns:a16="http://schemas.microsoft.com/office/drawing/2014/main" id="{A229C831-0778-73F4-F843-222DDA8007A0}"/>
              </a:ext>
            </a:extLst>
          </p:cNvPr>
          <p:cNvSpPr>
            <a:spLocks noChangeAspect="1"/>
          </p:cNvSpPr>
          <p:nvPr/>
        </p:nvSpPr>
        <p:spPr>
          <a:xfrm>
            <a:off x="3648478" y="3837444"/>
            <a:ext cx="121079" cy="121079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D168D7F-9AEC-AEEA-5D5F-5626F83A0BE5}"/>
              </a:ext>
            </a:extLst>
          </p:cNvPr>
          <p:cNvSpPr/>
          <p:nvPr/>
        </p:nvSpPr>
        <p:spPr>
          <a:xfrm>
            <a:off x="3703320" y="3837444"/>
            <a:ext cx="326129" cy="11901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PARTE 2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Despesa e Receita ALE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fortemente unilateral. ALE paga R$ 742k/mês à Vibra em 7 bases; Vibra paga R$ 114k/mês em apenas 1 (LEM, em queda no 1T26). Crato e Cubatão concentram 45% da despesa.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170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VIBRA  (despesa)</a:t>
            </a:r>
            <a:endParaRPr lang="pt-BR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402447"/>
              </p:ext>
            </p:extLst>
          </p:nvPr>
        </p:nvGraphicFramePr>
        <p:xfrm>
          <a:off x="457200" y="2148840"/>
          <a:ext cx="10789920" cy="18516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Açailândia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→ 297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78–88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R$ 1,46M (c/Crato)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117–126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BATNA geográfico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Cubatão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214–253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do </a:t>
                      </a:r>
                      <a:r>
                        <a:rPr lang="pt-BR" sz="850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95–159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no limite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Maceió ⚠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1,03×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102–112</a:t>
                      </a:r>
                      <a:endParaRPr lang="pt-BR" sz="850" b="1" noProof="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62–68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como </a:t>
                      </a:r>
                      <a:r>
                        <a:rPr lang="pt-BR" sz="850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SJC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27–57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 45% no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625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VIBRA ARMAZENA NA ALE  (receita)</a:t>
            </a:r>
            <a:endParaRPr lang="pt-BR" sz="1000" noProof="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875099"/>
              </p:ext>
            </p:extLst>
          </p:nvPr>
        </p:nvGraphicFramePr>
        <p:xfrm>
          <a:off x="457200" y="4900064"/>
          <a:ext cx="10789920" cy="411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 → 27,9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78–114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Aquisição do Pool elimina essa receita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740191"/>
            <a:ext cx="1170432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457200" y="5740191"/>
            <a:ext cx="64008" cy="457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0"/>
          <p:cNvSpPr/>
          <p:nvPr/>
        </p:nvSpPr>
        <p:spPr>
          <a:xfrm>
            <a:off x="621792" y="5740191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 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≈ R$ 1,46M (Crato + Belém = 76%)  ·  Tarifa Belém saltou +175% no 1T26  ·  Aquisição LEM-Vibra  ·  SJC caiu 45%</a:t>
            </a:r>
            <a:endParaRPr lang="pt-BR" sz="900" noProof="0" dirty="0"/>
          </a:p>
        </p:txBody>
      </p:sp>
      <p:sp>
        <p:nvSpPr>
          <p:cNvPr id="15" name="Shape 11"/>
          <p:cNvSpPr/>
          <p:nvPr/>
        </p:nvSpPr>
        <p:spPr>
          <a:xfrm>
            <a:off x="457200" y="6620999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2"/>
          <p:cNvSpPr/>
          <p:nvPr/>
        </p:nvSpPr>
        <p:spPr>
          <a:xfrm>
            <a:off x="457200" y="664768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17" name="Text 13"/>
          <p:cNvSpPr/>
          <p:nvPr/>
        </p:nvSpPr>
        <p:spPr>
          <a:xfrm>
            <a:off x="7772400" y="664768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Vibra · Relacionamento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 ·  PARTE 3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Cruzado, Aderência e Oportunidades de Substituição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Vibra em redução estrutural.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migra 44% da despesa Vibra. Crato sem BATNA. Além dos contratos diretos, Vibra é alternativa real em Porto Nacional, São Luís, Teresina e Ipojuca.</a:t>
            </a:r>
            <a:endParaRPr lang="pt-BR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13632" cy="2660904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913632" cy="438912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21792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→ VIBRA (contratos diretos)</a:t>
            </a:r>
            <a:endParaRPr lang="pt-BR" sz="750" noProof="0" dirty="0"/>
          </a:p>
        </p:txBody>
      </p:sp>
      <p:sp>
        <p:nvSpPr>
          <p:cNvPr id="11" name="Text 9"/>
          <p:cNvSpPr/>
          <p:nvPr/>
        </p:nvSpPr>
        <p:spPr>
          <a:xfrm>
            <a:off x="621792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interesse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4407408" y="1874519"/>
            <a:ext cx="3913632" cy="2660903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4407408" y="1874520"/>
            <a:ext cx="3913632" cy="43891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→ ALE</a:t>
            </a:r>
            <a:endParaRPr lang="pt-BR" sz="75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deles</a:t>
            </a:r>
            <a:endParaRPr lang="pt-B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8357616" y="1874520"/>
            <a:ext cx="3913632" cy="2660902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8357616" y="1874520"/>
            <a:ext cx="3913632" cy="438912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8522208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PLANO ↔ VIBRA</a:t>
            </a:r>
            <a:endParaRPr lang="pt-BR" sz="750" noProof="0" dirty="0"/>
          </a:p>
        </p:txBody>
      </p:sp>
      <p:sp>
        <p:nvSpPr>
          <p:cNvPr id="19" name="Text 17"/>
          <p:cNvSpPr/>
          <p:nvPr/>
        </p:nvSpPr>
        <p:spPr>
          <a:xfrm>
            <a:off x="8522208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</a:t>
            </a:r>
            <a:endParaRPr lang="pt-B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574167" y="2365248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58952" y="224370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ANP swap LEM ↔ Açailândia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curso (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/26) — encerra frente ofensiva</a:t>
            </a:r>
            <a:endParaRPr lang="pt-B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574167" y="2813304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758952" y="2691765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Cubatão + Belém via </a:t>
            </a:r>
            <a:r>
              <a:rPr lang="pt-BR" sz="9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≈ 50% tarifa Vibra; impacto R$ 341k/mês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574167" y="3261360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758952" y="3139821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Crato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R$ 685k/ano; sem BATNA; reduzir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vol_min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tarifa</a:t>
            </a:r>
            <a:endParaRPr lang="pt-BR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574167" y="3709416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758952" y="3587877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— </a:t>
            </a:r>
            <a:r>
              <a:rPr lang="pt-BR" sz="9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IPP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R$ 102–112/m³ hoje; IPP é o BATNA local</a:t>
            </a:r>
            <a:endParaRPr lang="pt-BR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574167" y="4157472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/>
          <p:nvPr/>
        </p:nvSpPr>
        <p:spPr>
          <a:xfrm>
            <a:off x="758952" y="4035933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— investigar queda 1T26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caiu 45%; revisar premissa contratual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572000" y="2441448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4728210" y="231990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Cubatão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contrato da carteira (R$ 253k/mês 1T26)</a:t>
            </a:r>
            <a:endParaRPr lang="pt-B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4572000" y="2990088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4728210" y="286854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Crato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 local — extrai valor máximo</a:t>
            </a:r>
            <a:endParaRPr lang="pt-BR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4572000" y="3538728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728210" y="3417189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Açailândia/LEM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Pós-swap, posições consolidadas</a:t>
            </a:r>
            <a:endParaRPr lang="pt-BR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540496" y="2234184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  </a:t>
            </a:r>
            <a:r>
              <a:rPr lang="pt-BR" sz="10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 cria o gargalo</a:t>
            </a:r>
            <a:endParaRPr lang="pt-BR" sz="1000" noProof="0" dirty="0"/>
          </a:p>
        </p:txBody>
      </p:sp>
      <p:sp>
        <p:nvSpPr>
          <p:cNvPr id="37" name="Text 35"/>
          <p:cNvSpPr/>
          <p:nvPr/>
        </p:nvSpPr>
        <p:spPr>
          <a:xfrm>
            <a:off x="8540496" y="259308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  </a:t>
            </a:r>
            <a:r>
              <a:rPr lang="pt-BR" sz="10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entrega por ~metade</a:t>
            </a:r>
            <a:endParaRPr lang="pt-BR" sz="1000" noProof="0" dirty="0"/>
          </a:p>
        </p:txBody>
      </p:sp>
      <p:sp>
        <p:nvSpPr>
          <p:cNvPr id="38" name="Text 36"/>
          <p:cNvSpPr/>
          <p:nvPr/>
        </p:nvSpPr>
        <p:spPr>
          <a:xfrm>
            <a:off x="8540496" y="2942463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  </a:t>
            </a:r>
            <a:r>
              <a:rPr lang="pt-BR" sz="1000" b="1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IPP substitui</a:t>
            </a:r>
            <a:endParaRPr lang="pt-BR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8540496" y="3282315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 </a:t>
            </a:r>
            <a:r>
              <a:rPr lang="pt-BR" sz="100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pt-BR" sz="100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é alternativa real</a:t>
            </a:r>
            <a:endParaRPr lang="pt-B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11704320" cy="25603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1" name="Text 39"/>
          <p:cNvSpPr/>
          <p:nvPr/>
        </p:nvSpPr>
        <p:spPr>
          <a:xfrm>
            <a:off x="548640" y="4608576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SUBSTITUIÇÃO — praças onde Vibra pode substituir operador atual</a:t>
            </a:r>
            <a:endParaRPr lang="pt-BR" sz="900" noProof="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12967"/>
              </p:ext>
            </p:extLst>
          </p:nvPr>
        </p:nvGraphicFramePr>
        <p:xfrm>
          <a:off x="457200" y="4846320"/>
          <a:ext cx="11704320" cy="12420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ALE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Atual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Mensal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Atual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 tem Base?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Nacional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R$ 92k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R$ 53/m³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 de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Vibra está no terminal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Luís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 /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Tequimar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R$ 526k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seletiva;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recente com Granel ganhou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Teresina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R$ 159k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Defesa; monopólio Granel local — Vibra é BATNA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Ipojuca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Temape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R$ 284k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A; Vibra tem base própria em Ipojuca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Duque de Caxias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Raízen (S10 sem duto)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ALE sem duto S10 → Vibra e IPP como alternativa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4" name="Text 41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45" name="Text 42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Vibra · Interesse Cruzado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84048" y="1801368"/>
            <a:ext cx="5207127" cy="4676394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20FF0391-07B5-7458-1B3F-EB4975DD8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4" y="1998661"/>
            <a:ext cx="4543477" cy="40680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Ipiranga · Relacionamento</a:t>
            </a:r>
            <a:endParaRPr lang="pt-BR" sz="850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 ·  PARTE 1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Mapa de Contratos e Oportunidades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armazena em 7 bases IPP. Guarulhos é a maior receita cedente da ALE. Em laranja: Senador Canedo (GO) — base IPP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engargalada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adjacente à ALE Goiânia. Projeto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destrava receita IPP→ALE.</a:t>
            </a:r>
            <a:endParaRPr lang="pt-BR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kern="0" spc="300" noProof="0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ATIVOS ALE ↔ IPIRANGA </a:t>
            </a:r>
            <a:endParaRPr lang="pt-BR" sz="950" noProof="0" dirty="0"/>
          </a:p>
        </p:txBody>
      </p:sp>
      <p:sp>
        <p:nvSpPr>
          <p:cNvPr id="11" name="Shape 8"/>
          <p:cNvSpPr/>
          <p:nvPr/>
        </p:nvSpPr>
        <p:spPr>
          <a:xfrm>
            <a:off x="479756" y="6211057"/>
            <a:ext cx="146304" cy="146304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662636" y="61836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(base própria)</a:t>
            </a:r>
            <a:endParaRPr lang="pt-BR" sz="800" noProof="0" dirty="0"/>
          </a:p>
        </p:txBody>
      </p:sp>
      <p:sp>
        <p:nvSpPr>
          <p:cNvPr id="13" name="Shape 10"/>
          <p:cNvSpPr/>
          <p:nvPr/>
        </p:nvSpPr>
        <p:spPr>
          <a:xfrm>
            <a:off x="479756" y="5992421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662636" y="596498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ALE→IPP (contrato)</a:t>
            </a:r>
            <a:endParaRPr lang="pt-BR" sz="800" noProof="0" dirty="0"/>
          </a:p>
        </p:txBody>
      </p:sp>
      <p:sp>
        <p:nvSpPr>
          <p:cNvPr id="15" name="Shape 12"/>
          <p:cNvSpPr/>
          <p:nvPr/>
        </p:nvSpPr>
        <p:spPr>
          <a:xfrm>
            <a:off x="479756" y="5765729"/>
            <a:ext cx="146304" cy="146304"/>
          </a:xfrm>
          <a:prstGeom prst="ellipse">
            <a:avLst/>
          </a:prstGeom>
          <a:solidFill>
            <a:srgbClr val="00B6C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662636" y="573829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IPP→ALE (Guarulhos)</a:t>
            </a:r>
            <a:endParaRPr lang="pt-BR" sz="800" noProof="0" dirty="0"/>
          </a:p>
        </p:txBody>
      </p:sp>
      <p:sp>
        <p:nvSpPr>
          <p:cNvPr id="17" name="Shape 14"/>
          <p:cNvSpPr/>
          <p:nvPr/>
        </p:nvSpPr>
        <p:spPr>
          <a:xfrm>
            <a:off x="479756" y="5545950"/>
            <a:ext cx="146304" cy="146304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662636" y="551851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(Interesse cruzado)</a:t>
            </a:r>
            <a:endParaRPr lang="pt-BR" sz="800" noProof="0" dirty="0"/>
          </a:p>
        </p:txBody>
      </p:sp>
      <p:sp>
        <p:nvSpPr>
          <p:cNvPr id="19" name="Text 16"/>
          <p:cNvSpPr/>
          <p:nvPr/>
        </p:nvSpPr>
        <p:spPr>
          <a:xfrm>
            <a:off x="5788152" y="1760193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IPIRANGA</a:t>
            </a:r>
            <a:endParaRPr lang="pt-BR" sz="1000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11209"/>
              </p:ext>
            </p:extLst>
          </p:nvPr>
        </p:nvGraphicFramePr>
        <p:xfrm>
          <a:off x="5788152" y="2034513"/>
          <a:ext cx="585216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/ PA ⚠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96–139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 destrava saída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Canoas / RS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Gov. Valadares / MG ⚠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&gt;2× — redimensionar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Montes Claros / MG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2.338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Melhorou no 1T26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Ourinhos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41–43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Paulínia / SP (novo)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A — menor tarifa da carteira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 / SP ⚠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34–35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&gt;2× — redimensionar </a:t>
                      </a:r>
                      <a:r>
                        <a:rPr lang="pt-BR" sz="9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SJRP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Hibernado — projeto pool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788152" y="403266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IPIRANGA ARMAZENA NA ALE</a:t>
            </a:r>
            <a:endParaRPr lang="pt-BR" sz="1000" noProof="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061354"/>
              </p:ext>
            </p:extLst>
          </p:nvPr>
        </p:nvGraphicFramePr>
        <p:xfrm>
          <a:off x="5788152" y="4306981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/ UF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Min 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2025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Guarulhos / SP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1,63×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20–32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receita cedente ALE (R$ 261k/mês)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 / BA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distrato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90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900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Migrou para Royal </a:t>
                      </a:r>
                      <a:r>
                        <a:rPr lang="pt-BR" sz="900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</a:t>
                      </a:r>
                      <a:r>
                        <a:rPr lang="pt-BR" sz="900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IPP tem interesse em adquirir a base.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5743630" y="5908221"/>
            <a:ext cx="5896681" cy="548640"/>
          </a:xfrm>
          <a:prstGeom prst="rect">
            <a:avLst/>
          </a:prstGeom>
          <a:solidFill>
            <a:srgbClr val="FFF8EE"/>
          </a:solidFill>
          <a:ln w="1016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19"/>
          <p:cNvSpPr/>
          <p:nvPr/>
        </p:nvSpPr>
        <p:spPr>
          <a:xfrm>
            <a:off x="5743631" y="5908221"/>
            <a:ext cx="64008" cy="54864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0"/>
          <p:cNvSpPr/>
          <p:nvPr/>
        </p:nvSpPr>
        <p:spPr>
          <a:xfrm>
            <a:off x="5908223" y="5908221"/>
            <a:ext cx="5732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GOIÂNIA / GO — ALE como cedente  </a:t>
            </a:r>
            <a:r>
              <a:rPr lang="pt-BR" sz="8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opera em Senador Canedo (base própria </a:t>
            </a:r>
            <a:r>
              <a:rPr lang="pt-BR" sz="8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engargalada</a:t>
            </a:r>
            <a:r>
              <a:rPr lang="pt-BR" sz="8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IPP já demonstrou interesse em armazenar na ALE Goiânia. Projeto </a:t>
            </a:r>
            <a:r>
              <a:rPr lang="pt-BR" sz="85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85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(expansão de capacidade ALE) pode destravar essa receita.</a:t>
            </a:r>
            <a:endParaRPr lang="pt-BR" sz="900" noProof="0" dirty="0"/>
          </a:p>
        </p:txBody>
      </p:sp>
      <p:sp>
        <p:nvSpPr>
          <p:cNvPr id="26" name="Shape 21"/>
          <p:cNvSpPr/>
          <p:nvPr/>
        </p:nvSpPr>
        <p:spPr>
          <a:xfrm>
            <a:off x="457200" y="6548302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2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D4B9EDED-A113-DAEB-3695-6145097B2F07}"/>
              </a:ext>
            </a:extLst>
          </p:cNvPr>
          <p:cNvSpPr>
            <a:spLocks noChangeAspect="1"/>
          </p:cNvSpPr>
          <p:nvPr/>
        </p:nvSpPr>
        <p:spPr>
          <a:xfrm>
            <a:off x="4009721" y="4861211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F6F6179B-309D-8A01-AA57-19D2661F926D}"/>
              </a:ext>
            </a:extLst>
          </p:cNvPr>
          <p:cNvSpPr>
            <a:spLocks noChangeAspect="1"/>
          </p:cNvSpPr>
          <p:nvPr/>
        </p:nvSpPr>
        <p:spPr>
          <a:xfrm>
            <a:off x="3919721" y="4899013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22C75645-8FCF-5805-38FC-99677ECB3234}"/>
              </a:ext>
            </a:extLst>
          </p:cNvPr>
          <p:cNvSpPr>
            <a:spLocks noChangeAspect="1"/>
          </p:cNvSpPr>
          <p:nvPr/>
        </p:nvSpPr>
        <p:spPr>
          <a:xfrm>
            <a:off x="3829721" y="4657417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D7E36E9E-FA0D-B0FA-578C-A2A6ABEAD8E5}"/>
              </a:ext>
            </a:extLst>
          </p:cNvPr>
          <p:cNvSpPr>
            <a:spLocks noChangeAspect="1"/>
          </p:cNvSpPr>
          <p:nvPr/>
        </p:nvSpPr>
        <p:spPr>
          <a:xfrm>
            <a:off x="3270921" y="4306981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F160028A-FF57-0D7A-63B4-B14C6C35C3B8}"/>
              </a:ext>
            </a:extLst>
          </p:cNvPr>
          <p:cNvSpPr>
            <a:spLocks noChangeAspect="1"/>
          </p:cNvSpPr>
          <p:nvPr/>
        </p:nvSpPr>
        <p:spPr>
          <a:xfrm>
            <a:off x="2531985" y="4075612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EFBE276D-8533-9A95-58DB-4E5460188106}"/>
              </a:ext>
            </a:extLst>
          </p:cNvPr>
          <p:cNvSpPr>
            <a:spLocks noChangeAspect="1"/>
          </p:cNvSpPr>
          <p:nvPr/>
        </p:nvSpPr>
        <p:spPr>
          <a:xfrm>
            <a:off x="3270921" y="4628708"/>
            <a:ext cx="90000" cy="90000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672E5074-685C-892B-9400-F767EF7E3263}"/>
              </a:ext>
            </a:extLst>
          </p:cNvPr>
          <p:cNvSpPr>
            <a:spLocks noChangeAspect="1"/>
          </p:cNvSpPr>
          <p:nvPr/>
        </p:nvSpPr>
        <p:spPr>
          <a:xfrm>
            <a:off x="3784721" y="4057045"/>
            <a:ext cx="90000" cy="90000"/>
          </a:xfrm>
          <a:prstGeom prst="ellipse">
            <a:avLst/>
          </a:prstGeom>
          <a:solidFill>
            <a:srgbClr val="6BAE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BC0878F8-3725-B133-45BE-6485E5FFED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8810" y="4048045"/>
            <a:ext cx="258261" cy="108000"/>
          </a:xfrm>
          <a:prstGeom prst="rect">
            <a:avLst/>
          </a:prstGeom>
        </p:spPr>
      </p:pic>
      <p:sp>
        <p:nvSpPr>
          <p:cNvPr id="41" name="Retângulo 40">
            <a:extLst>
              <a:ext uri="{FF2B5EF4-FFF2-40B4-BE49-F238E27FC236}">
                <a16:creationId xmlns:a16="http://schemas.microsoft.com/office/drawing/2014/main" id="{CEA3BA45-32BA-C112-4D22-78D22F1110B5}"/>
              </a:ext>
            </a:extLst>
          </p:cNvPr>
          <p:cNvSpPr/>
          <p:nvPr/>
        </p:nvSpPr>
        <p:spPr>
          <a:xfrm>
            <a:off x="3607011" y="4782049"/>
            <a:ext cx="402710" cy="8182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A174C322-9DE5-2BBD-82E9-C4DA2312056B}"/>
              </a:ext>
            </a:extLst>
          </p:cNvPr>
          <p:cNvSpPr>
            <a:spLocks noChangeAspect="1"/>
          </p:cNvSpPr>
          <p:nvPr/>
        </p:nvSpPr>
        <p:spPr>
          <a:xfrm>
            <a:off x="3823958" y="4466832"/>
            <a:ext cx="121079" cy="121079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9EAEC9E-FB59-C680-6670-AFA375708F1D}"/>
              </a:ext>
            </a:extLst>
          </p:cNvPr>
          <p:cNvSpPr/>
          <p:nvPr/>
        </p:nvSpPr>
        <p:spPr>
          <a:xfrm>
            <a:off x="3671781" y="4870979"/>
            <a:ext cx="337940" cy="90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63C2CD12-27B1-6EA4-4A09-E1E2924E5D25}"/>
              </a:ext>
            </a:extLst>
          </p:cNvPr>
          <p:cNvSpPr>
            <a:spLocks noChangeAspect="1"/>
          </p:cNvSpPr>
          <p:nvPr/>
        </p:nvSpPr>
        <p:spPr>
          <a:xfrm>
            <a:off x="3622108" y="3716193"/>
            <a:ext cx="121079" cy="121079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036" name="Picture 12" descr="Mapas de São Paulo">
            <a:extLst>
              <a:ext uri="{FF2B5EF4-FFF2-40B4-BE49-F238E27FC236}">
                <a16:creationId xmlns:a16="http://schemas.microsoft.com/office/drawing/2014/main" id="{5685A1E3-4615-28CC-A1D3-EC4BC26C2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8" t="6431" r="4400" b="10062"/>
          <a:stretch>
            <a:fillRect/>
          </a:stretch>
        </p:blipFill>
        <p:spPr bwMode="auto">
          <a:xfrm>
            <a:off x="3579753" y="5164193"/>
            <a:ext cx="2011422" cy="127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Shape 12">
            <a:extLst>
              <a:ext uri="{FF2B5EF4-FFF2-40B4-BE49-F238E27FC236}">
                <a16:creationId xmlns:a16="http://schemas.microsoft.com/office/drawing/2014/main" id="{4554D7D5-BDDB-6B31-9366-FD697A4FEACB}"/>
              </a:ext>
            </a:extLst>
          </p:cNvPr>
          <p:cNvSpPr/>
          <p:nvPr/>
        </p:nvSpPr>
        <p:spPr>
          <a:xfrm>
            <a:off x="5042153" y="5973752"/>
            <a:ext cx="146304" cy="146304"/>
          </a:xfrm>
          <a:prstGeom prst="ellipse">
            <a:avLst/>
          </a:prstGeom>
          <a:solidFill>
            <a:srgbClr val="00B6C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FD6E67FB-E37F-ACBB-F898-06E791F64655}"/>
              </a:ext>
            </a:extLst>
          </p:cNvPr>
          <p:cNvSpPr/>
          <p:nvPr/>
        </p:nvSpPr>
        <p:spPr>
          <a:xfrm>
            <a:off x="4367543" y="5958948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19C5CC57-DFEB-6304-14C6-5468D8A2BF1E}"/>
              </a:ext>
            </a:extLst>
          </p:cNvPr>
          <p:cNvSpPr/>
          <p:nvPr/>
        </p:nvSpPr>
        <p:spPr>
          <a:xfrm>
            <a:off x="4904993" y="6099808"/>
            <a:ext cx="146304" cy="146304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1334B18B-C8C1-E427-49B7-E2D6CA4AA1AD}"/>
              </a:ext>
            </a:extLst>
          </p:cNvPr>
          <p:cNvSpPr/>
          <p:nvPr/>
        </p:nvSpPr>
        <p:spPr>
          <a:xfrm>
            <a:off x="4985469" y="6049272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50FC7B07-0A26-33DC-5D90-AD5F2E1E49D6}"/>
              </a:ext>
            </a:extLst>
          </p:cNvPr>
          <p:cNvSpPr/>
          <p:nvPr/>
        </p:nvSpPr>
        <p:spPr>
          <a:xfrm>
            <a:off x="4872079" y="5949887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764716B-0536-1514-E02F-C596C58B0532}"/>
              </a:ext>
            </a:extLst>
          </p:cNvPr>
          <p:cNvSpPr txBox="1"/>
          <p:nvPr/>
        </p:nvSpPr>
        <p:spPr>
          <a:xfrm>
            <a:off x="3955826" y="5920586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Ourinhos</a:t>
            </a:r>
            <a:endParaRPr lang="pt-BR" sz="600" b="1" noProof="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8F99770-A149-5274-F283-29D56F4E109F}"/>
              </a:ext>
            </a:extLst>
          </p:cNvPr>
          <p:cNvSpPr txBox="1"/>
          <p:nvPr/>
        </p:nvSpPr>
        <p:spPr>
          <a:xfrm>
            <a:off x="4513847" y="6084840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</a:t>
            </a:r>
            <a:endParaRPr lang="pt-BR" sz="600" b="1" noProof="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E522DD6-4DAE-00B4-9D19-168AA96FAA48}"/>
              </a:ext>
            </a:extLst>
          </p:cNvPr>
          <p:cNvSpPr txBox="1"/>
          <p:nvPr/>
        </p:nvSpPr>
        <p:spPr>
          <a:xfrm>
            <a:off x="5019954" y="6115377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</a:t>
            </a:r>
            <a:endParaRPr lang="pt-BR" sz="600" b="1" noProof="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8A9D110-1F1B-B523-8828-4A3398F4F30F}"/>
              </a:ext>
            </a:extLst>
          </p:cNvPr>
          <p:cNvSpPr txBox="1"/>
          <p:nvPr/>
        </p:nvSpPr>
        <p:spPr>
          <a:xfrm>
            <a:off x="5002321" y="5856952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</a:t>
            </a:r>
            <a:endParaRPr lang="pt-BR" sz="600" b="1" noProof="0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5C6C562-7EBF-51EC-5BAE-E7473860CE9B}"/>
              </a:ext>
            </a:extLst>
          </p:cNvPr>
          <p:cNvSpPr txBox="1"/>
          <p:nvPr/>
        </p:nvSpPr>
        <p:spPr>
          <a:xfrm>
            <a:off x="4708788" y="5780093"/>
            <a:ext cx="635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</a:t>
            </a:r>
            <a:endParaRPr lang="pt-BR" sz="600" b="1" noProof="0" dirty="0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37FAD9ED-6B24-8AEB-FECF-B31E7A7DBB05}"/>
              </a:ext>
            </a:extLst>
          </p:cNvPr>
          <p:cNvSpPr/>
          <p:nvPr/>
        </p:nvSpPr>
        <p:spPr>
          <a:xfrm>
            <a:off x="3191784" y="4789258"/>
            <a:ext cx="415227" cy="13266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5F7CCD55-451C-E1EE-9C2D-3BB3C71181D9}"/>
              </a:ext>
            </a:extLst>
          </p:cNvPr>
          <p:cNvSpPr>
            <a:spLocks noChangeAspect="1"/>
          </p:cNvSpPr>
          <p:nvPr/>
        </p:nvSpPr>
        <p:spPr>
          <a:xfrm>
            <a:off x="3495837" y="4824076"/>
            <a:ext cx="181235" cy="181235"/>
          </a:xfrm>
          <a:prstGeom prst="ellipse">
            <a:avLst/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 ·  PARTE 2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Despesa e Receita ALE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515600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014704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bilateral e mais equilibrada que Vibra.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N/SE (possível saída) pode reduzir despesa em R$ 257k/mês em Belém. Paulínia (Pacote A) com tarifa R$ 7/m³ — ativo mais eficiente da carteira IPP.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170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ALE ARMAZENA NA IPIRANGA  (despesa)</a:t>
            </a:r>
            <a:endParaRPr lang="pt-BR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352140"/>
              </p:ext>
            </p:extLst>
          </p:nvPr>
        </p:nvGraphicFramePr>
        <p:xfrm>
          <a:off x="457200" y="2148840"/>
          <a:ext cx="10515600" cy="2057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96–139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257–258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IPP destrava saída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Canoas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6.041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149–154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 estável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Gov. Valadares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122–134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sub-dimensionado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Montes Claros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101–131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melhorou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Ourinhos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1.067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41–43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42–43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Paulínia (novo)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A — tarifa mais baixa da carteira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 ⚠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1.708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34–35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59–72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vol_min</a:t>
                      </a: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sub-dimensionado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SJRP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hibernado (projeto pool)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18.115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15.722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19.405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799–861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4074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IPIRANGA ARMAZENA NA ALE  (receita)</a:t>
            </a:r>
            <a:endParaRPr lang="pt-BR" sz="1000" noProof="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31717"/>
              </p:ext>
            </p:extLst>
          </p:nvPr>
        </p:nvGraphicFramePr>
        <p:xfrm>
          <a:off x="457200" y="4681728"/>
          <a:ext cx="10515600" cy="6172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Min 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2025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25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/mês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1T26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R$/m³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k/mês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8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Guarulhos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13.073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11.269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20–32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225–261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receita cedente ALE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1.204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0,00×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distrato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pt-BR" sz="850" b="1" noProof="0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i="1" noProof="0" dirty="0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migrou para Royal </a:t>
                      </a:r>
                      <a:r>
                        <a:rPr lang="pt-BR" sz="850" i="1" noProof="0" dirty="0" err="1">
                          <a:solidFill>
                            <a:srgbClr val="6B6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667321"/>
            <a:ext cx="1051560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457200" y="5667321"/>
            <a:ext cx="64008" cy="45720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0"/>
          <p:cNvSpPr/>
          <p:nvPr/>
        </p:nvSpPr>
        <p:spPr>
          <a:xfrm>
            <a:off x="621792" y="5667321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 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Belém: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4.625 m³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giro 0,7×  · 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Gov.Valadares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SCS giro &gt;2× (redimensionar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vol_min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·  LEM-IPP: distrato, migrou para Royal </a:t>
            </a:r>
            <a:r>
              <a:rPr lang="pt-BR" sz="900" noProof="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</a:t>
            </a:r>
            <a:r>
              <a:rPr lang="pt-BR" sz="9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SJRP: hibernado (projeto pool)</a:t>
            </a:r>
            <a:endParaRPr lang="pt-BR" sz="900" noProof="0" dirty="0"/>
          </a:p>
        </p:txBody>
      </p:sp>
      <p:sp>
        <p:nvSpPr>
          <p:cNvPr id="15" name="Shape 11"/>
          <p:cNvSpPr/>
          <p:nvPr/>
        </p:nvSpPr>
        <p:spPr>
          <a:xfrm>
            <a:off x="472440" y="6577366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2"/>
          <p:cNvSpPr/>
          <p:nvPr/>
        </p:nvSpPr>
        <p:spPr>
          <a:xfrm>
            <a:off x="457200" y="662548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11" name="Text 13"/>
          <p:cNvSpPr/>
          <p:nvPr/>
        </p:nvSpPr>
        <p:spPr>
          <a:xfrm>
            <a:off x="7787640" y="664137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Ipiranga · Relacionamento</a:t>
            </a:r>
            <a:endParaRPr lang="pt-BR" sz="85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400" noProof="0" dirty="0">
                <a:solidFill>
                  <a:srgbClr val="129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 ·  PARTE 3 DE 3</a:t>
            </a:r>
            <a:endParaRPr lang="pt-BR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Cruzado, Aderência e Oportunidades</a:t>
            </a:r>
            <a:endParaRPr lang="pt-BR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174170" y="1143000"/>
            <a:ext cx="11804469" cy="59436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174171" y="1143000"/>
            <a:ext cx="64008" cy="594360"/>
          </a:xfrm>
          <a:prstGeom prst="rect">
            <a:avLst/>
          </a:prstGeom>
          <a:solidFill>
            <a:srgbClr val="00B6CE"/>
          </a:solidFill>
          <a:ln w="12700">
            <a:solidFill>
              <a:srgbClr val="00B6C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0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é a contraparte com maior superfície de oportunidade.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N/SE é o trade que redesenha também a carteira Vibra. Goiânia como cedente ALE→IPP destravado pelo </a:t>
            </a:r>
            <a:r>
              <a:rPr lang="pt-BR" sz="11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SJRP fora da pauta de armazenagem.</a:t>
            </a:r>
            <a:endParaRPr lang="pt-BR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174171" y="1874520"/>
            <a:ext cx="3913632" cy="30053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174171" y="1874520"/>
            <a:ext cx="3913632" cy="438912"/>
          </a:xfrm>
          <a:prstGeom prst="rect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38763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→ IPP (contratos diretos)</a:t>
            </a:r>
            <a:endParaRPr lang="pt-BR" sz="750" noProof="0" dirty="0"/>
          </a:p>
        </p:txBody>
      </p:sp>
      <p:sp>
        <p:nvSpPr>
          <p:cNvPr id="11" name="Text 9"/>
          <p:cNvSpPr/>
          <p:nvPr/>
        </p:nvSpPr>
        <p:spPr>
          <a:xfrm>
            <a:off x="338763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interesse</a:t>
            </a:r>
            <a:endParaRPr lang="pt-B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4124379" y="1874520"/>
            <a:ext cx="3913632" cy="30053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4124379" y="1874520"/>
            <a:ext cx="3913632" cy="43891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288971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→ ALE</a:t>
            </a:r>
            <a:endParaRPr lang="pt-BR" sz="750" noProof="0" dirty="0"/>
          </a:p>
        </p:txBody>
      </p:sp>
      <p:sp>
        <p:nvSpPr>
          <p:cNvPr id="15" name="Text 13"/>
          <p:cNvSpPr/>
          <p:nvPr/>
        </p:nvSpPr>
        <p:spPr>
          <a:xfrm>
            <a:off x="4288971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deles</a:t>
            </a:r>
            <a:endParaRPr lang="pt-B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8074587" y="1874520"/>
            <a:ext cx="3913632" cy="30053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8074587" y="1874520"/>
            <a:ext cx="3913632" cy="438912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8239179" y="19293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PLANO ↔ IPP</a:t>
            </a:r>
            <a:endParaRPr lang="pt-BR" sz="750" noProof="0" dirty="0"/>
          </a:p>
        </p:txBody>
      </p:sp>
      <p:sp>
        <p:nvSpPr>
          <p:cNvPr id="19" name="Text 17"/>
          <p:cNvSpPr/>
          <p:nvPr/>
        </p:nvSpPr>
        <p:spPr>
          <a:xfrm>
            <a:off x="8239179" y="209397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</a:t>
            </a:r>
            <a:endParaRPr lang="pt-BR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338763" y="2441448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12499" y="233172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Belém + Cubatão + Betim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saída — maior trade único da carteira</a:t>
            </a:r>
            <a:endParaRPr lang="pt-B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338763" y="2889504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512499" y="277977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 (IPP)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SE à Vibra (~50% tarifa menor)</a:t>
            </a:r>
            <a:endParaRPr lang="pt-BR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338763" y="3337560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512499" y="322783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Paulínia (Pacote A)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entrega; formalizar continuidade</a:t>
            </a:r>
            <a:endParaRPr lang="pt-BR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338763" y="3785616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12499" y="367588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 GV + SCS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&gt;2× →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vol_min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sub-dimensionado</a:t>
            </a:r>
            <a:endParaRPr lang="pt-B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512499" y="4123944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não usado hoje; </a:t>
            </a:r>
            <a:r>
              <a:rPr lang="pt-BR" sz="85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Paulínia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288971" y="2441448"/>
            <a:ext cx="91440" cy="9144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4462707" y="2330414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Guarulhos como pool (SJRP)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formal — exige reciprocidade que ALE não topa</a:t>
            </a:r>
            <a:endParaRPr lang="pt-B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4288971" y="2971800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31"/>
          <p:cNvSpPr/>
          <p:nvPr/>
        </p:nvSpPr>
        <p:spPr>
          <a:xfrm>
            <a:off x="4462707" y="2860766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Belém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tickets da carteira IPP</a:t>
            </a:r>
            <a:endParaRPr lang="pt-BR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4288971" y="3502152"/>
            <a:ext cx="91440" cy="91440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5" name="Text 33"/>
          <p:cNvSpPr/>
          <p:nvPr/>
        </p:nvSpPr>
        <p:spPr>
          <a:xfrm>
            <a:off x="4462707" y="339111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Paulínia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Assinou contrato com a OPLA – interligação com Pool</a:t>
            </a:r>
            <a:endParaRPr lang="pt-BR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4288971" y="4032504"/>
            <a:ext cx="91440" cy="9144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Text 35"/>
          <p:cNvSpPr/>
          <p:nvPr/>
        </p:nvSpPr>
        <p:spPr>
          <a:xfrm>
            <a:off x="4462707" y="392147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 (histórico)</a:t>
            </a:r>
            <a:endParaRPr lang="pt-BR" sz="900" noProof="0" dirty="0"/>
          </a:p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demonstrou interesse em adquirir — frente alternativa</a:t>
            </a:r>
            <a:endParaRPr lang="pt-BR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8257467" y="238658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  </a:t>
            </a:r>
            <a:r>
              <a:rPr lang="pt-BR" sz="950" b="1" noProof="0" dirty="0">
                <a:solidFill>
                  <a:srgbClr val="00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</a:t>
            </a: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destrava se fechar</a:t>
            </a:r>
            <a:endParaRPr lang="pt-BR" sz="950" noProof="0" dirty="0"/>
          </a:p>
        </p:txBody>
      </p:sp>
      <p:sp>
        <p:nvSpPr>
          <p:cNvPr id="39" name="Text 37"/>
          <p:cNvSpPr/>
          <p:nvPr/>
        </p:nvSpPr>
        <p:spPr>
          <a:xfrm>
            <a:off x="8257467" y="279806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Cubatão/Paulínia  </a:t>
            </a:r>
            <a:r>
              <a:rPr lang="pt-BR" sz="950" b="1" noProof="0" dirty="0">
                <a:solidFill>
                  <a:srgbClr val="00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pt-BR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8257467" y="320954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 </a:t>
            </a:r>
            <a:r>
              <a:rPr lang="pt-BR" sz="950" b="1" noProof="0" dirty="0">
                <a:solidFill>
                  <a:srgbClr val="00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real à Vibra</a:t>
            </a:r>
            <a:endParaRPr lang="pt-BR" sz="950" noProof="0" dirty="0"/>
          </a:p>
        </p:txBody>
      </p:sp>
      <p:sp>
        <p:nvSpPr>
          <p:cNvPr id="41" name="Text 39"/>
          <p:cNvSpPr/>
          <p:nvPr/>
        </p:nvSpPr>
        <p:spPr>
          <a:xfrm>
            <a:off x="8257467" y="362102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M.Claros</a:t>
            </a: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950" b="1" noProof="0" dirty="0" err="1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GoVal</a:t>
            </a: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95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já existe; redimensionar</a:t>
            </a:r>
            <a:endParaRPr lang="pt-BR" sz="950" noProof="0" dirty="0"/>
          </a:p>
        </p:txBody>
      </p:sp>
      <p:sp>
        <p:nvSpPr>
          <p:cNvPr id="42" name="Text 40"/>
          <p:cNvSpPr/>
          <p:nvPr/>
        </p:nvSpPr>
        <p:spPr>
          <a:xfrm>
            <a:off x="8257467" y="403250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Itajaí/OPASC  </a:t>
            </a:r>
            <a:r>
              <a:rPr lang="pt-BR" sz="950" b="1" noProof="0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IPP+Raízen</a:t>
            </a: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estrangulado; mantém Stang</a:t>
            </a:r>
            <a:endParaRPr lang="pt-BR" sz="950" noProof="0" dirty="0"/>
          </a:p>
        </p:txBody>
      </p:sp>
      <p:sp>
        <p:nvSpPr>
          <p:cNvPr id="43" name="Text 41"/>
          <p:cNvSpPr/>
          <p:nvPr/>
        </p:nvSpPr>
        <p:spPr>
          <a:xfrm>
            <a:off x="8257467" y="4389120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SJRP  </a:t>
            </a:r>
            <a:r>
              <a:rPr lang="pt-BR" sz="950" b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Travado</a:t>
            </a:r>
            <a:endParaRPr lang="pt-BR" sz="950" noProof="0" dirty="0"/>
          </a:p>
          <a:p>
            <a:pPr marL="0" indent="0">
              <a:buNone/>
            </a:pPr>
            <a:r>
              <a:rPr lang="pt-BR" sz="85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pool — fora da armazenagem</a:t>
            </a:r>
            <a:endParaRPr lang="pt-BR" sz="950" noProof="0" dirty="0"/>
          </a:p>
        </p:txBody>
      </p:sp>
      <p:sp>
        <p:nvSpPr>
          <p:cNvPr id="44" name="Shape 42"/>
          <p:cNvSpPr/>
          <p:nvPr/>
        </p:nvSpPr>
        <p:spPr>
          <a:xfrm>
            <a:off x="174172" y="5070566"/>
            <a:ext cx="11814048" cy="219456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5" name="Text 43"/>
          <p:cNvSpPr/>
          <p:nvPr/>
        </p:nvSpPr>
        <p:spPr>
          <a:xfrm>
            <a:off x="457200" y="5107142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substituição de operadores + Duque de Caxias + Goiânia como cedente ALE→IPP</a:t>
            </a:r>
            <a:endParaRPr lang="pt-BR" sz="900" noProof="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93233"/>
              </p:ext>
            </p:extLst>
          </p:nvPr>
        </p:nvGraphicFramePr>
        <p:xfrm>
          <a:off x="174172" y="5344886"/>
          <a:ext cx="11814048" cy="883920"/>
        </p:xfrm>
        <a:graphic>
          <a:graphicData uri="http://schemas.openxmlformats.org/drawingml/2006/table">
            <a:tbl>
              <a:tblPr/>
              <a:tblGrid>
                <a:gridCol w="2030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4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/ Tema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tem base?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recomendada</a:t>
                      </a:r>
                      <a:endParaRPr lang="pt-BR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Duque de Caxias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própria ALE sem duto S10. Raízen supre hoje. IPP tem base em Caxias — pode assumir essa posição.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009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Negociar cessão de espaço S10 com IPP em Caxias como alternativa à Raízen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 — ALE cedente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em Senador Canedo (base própria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engargalada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). IPP já manifestou interesse em armazenar na ALE Goiânia. Projeta receita adicional para ALE.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</a:t>
                      </a:r>
                      <a:r>
                        <a:rPr lang="pt-BR" sz="850" b="1" noProof="0" dirty="0" err="1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S.Canedo</a:t>
                      </a:r>
                      <a:r>
                        <a:rPr lang="pt-BR" sz="850" b="1" noProof="0" dirty="0">
                          <a:solidFill>
                            <a:srgbClr val="F39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Condicionado ao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(expansão cap. ALE Goiânia). Aprovação </a:t>
                      </a:r>
                      <a:r>
                        <a:rPr lang="pt-BR" sz="85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</a:t>
                      </a:r>
                      <a:r>
                        <a:rPr lang="pt-BR" sz="85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abre receita IPP→ALE.</a:t>
                      </a:r>
                      <a:endParaRPr lang="pt-BR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457200" y="6332438"/>
            <a:ext cx="11247120" cy="0"/>
          </a:xfrm>
          <a:prstGeom prst="line">
            <a:avLst/>
          </a:prstGeom>
          <a:noFill/>
          <a:ln w="635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8" name="Text 45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Combustíveis · Diretoria Estratégica · Maio/2026</a:t>
            </a:r>
            <a:endParaRPr lang="pt-BR" sz="850" noProof="0" dirty="0"/>
          </a:p>
        </p:txBody>
      </p:sp>
      <p:sp>
        <p:nvSpPr>
          <p:cNvPr id="49" name="Text 46"/>
          <p:cNvSpPr/>
          <p:nvPr/>
        </p:nvSpPr>
        <p:spPr>
          <a:xfrm>
            <a:off x="7772400" y="6647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5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Ipiranga · Interesse Cruzado</a:t>
            </a:r>
            <a:endParaRPr lang="pt-BR" sz="850" noProof="0" dirty="0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AE4B97D2-5645-5489-38D6-40B9B1B07532}"/>
              </a:ext>
            </a:extLst>
          </p:cNvPr>
          <p:cNvSpPr/>
          <p:nvPr/>
        </p:nvSpPr>
        <p:spPr>
          <a:xfrm>
            <a:off x="338763" y="4267200"/>
            <a:ext cx="91440" cy="91440"/>
          </a:xfrm>
          <a:prstGeom prst="ellipse">
            <a:avLst/>
          </a:prstGeom>
          <a:solidFill>
            <a:srgbClr val="1291D2"/>
          </a:solidFill>
          <a:ln w="12700">
            <a:solidFill>
              <a:srgbClr val="1291D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18380C67-B251-9562-C805-7D0E96973221}"/>
              </a:ext>
            </a:extLst>
          </p:cNvPr>
          <p:cNvSpPr/>
          <p:nvPr/>
        </p:nvSpPr>
        <p:spPr>
          <a:xfrm>
            <a:off x="-12447" y="-7074"/>
            <a:ext cx="12191144" cy="630095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55A7"/>
          </a:solidFill>
        </p:spPr>
        <p:txBody>
          <a:bodyPr wrap="square" lIns="0" tIns="0" rIns="0" bIns="0" rtlCol="0"/>
          <a:lstStyle/>
          <a:p>
            <a:endParaRPr lang="pt-BR" sz="849" noProof="0" dirty="0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B4FB8DD4-BEF7-339B-D473-F4E1D5B98BAC}"/>
              </a:ext>
            </a:extLst>
          </p:cNvPr>
          <p:cNvPicPr/>
          <p:nvPr/>
        </p:nvPicPr>
        <p:blipFill>
          <a:blip r:embed="rId2" cstate="print"/>
          <a:srcRect t="86927"/>
          <a:stretch>
            <a:fillRect/>
          </a:stretch>
        </p:blipFill>
        <p:spPr>
          <a:xfrm>
            <a:off x="428" y="5785596"/>
            <a:ext cx="12191144" cy="870117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82912EDC-811E-5D2E-7BA7-68BA7C734519}"/>
              </a:ext>
            </a:extLst>
          </p:cNvPr>
          <p:cNvSpPr txBox="1">
            <a:spLocks/>
          </p:cNvSpPr>
          <p:nvPr/>
        </p:nvSpPr>
        <p:spPr>
          <a:xfrm>
            <a:off x="4409416" y="2184282"/>
            <a:ext cx="4297320" cy="9405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spcBef>
                <a:spcPts val="57"/>
              </a:spcBef>
            </a:pPr>
            <a:r>
              <a:rPr lang="pt-BR" sz="6064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C9A2BED-9798-7F38-CA4E-06A015851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471" y="4595581"/>
            <a:ext cx="2541060" cy="66080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6FB72C1-D8CE-F08D-AB5F-0FBC381AE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16702" b="91327"/>
          <a:stretch>
            <a:fillRect/>
          </a:stretch>
        </p:blipFill>
        <p:spPr>
          <a:xfrm rot="10800000">
            <a:off x="428" y="-7073"/>
            <a:ext cx="3489920" cy="731509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25C5B41-6DE6-2244-1B6D-1848003CB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1" r="-508" b="91327"/>
          <a:stretch>
            <a:fillRect/>
          </a:stretch>
        </p:blipFill>
        <p:spPr>
          <a:xfrm rot="10800000">
            <a:off x="2907664" y="-7073"/>
            <a:ext cx="4210945" cy="73150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1EF0BBD-C62F-070D-22D8-0C282E07B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1" r="-508" b="91328"/>
          <a:stretch>
            <a:fillRect/>
          </a:stretch>
        </p:blipFill>
        <p:spPr>
          <a:xfrm rot="10800000">
            <a:off x="6558077" y="-7073"/>
            <a:ext cx="4210945" cy="73150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1922F5FF-EB19-B82B-8AAD-CA697D316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647" t="1" r="-508" b="91327"/>
          <a:stretch>
            <a:fillRect/>
          </a:stretch>
        </p:blipFill>
        <p:spPr>
          <a:xfrm rot="10800000">
            <a:off x="10186337" y="2"/>
            <a:ext cx="2005236" cy="73150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5D807EC-C54C-3455-B4FD-5B9397D09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-75383" y="5242131"/>
            <a:ext cx="4178811" cy="942707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DA4D802-6707-A362-D5D9-159C841DD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88720"/>
          <a:stretch>
            <a:fillRect/>
          </a:stretch>
        </p:blipFill>
        <p:spPr>
          <a:xfrm flipH="1">
            <a:off x="7683208" y="5242131"/>
            <a:ext cx="4178811" cy="942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11879</Words>
  <Application>Microsoft Office PowerPoint</Application>
  <PresentationFormat>Widescreen</PresentationFormat>
  <Paragraphs>2388</Paragraphs>
  <Slides>54</Slides>
  <Notes>49</Notes>
  <HiddenSlides>14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Carlito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Mendes, Rodrigo (Sao Paulo - BR)</dc:creator>
  <cp:lastModifiedBy>Mendes, Rodrigo (Sao Paulo - BR)</cp:lastModifiedBy>
  <cp:revision>18</cp:revision>
  <dcterms:created xsi:type="dcterms:W3CDTF">2026-06-03T22:41:16Z</dcterms:created>
  <dcterms:modified xsi:type="dcterms:W3CDTF">2026-06-05T11:39:53Z</dcterms:modified>
</cp:coreProperties>
</file>