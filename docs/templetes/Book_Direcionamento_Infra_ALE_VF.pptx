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9E5C"/>
    <a:srgbClr val="F7F7F7"/>
    <a:srgbClr val="E68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970" y="-52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6858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858000"/>
            <a:ext cx="7560000" cy="5486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300" noProof="0" dirty="0">
                <a:solidFill>
                  <a:srgbClr val="3B95D3"/>
                </a:solidFill>
                <a:latin typeface="Calibri"/>
              </a:rPr>
              <a:t>ALE COMBUSTÍVEIS · DSTL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0" i="1" noProof="0" dirty="0">
                <a:solidFill>
                  <a:srgbClr val="C8D8EC"/>
                </a:solidFill>
                <a:latin typeface="Calibri"/>
              </a:rPr>
              <a:t>Book de Direcionamento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200" b="1" i="0" noProof="0" dirty="0">
                <a:solidFill>
                  <a:srgbClr val="FFFFFF"/>
                </a:solidFill>
                <a:latin typeface="Calibri"/>
              </a:rPr>
              <a:t>Plano Diretor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200" b="1" i="0" noProof="0" dirty="0">
                <a:solidFill>
                  <a:srgbClr val="FFFFFF"/>
                </a:solidFill>
                <a:latin typeface="Calibri"/>
              </a:rPr>
              <a:t>de Infraestrutura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1371600" cy="45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54864" cy="137160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FFFFFF"/>
                </a:solidFill>
                <a:latin typeface="Calibri"/>
              </a:rPr>
              <a:t>Novos Negócios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FFFFFF"/>
                </a:solidFill>
                <a:latin typeface="Calibri"/>
              </a:rPr>
              <a:t>Novas Ideias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FFFFFF"/>
                </a:solidFill>
                <a:latin typeface="Calibri"/>
              </a:rPr>
              <a:t>Coragem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1" noProof="0" dirty="0">
                <a:solidFill>
                  <a:srgbClr val="C8D8EC"/>
                </a:solidFill>
                <a:latin typeface="Calibri"/>
              </a:rPr>
              <a:t>Novos negócios para impulsionar.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5332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1" noProof="0" dirty="0">
                <a:solidFill>
                  <a:srgbClr val="C8D8EC"/>
                </a:solidFill>
                <a:latin typeface="Calibri"/>
              </a:rPr>
              <a:t>Novas ideias para crescer.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1" noProof="0" dirty="0">
                <a:solidFill>
                  <a:srgbClr val="C8D8EC"/>
                </a:solidFill>
                <a:latin typeface="Calibri"/>
              </a:rPr>
              <a:t>Coragem para rentabilizar.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882396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200" b="1" i="0" spc="400" noProof="0" dirty="0">
                <a:solidFill>
                  <a:srgbClr val="1B5894"/>
                </a:solidFill>
                <a:latin typeface="Calibri"/>
              </a:rPr>
              <a:t>I N F R A E S T R U T U R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9509760"/>
            <a:ext cx="6828480" cy="54864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65760" y="9646920"/>
            <a:ext cx="6828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0" noProof="0" dirty="0">
                <a:solidFill>
                  <a:srgbClr val="6B6B6B"/>
                </a:solidFill>
                <a:latin typeface="Calibri"/>
              </a:rPr>
              <a:t>Maio / 2026  ·  Confidencial  · CEO + Diretoria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10012680"/>
            <a:ext cx="6828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DSTL</a:t>
            </a:r>
          </a:p>
        </p:txBody>
      </p:sp>
      <p:pic>
        <p:nvPicPr>
          <p:cNvPr id="22" name="Picture 25">
            <a:extLst>
              <a:ext uri="{FF2B5EF4-FFF2-40B4-BE49-F238E27FC236}">
                <a16:creationId xmlns:a16="http://schemas.microsoft.com/office/drawing/2014/main" id="{3DF5EBC1-A85F-8B9D-0F36-92EA284B8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91" y="7845552"/>
            <a:ext cx="2985011" cy="807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C O M O   L E R   E S T E   B O </a:t>
            </a:r>
            <a:r>
              <a:rPr lang="pt-BR" sz="850" b="1" i="0" spc="200" noProof="0" dirty="0" err="1">
                <a:solidFill>
                  <a:srgbClr val="E61E2D"/>
                </a:solidFill>
                <a:latin typeface="Calibri"/>
              </a:rPr>
              <a:t>O</a:t>
            </a:r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Cinco blocos · quarenta e oito páginas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Plano Diretor de Infraestrutura · estrutura do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book percorre cinco blocos: a régua comercial que orienta a tese (Bloco 1), o diagnóstico da malha atual (Bloco 2), os três pilares com 30 frentes em execução, maturação ou análise (Bloco 3), o pipeline contínuo de locais não rentáveis com síntese e capital integrado (Bloco 4), e a visão consolidada da malha em 2030 com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roadmap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de decisões (Bloco 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1B589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3A5F"/>
                </a:solidFill>
                <a:latin typeface="Calibri"/>
              </a:rPr>
              <a:t>Plano de Expansão como régua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A régua comercial. Onde a ALE cresce, onde defende, onde sai.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4080" y="31546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1" i="0" noProof="0" dirty="0" err="1">
                <a:solidFill>
                  <a:srgbClr val="3B95D3"/>
                </a:solidFill>
                <a:latin typeface="Calibri"/>
              </a:rPr>
              <a:t>págs</a:t>
            </a:r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 3-5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6828480" cy="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1B589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06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3A5F"/>
                </a:solidFill>
                <a:latin typeface="Calibri"/>
              </a:rPr>
              <a:t>Diagnóstico da malha 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72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42 terminais · 13 cedentes · 64% utilização contratada · tipologia de gargalo · matriz de urgência.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4080" y="4343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1" i="0" noProof="0" dirty="0" err="1">
                <a:solidFill>
                  <a:srgbClr val="3B95D3"/>
                </a:solidFill>
                <a:latin typeface="Calibri"/>
              </a:rPr>
              <a:t>págs</a:t>
            </a:r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 6-8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6828480" cy="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1B589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94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3A5F"/>
                </a:solidFill>
                <a:latin typeface="Calibri"/>
              </a:rPr>
              <a:t>Os 3 pilares — corpo do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60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Novos Negócios (3A · 9 frentes) · Novas Ideias (3B · 13 frentes) · Coragem (3C · pipeline aberto).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4080" y="55321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1" i="0" noProof="0" dirty="0" err="1">
                <a:solidFill>
                  <a:srgbClr val="3B95D3"/>
                </a:solidFill>
                <a:latin typeface="Calibri"/>
              </a:rPr>
              <a:t>págs</a:t>
            </a:r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 9-40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09360"/>
            <a:ext cx="6828480" cy="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1B589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583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3A5F"/>
                </a:solidFill>
                <a:latin typeface="Calibri"/>
              </a:rPr>
              <a:t>Pipeline, Monitoramento e Síntese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6949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Pipeline de locais não rentáveis · monitoramento estratégico · síntese · capital integrado · marcos.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4080" y="6720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1" i="0" noProof="0" dirty="0" err="1">
                <a:solidFill>
                  <a:srgbClr val="3B95D3"/>
                </a:solidFill>
                <a:latin typeface="Calibri"/>
              </a:rPr>
              <a:t>págs</a:t>
            </a:r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 41-45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7498080"/>
            <a:ext cx="6828480" cy="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365760" y="768096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1B5894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7772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3A5F"/>
                </a:solidFill>
                <a:latin typeface="Calibri"/>
              </a:rPr>
              <a:t>Visão 2030 e </a:t>
            </a:r>
            <a:r>
              <a:rPr lang="pt-BR" sz="1400" b="1" i="0" noProof="0" dirty="0" err="1">
                <a:solidFill>
                  <a:srgbClr val="1B3A5F"/>
                </a:solidFill>
                <a:latin typeface="Calibri"/>
              </a:rPr>
              <a:t>Roadmap</a:t>
            </a:r>
            <a:endParaRPr lang="pt-BR" sz="14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63040" y="8138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A ALE consolidada em 2030 · </a:t>
            </a:r>
            <a:r>
              <a:rPr lang="pt-BR" sz="1000" b="0" i="1" noProof="0" dirty="0" err="1">
                <a:solidFill>
                  <a:srgbClr val="6B6B6B"/>
                </a:solidFill>
                <a:latin typeface="Calibri"/>
              </a:rPr>
              <a:t>roadmap</a:t>
            </a:r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 de decisões por trimestre · encerramento.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4080" y="79095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1000" b="1" i="0" noProof="0" dirty="0" err="1">
                <a:solidFill>
                  <a:srgbClr val="3B95D3"/>
                </a:solidFill>
                <a:latin typeface="Calibri"/>
              </a:rPr>
              <a:t>págs</a:t>
            </a:r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 46-48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8686800"/>
            <a:ext cx="6828480" cy="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365760" y="94183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CONVENÇÃO DE STATUS — TAGS UTILIZADAS NO BOOK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971092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ounded Rectangle 35"/>
          <p:cNvSpPr/>
          <p:nvPr/>
        </p:nvSpPr>
        <p:spPr>
          <a:xfrm>
            <a:off x="365760" y="985723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10177272"/>
            <a:ext cx="156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frente que avançou materialmente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72880" y="985723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2880" y="10177272"/>
            <a:ext cx="156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surgiu no período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80000" y="985723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HOLDING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0000" y="10177272"/>
            <a:ext cx="156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preservada · sem ação ofensiva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7120" y="985723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7120" y="10177272"/>
            <a:ext cx="156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viabilidade em estudo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Índice  ·  página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46" name="Picture 25">
            <a:extLst>
              <a:ext uri="{FF2B5EF4-FFF2-40B4-BE49-F238E27FC236}">
                <a16:creationId xmlns:a16="http://schemas.microsoft.com/office/drawing/2014/main" id="{AFED29A7-4F19-6AAD-58CF-143DF6F0A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1   ·   P L A N O   D E   </a:t>
            </a:r>
            <a:r>
              <a:rPr lang="pt-BR" sz="850" b="1" i="0" spc="200" noProof="0" dirty="0" err="1">
                <a:solidFill>
                  <a:srgbClr val="E61E2D"/>
                </a:solidFill>
                <a:latin typeface="Calibri"/>
              </a:rPr>
              <a:t>E</a:t>
            </a:r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 X P A N S Ã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A régua — onde a ALE deve crescer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4191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O Plano Comercial 2026 define onde infraestrutura é investimento, defesa, ou desinvestimento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435" y="955548"/>
            <a:ext cx="6828480" cy="75438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11480" y="973836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161457"/>
            <a:ext cx="6554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Antes de qualquer decisão de infraestrutura, a régua é comercial. Este book responde a essa régua — cada projeto se justifica contra uma categoria do Plano de Expansão. Infraestrutura sem ambição comercial é custo; ambição comercial sem infraestrutura é promessa.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91544"/>
            <a:ext cx="3345660" cy="2194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365760" y="1791544"/>
            <a:ext cx="3345660" cy="3657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1791544"/>
            <a:ext cx="33456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POSTOS DE COMBUSTÍVEIS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94464"/>
            <a:ext cx="33456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noProof="0" dirty="0">
                <a:solidFill>
                  <a:srgbClr val="1B3A5F"/>
                </a:solidFill>
                <a:latin typeface="Calibri"/>
              </a:rPr>
              <a:t>8.621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43104"/>
            <a:ext cx="33456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6B6B6B"/>
                </a:solidFill>
                <a:latin typeface="Calibri"/>
              </a:rPr>
              <a:t>Postos no mercado-alvo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17424"/>
            <a:ext cx="33456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61E2D"/>
                </a:solidFill>
                <a:latin typeface="Calibri"/>
              </a:rPr>
              <a:t>1.683 MM L/ano  ·  R$ 134,00/m³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83184"/>
            <a:ext cx="297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Potencial de volume · margem média de mercado no segmento varejo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8580" y="1791544"/>
            <a:ext cx="3345660" cy="2194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848580" y="1791544"/>
            <a:ext cx="3345660" cy="3657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031460" y="1791544"/>
            <a:ext cx="33456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B2B (COF)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1460" y="2294464"/>
            <a:ext cx="33456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noProof="0" dirty="0">
                <a:solidFill>
                  <a:srgbClr val="1B3A5F"/>
                </a:solidFill>
                <a:latin typeface="Calibri"/>
              </a:rPr>
              <a:t>1.753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1460" y="2843104"/>
            <a:ext cx="33456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6B6B6B"/>
                </a:solidFill>
                <a:latin typeface="Calibri"/>
              </a:rPr>
              <a:t>Clientes no mercado-alvo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1460" y="3117424"/>
            <a:ext cx="33456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61E2D"/>
                </a:solidFill>
                <a:latin typeface="Calibri"/>
              </a:rPr>
              <a:t>391 MM L/ano  ·  R$ 55,00/m³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483184"/>
            <a:ext cx="297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Potencial de volume · margem média de mercado no segmento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94027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CATEGORIAS DO PLANO DE EXPANSÃO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7499437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Rectangle 24"/>
          <p:cNvSpPr/>
          <p:nvPr/>
        </p:nvSpPr>
        <p:spPr>
          <a:xfrm>
            <a:off x="365760" y="7545495"/>
            <a:ext cx="640080" cy="5943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365760" y="7545495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7545495"/>
            <a:ext cx="6188400" cy="5943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1143000" y="7591215"/>
            <a:ext cx="591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Regiões Prioritárias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838103"/>
            <a:ext cx="591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Alto potencial de volume + excelente participação ou rentabilidade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8203863"/>
            <a:ext cx="640080" cy="5943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365760" y="8203863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8203863"/>
            <a:ext cx="6188400" cy="5943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9583"/>
            <a:ext cx="591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Defesa de </a:t>
            </a:r>
            <a:r>
              <a:rPr lang="pt-BR" sz="1100" b="1" i="0" noProof="0" dirty="0" err="1">
                <a:solidFill>
                  <a:srgbClr val="1B3A5F"/>
                </a:solidFill>
                <a:latin typeface="Calibri"/>
              </a:rPr>
              <a:t>Share</a:t>
            </a:r>
            <a:endParaRPr lang="pt-BR" sz="11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43000" y="8496471"/>
            <a:ext cx="591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Baixo foco de crescimento no médio prazo · manter participação atual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8862231"/>
            <a:ext cx="640080" cy="59436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365760" y="8862231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8862231"/>
            <a:ext cx="6188400" cy="5943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1143000" y="8907951"/>
            <a:ext cx="591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Expansão Seletiva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9154839"/>
            <a:ext cx="591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Alto potencial de volume + participação ou rentabilidade moderada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9520599"/>
            <a:ext cx="640080" cy="5943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365760" y="9520599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9520599"/>
            <a:ext cx="6188400" cy="5943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1143000" y="9566319"/>
            <a:ext cx="591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Sem foco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9813207"/>
            <a:ext cx="591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Regiões não avaliadas neste plano ou sem bases ALE operacionais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1014476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Nota: Bahia é a única UF identificada exclusivamente em B2B — sem designação prioritária para postos REDE.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1 · A régua  ·  página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48" name="Picture 25">
            <a:extLst>
              <a:ext uri="{FF2B5EF4-FFF2-40B4-BE49-F238E27FC236}">
                <a16:creationId xmlns:a16="http://schemas.microsoft.com/office/drawing/2014/main" id="{B1E228F2-B44A-BF35-83D2-8C21407CF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C6129C15-3125-844D-6C86-C9AB94C308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55" r="100000">
                        <a14:foregroundMark x1="12947" y1="44737" x2="20297" y2="46805"/>
                        <a14:foregroundMark x1="20297" y1="46805" x2="34053" y2="63910"/>
                        <a14:foregroundMark x1="34053" y1="63910" x2="32839" y2="42669"/>
                        <a14:foregroundMark x1="32839" y1="42669" x2="24680" y2="33459"/>
                        <a14:foregroundMark x1="22320" y1="30827" x2="21915" y2="31015"/>
                        <a14:foregroundMark x1="21645" y1="20301" x2="16183" y2="38910"/>
                        <a14:foregroundMark x1="17802" y1="22932" x2="12812" y2="40977"/>
                        <a14:foregroundMark x1="16521" y1="24624" x2="23264" y2="17293"/>
                        <a14:foregroundMark x1="23264" y1="17293" x2="28591" y2="17105"/>
                        <a14:foregroundMark x1="28591" y1="17105" x2="31895" y2="28759"/>
                        <a14:foregroundMark x1="31895" y1="28759" x2="37626" y2="37782"/>
                        <a14:foregroundMark x1="37626" y1="37782" x2="36952" y2="23120"/>
                        <a14:foregroundMark x1="36952" y1="23120" x2="29737" y2="5639"/>
                        <a14:foregroundMark x1="29737" y1="5639" x2="14498" y2="3195"/>
                        <a14:foregroundMark x1="14498" y1="3195" x2="9238" y2="5263"/>
                        <a14:foregroundMark x1="9238" y1="5263" x2="6541" y2="21429"/>
                        <a14:foregroundMark x1="6541" y1="21429" x2="13688" y2="41353"/>
                        <a14:foregroundMark x1="13688" y1="41353" x2="19488" y2="45113"/>
                        <a14:foregroundMark x1="21915" y1="66541" x2="27242" y2="63534"/>
                        <a14:foregroundMark x1="27242" y1="63534" x2="30411" y2="75940"/>
                        <a14:foregroundMark x1="30411" y1="75940" x2="22185" y2="92293"/>
                        <a14:foregroundMark x1="22185" y1="92293" x2="12407" y2="81579"/>
                        <a14:foregroundMark x1="12407" y1="81579" x2="9845" y2="93797"/>
                        <a14:foregroundMark x1="9845" y1="93797" x2="2090" y2="95865"/>
                        <a14:foregroundMark x1="2090" y1="95865" x2="9373" y2="64662"/>
                        <a14:foregroundMark x1="9373" y1="64662" x2="25624" y2="68421"/>
                        <a14:foregroundMark x1="12272" y1="96617" x2="11800" y2="99812"/>
                        <a14:foregroundMark x1="11598" y1="96805" x2="13419" y2="99812"/>
                        <a14:foregroundMark x1="11598" y1="96805" x2="11396" y2="97556"/>
                        <a14:foregroundMark x1="7755" y1="94549" x2="2765" y2="99812"/>
                        <a14:foregroundMark x1="12407" y1="94361" x2="18341" y2="99812"/>
                        <a14:foregroundMark x1="12407" y1="94361" x2="7283" y2="94737"/>
                        <a14:foregroundMark x1="4788" y1="15602" x2="0" y2="44173"/>
                        <a14:foregroundMark x1="4855" y1="15602" x2="9440" y2="3571"/>
                        <a14:foregroundMark x1="9440" y1="3571" x2="20364" y2="1692"/>
                        <a14:foregroundMark x1="20364" y1="1692" x2="28658" y2="3195"/>
                        <a14:foregroundMark x1="28658" y1="3195" x2="51382" y2="940"/>
                        <a14:foregroundMark x1="51382" y1="940" x2="61767" y2="2068"/>
                        <a14:foregroundMark x1="61767" y1="2068" x2="67229" y2="1880"/>
                        <a14:foregroundMark x1="67229" y1="1880" x2="73702" y2="4511"/>
                        <a14:foregroundMark x1="73702" y1="4511" x2="98045" y2="50940"/>
                        <a14:foregroundMark x1="98045" y1="50940" x2="99933" y2="57331"/>
                        <a14:foregroundMark x1="46527" y1="69361" x2="48618" y2="73684"/>
                        <a14:foregroundMark x1="15779" y1="73496" x2="2967" y2="71805"/>
                        <a14:foregroundMark x1="2967" y1="71805" x2="12475" y2="78383"/>
                        <a14:foregroundMark x1="12475" y1="78383" x2="15846" y2="73684"/>
                        <a14:foregroundMark x1="39919" y1="37406" x2="35941" y2="40602"/>
                        <a14:foregroundMark x1="35941" y1="40602" x2="41133" y2="45113"/>
                        <a14:foregroundMark x1="41133" y1="45113" x2="39649" y2="36278"/>
                        <a14:foregroundMark x1="37761" y1="38158" x2="30276" y2="31767"/>
                        <a14:foregroundMark x1="30276" y1="31767" x2="27377" y2="49060"/>
                        <a14:foregroundMark x1="27377" y1="49060" x2="29467" y2="63534"/>
                        <a14:foregroundMark x1="29467" y1="63534" x2="35941" y2="64286"/>
                        <a14:foregroundMark x1="35941" y1="64286" x2="38436" y2="42857"/>
                        <a14:foregroundMark x1="38436" y1="42857" x2="36615" y2="31955"/>
                        <a14:foregroundMark x1="36615" y1="31955" x2="36615" y2="31955"/>
                        <a14:foregroundMark x1="35131" y1="37970" x2="35334" y2="53759"/>
                        <a14:foregroundMark x1="35334" y1="53759" x2="35941" y2="56579"/>
                        <a14:foregroundMark x1="30614" y1="46617" x2="33311" y2="54887"/>
                        <a14:foregroundMark x1="35401" y1="99248" x2="38638" y2="99812"/>
                        <a14:foregroundMark x1="35334" y1="99248" x2="34929" y2="99812"/>
                        <a14:foregroundMark x1="37222" y1="63910" x2="26433" y2="99812"/>
                        <a14:foregroundMark x1="37289" y1="63910" x2="44774" y2="3759"/>
                        <a14:foregroundMark x1="49899" y1="0" x2="44774" y2="3571"/>
                        <a14:foregroundMark x1="51382" y1="0" x2="68914" y2="13158"/>
                        <a14:foregroundMark x1="68982" y1="13346" x2="80445" y2="32895"/>
                        <a14:foregroundMark x1="80445" y1="32895" x2="84019" y2="46429"/>
                        <a14:foregroundMark x1="84019" y1="46429" x2="97235" y2="52444"/>
                        <a14:foregroundMark x1="97235" y1="52444" x2="99933" y2="63534"/>
                        <a14:foregroundMark x1="99933" y1="65602" x2="91301" y2="84023"/>
                        <a14:foregroundMark x1="91301" y1="84211" x2="72286" y2="85902"/>
                        <a14:foregroundMark x1="72218" y1="85902" x2="67498" y2="99812"/>
                        <a14:foregroundMark x1="61117" y1="18263" x2="58647" y2="44311"/>
                        <a14:foregroundMark x1="58647" y1="44311" x2="54672" y2="47006"/>
                        <a14:foregroundMark x1="58110" y1="8683" x2="49946" y2="20359"/>
                        <a14:foregroundMark x1="49946" y1="20359" x2="44253" y2="52695"/>
                        <a14:foregroundMark x1="44253" y1="52695" x2="46079" y2="70659"/>
                        <a14:foregroundMark x1="46079" y1="70659" x2="45972" y2="75749"/>
                        <a14:foregroundMark x1="42857" y1="67066" x2="50161" y2="94012"/>
                        <a14:foregroundMark x1="50161" y1="94012" x2="62299" y2="89820"/>
                        <a14:foregroundMark x1="62299" y1="89820" x2="60473" y2="64970"/>
                        <a14:foregroundMark x1="60473" y1="64970" x2="47261" y2="64970"/>
                        <a14:foregroundMark x1="47261" y1="64970" x2="45220" y2="68862"/>
                        <a14:foregroundMark x1="54243" y1="73353" x2="60580" y2="70958"/>
                        <a14:foregroundMark x1="74221" y1="84132" x2="69817" y2="93413"/>
                        <a14:foregroundMark x1="69817" y1="93413" x2="67777" y2="94012"/>
                        <a14:foregroundMark x1="73899" y1="87425" x2="67669" y2="95210"/>
                        <a14:foregroundMark x1="67669" y1="95210" x2="67562" y2="94910"/>
                        <a14:foregroundMark x1="73362" y1="88323" x2="68743" y2="98503"/>
                        <a14:foregroundMark x1="73040" y1="6287" x2="65199" y2="7186"/>
                        <a14:foregroundMark x1="65199" y1="7186" x2="70569" y2="5689"/>
                        <a14:foregroundMark x1="70569" y1="5689" x2="65736" y2="7186"/>
                        <a14:foregroundMark x1="85070" y1="59281" x2="83566" y2="79641"/>
                        <a14:foregroundMark x1="83566" y1="79641" x2="93018" y2="73952"/>
                        <a14:foregroundMark x1="93018" y1="73952" x2="95489" y2="67066"/>
                        <a14:foregroundMark x1="98389" y1="64371" x2="88507" y2="69760"/>
                        <a14:foregroundMark x1="88507" y1="69760" x2="88937" y2="73054"/>
                        <a14:backgroundMark x1="90627" y1="1880" x2="91234" y2="16917"/>
                        <a14:backgroundMark x1="91234" y1="16917" x2="93931" y2="29699"/>
                        <a14:backgroundMark x1="93931" y1="29699" x2="98989" y2="21805"/>
                        <a14:backgroundMark x1="99933" y1="9586" x2="98989" y2="21617"/>
                        <a14:backgroundMark x1="88739" y1="188" x2="99933" y2="1504"/>
                        <a14:backgroundMark x1="88739" y1="188" x2="90627" y2="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875" y="4015907"/>
            <a:ext cx="7467600" cy="2682702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E6F41973-1949-D696-BE04-9D458BD8EE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6923" l="2347" r="100000">
                        <a14:foregroundMark x1="18026" y1="0" x2="13595" y2="59333"/>
                        <a14:foregroundMark x1="13595" y1="60000" x2="21349" y2="56667"/>
                        <a14:foregroundMark x1="21349" y1="56667" x2="23464" y2="9333"/>
                        <a14:foregroundMark x1="21148" y1="0" x2="23364" y2="8667"/>
                        <a14:foregroundMark x1="3927" y1="0" x2="101" y2="8667"/>
                        <a14:foregroundMark x1="101" y1="9333" x2="1410" y2="75333"/>
                        <a14:foregroundMark x1="1410" y1="75333" x2="16918" y2="92000"/>
                        <a14:foregroundMark x1="16918" y1="92000" x2="32830" y2="79333"/>
                        <a14:foregroundMark x1="32830" y1="79333" x2="30715" y2="4000"/>
                        <a14:foregroundMark x1="28902" y1="0" x2="30614" y2="3333"/>
                        <a14:foregroundMark x1="80363" y1="73333" x2="99899" y2="79333"/>
                        <a14:foregroundMark x1="80363" y1="73333" x2="73817" y2="91333"/>
                        <a14:foregroundMark x1="73817" y1="91333" x2="6949" y2="96000"/>
                        <a14:foregroundMark x1="0" y1="70000" x2="6848" y2="95333"/>
                        <a14:foregroundMark x1="0" y1="69333" x2="0" y2="69333"/>
                        <a14:foregroundMark x1="63243" y1="0" x2="98892" y2="14000"/>
                        <a14:foregroundMark x1="52064" y1="0" x2="45821" y2="16667"/>
                        <a14:foregroundMark x1="45821" y1="17333" x2="38872" y2="7333"/>
                        <a14:foregroundMark x1="39778" y1="0" x2="38872" y2="6667"/>
                        <a14:foregroundMark x1="99899" y1="8667" x2="97583" y2="24000"/>
                        <a14:foregroundMark x1="97583" y1="24667" x2="96576" y2="25333"/>
                        <a14:foregroundMark x1="4695" y1="10769" x2="3521" y2="70769"/>
                        <a14:foregroundMark x1="5869" y1="4615" x2="2347" y2="1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29228" y="6614443"/>
            <a:ext cx="4857703" cy="757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1   ·   P L A N O   D E   </a:t>
            </a:r>
            <a:r>
              <a:rPr lang="pt-BR" sz="850" b="1" i="0" spc="200" noProof="0" dirty="0" err="1">
                <a:solidFill>
                  <a:srgbClr val="E61E2D"/>
                </a:solidFill>
                <a:latin typeface="Calibri"/>
              </a:rPr>
              <a:t>E</a:t>
            </a:r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 X P A N S Ã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O que mudou de 2024 para 2026 — três movimentos estratégicos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Reclassificações refletem trajetória do NE, ajustes em Sul/CO e formalização dos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phase-outs</a:t>
            </a:r>
            <a:endParaRPr lang="pt-BR" sz="1050" b="0" i="1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14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Plano Comercial 2026 reorganizou a régua em três movimentos: NE promovido (CE, PB e PE entram como Prioritárias), Sul/CO ajustados para Seletiva ou Defesa, e quatro praças formalizadas como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-out. Cada movimento puxa uma decisão de infraestrutura nos pilares do Bloco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1828800" cy="2331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spc="300" noProof="0" dirty="0">
                <a:solidFill>
                  <a:srgbClr val="FFFFFF"/>
                </a:solidFill>
                <a:latin typeface="Calibri"/>
              </a:rPr>
              <a:t>SUBIRAM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praças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697480"/>
            <a:ext cx="4999680" cy="2331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377440" y="2807208"/>
            <a:ext cx="463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1B5894"/>
                </a:solidFill>
                <a:latin typeface="Calibri"/>
              </a:rPr>
              <a:t>Promovidas a Prioritárias — trajetória de crescimento do 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081528"/>
            <a:ext cx="365760" cy="237744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2377440" y="308152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063240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Ceará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337560"/>
            <a:ext cx="365760" cy="237744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2377440" y="3337560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319272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Paraíba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593592"/>
            <a:ext cx="365760" cy="237744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2377440" y="359359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3575304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Pernambuco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434840"/>
            <a:ext cx="4633920" cy="800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2377440" y="4507992"/>
            <a:ext cx="463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Puxa decisões: Pecém (</a:t>
            </a:r>
            <a:r>
              <a:rPr lang="pt-BR" sz="900" b="1" i="1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 CE), Cabedelo, Suape (renovação Ultracargo).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1828800" cy="2331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02920" y="5303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spc="300" noProof="0" dirty="0">
                <a:solidFill>
                  <a:srgbClr val="FFFFFF"/>
                </a:solidFill>
                <a:latin typeface="Calibri"/>
              </a:rPr>
              <a:t>AJUSTARAM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150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praças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5120640"/>
            <a:ext cx="4999680" cy="2331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2377440" y="5230368"/>
            <a:ext cx="463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1B5894"/>
                </a:solidFill>
                <a:latin typeface="Calibri"/>
              </a:rPr>
              <a:t>Reclassificação de papel — Sul/CO e Norte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504688"/>
            <a:ext cx="365760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2377440" y="550468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86400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Distrito Federal → Seletiva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5760720"/>
            <a:ext cx="365760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377440" y="5760720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5742432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Rio Grande do Sul → Seletiva (crescimento inorgânico)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6016752"/>
            <a:ext cx="365760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2377440" y="601675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PA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5998464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Pará → Seletiva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6272784"/>
            <a:ext cx="365760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2377440" y="6272784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6352" y="6254496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Tocantins → Defesa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endParaRPr lang="pt-BR" sz="10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77440" y="6528816"/>
            <a:ext cx="365760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2377440" y="652881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16352" y="6510528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Piauí → Defesa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endParaRPr lang="pt-BR" sz="10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77440" y="6858000"/>
            <a:ext cx="4633920" cy="80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2377440" y="6931152"/>
            <a:ext cx="463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Puxa decisões: Santa Maria, </a:t>
            </a:r>
            <a:r>
              <a:rPr lang="pt-BR" sz="900" b="1" i="1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 IPP em Belém, combo Granel </a:t>
            </a:r>
            <a:r>
              <a:rPr lang="pt-BR" sz="900" b="1" i="1" noProof="0" dirty="0" err="1">
                <a:solidFill>
                  <a:srgbClr val="1B3A5F"/>
                </a:solidFill>
                <a:latin typeface="Calibri"/>
              </a:rPr>
              <a:t>SL+PN+Teresina</a:t>
            </a:r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7543800"/>
            <a:ext cx="1828800" cy="2331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502920" y="77266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spc="300" noProof="0" dirty="0">
                <a:solidFill>
                  <a:srgbClr val="FFFFFF"/>
                </a:solidFill>
                <a:latin typeface="Calibri"/>
              </a:rPr>
              <a:t>PHASE-OUT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81381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8961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praças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0" y="7543800"/>
            <a:ext cx="4999680" cy="2331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2377440" y="7653528"/>
            <a:ext cx="463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1B5894"/>
                </a:solidFill>
                <a:latin typeface="Calibri"/>
              </a:rPr>
              <a:t>Decisão de saída formalizada — capital liberado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7927848"/>
            <a:ext cx="365760" cy="237744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2377440" y="792784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16352" y="7909560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Maceió — em análise de viabilidade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0" y="8183880"/>
            <a:ext cx="365760" cy="237744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2377440" y="8183880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16352" y="8165592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Uberaba — fase final (migração para Uberlândia)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77440" y="8439912"/>
            <a:ext cx="365760" cy="237744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2377440" y="843991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6352" y="8421624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Itabuna OU Jequié — decisão composta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8695944"/>
            <a:ext cx="365760" cy="237744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2377440" y="8695944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16352" y="8677656"/>
            <a:ext cx="417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Rio Grande — fechado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440" y="9281160"/>
            <a:ext cx="4633920" cy="80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8" name="TextBox 67"/>
          <p:cNvSpPr txBox="1"/>
          <p:nvPr/>
        </p:nvSpPr>
        <p:spPr>
          <a:xfrm>
            <a:off x="2377440" y="9354312"/>
            <a:ext cx="463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Drenagem evitada do conjunto: R$ 10,4 MM em 10 anos · capital reciclado para movimentos ofensivos.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100126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▸ Leitura cruzada: o que sobe → Novos Negócios  ·  o que ajusta → Novas Ideias  ·  o que sai → Coragem.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1 · Reclassificações  ·  página 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2" name="Picture 25">
            <a:extLst>
              <a:ext uri="{FF2B5EF4-FFF2-40B4-BE49-F238E27FC236}">
                <a16:creationId xmlns:a16="http://schemas.microsoft.com/office/drawing/2014/main" id="{C751BFD6-BAE7-800E-1ADD-A86B9204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1   ·   P L A N O   D E   </a:t>
            </a:r>
            <a:r>
              <a:rPr lang="pt-BR" sz="850" b="1" i="0" spc="200" noProof="0" dirty="0" err="1">
                <a:solidFill>
                  <a:srgbClr val="E61E2D"/>
                </a:solidFill>
                <a:latin typeface="Calibri"/>
              </a:rPr>
              <a:t>E</a:t>
            </a:r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 X P A N S Ã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Onde a infra sustenta e onde trava o plano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Cinco tipologias de gargalo cruzam-se com praças prioritárias — esse cruzamento ancora os 3 pilares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601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A projeção comercial só se realiza se a infraestrutura acompanhar. Cinco tipologias de gargalo descrevem onde a malha trava ou sangra capital. Cada tipologia tem um movimento estratégico associado nos pilares deste book —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custo+monopólio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puxam Novos Negócios,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capacidade+ToP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puxam Novas Ideias, base não-rentável puxa Coragem.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6828480" cy="41148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1" i="0" spc="150" noProof="0" dirty="0">
                <a:solidFill>
                  <a:srgbClr val="FFFFFF"/>
                </a:solidFill>
                <a:latin typeface="Calibri"/>
              </a:rPr>
              <a:t>EIXO DO GARGALO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788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1" i="0" spc="150" noProof="0" dirty="0">
                <a:solidFill>
                  <a:srgbClr val="FFFFFF"/>
                </a:solidFill>
                <a:latin typeface="Calibri"/>
              </a:rPr>
              <a:t>FILIAIS (OPERADOR)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78892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1" i="0" spc="150" noProof="0" dirty="0">
                <a:solidFill>
                  <a:srgbClr val="FFFFFF"/>
                </a:solidFill>
                <a:latin typeface="Calibri"/>
              </a:rPr>
              <a:t>PLANO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78892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1" i="0" spc="150" noProof="0" dirty="0">
                <a:solidFill>
                  <a:srgbClr val="FFFFFF"/>
                </a:solidFill>
                <a:latin typeface="Calibri"/>
              </a:rPr>
              <a:t>NATUREZA / IMPACTO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682848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75488" y="3200400"/>
            <a:ext cx="1353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Alto custo unitário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200400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Crato (Vibra) · Belém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Vibra+IPP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 · Fortaleza (Vibra) · Maceió (Vibra)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200400"/>
            <a:ext cx="4846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A /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200400"/>
            <a:ext cx="1673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Tarifa acima da média · mercado concentrado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40"/>
            <a:ext cx="6828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73152" cy="77724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475488" y="3977640"/>
            <a:ext cx="1353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Capacidade restrita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4146969"/>
            <a:ext cx="2816352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Goiânia (própria ALE) · OPASC-SC: Itajaí/Biguaçu/Guaramirim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RDP+Transpetro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 - Fortaleza(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Vibra+Raízen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977640"/>
            <a:ext cx="4846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977640"/>
            <a:ext cx="1673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Base insuficiente vs. ambição de volume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682848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754880"/>
            <a:ext cx="73152" cy="77724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75488" y="4754880"/>
            <a:ext cx="1353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Operador único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754880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Crato (Vibra) · Vitória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Oiltank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 · Teresina (Granel)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4754880"/>
            <a:ext cx="4846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54880"/>
            <a:ext cx="1673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Sem BATNA · tarifa extraída pelo monopolista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32120"/>
            <a:ext cx="6828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Rectangle 32"/>
          <p:cNvSpPr/>
          <p:nvPr/>
        </p:nvSpPr>
        <p:spPr>
          <a:xfrm>
            <a:off x="365760" y="5532120"/>
            <a:ext cx="73152" cy="77724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475488" y="5532120"/>
            <a:ext cx="1353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Take-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or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-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Pay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 crônico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5532120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Belém (IPP 4.625 m³) · Montes Claros (IPP) · Porto Nacional (Granel)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5532120"/>
            <a:ext cx="4846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B /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8968" y="5532120"/>
            <a:ext cx="1673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Volume contratado &gt;&gt; movimentação real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309360"/>
            <a:ext cx="682848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Rectangle 38"/>
          <p:cNvSpPr/>
          <p:nvPr/>
        </p:nvSpPr>
        <p:spPr>
          <a:xfrm>
            <a:off x="365760" y="6309360"/>
            <a:ext cx="73152" cy="77724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75488" y="6309360"/>
            <a:ext cx="1353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Defesa com risco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8528" y="6309360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Teresina (Granel) · São Luís (Granel/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Tequimar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 · Porto Nacional (Granel)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6309360"/>
            <a:ext cx="4846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58968" y="6309360"/>
            <a:ext cx="16733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Volume ok · custo a otimizar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7498079"/>
            <a:ext cx="6828480" cy="8686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7635239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TRADUÇÃO PARA OS 3 PILARES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7936991"/>
            <a:ext cx="646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1B3A5F"/>
                </a:solidFill>
                <a:latin typeface="Calibri"/>
              </a:rPr>
              <a:t>Custo + monopólio → Novos Negócios    ·    Capacidade + Take-</a:t>
            </a:r>
            <a:r>
              <a:rPr lang="pt-BR" sz="1050" b="0" i="0" noProof="0" dirty="0" err="1">
                <a:solidFill>
                  <a:srgbClr val="1B3A5F"/>
                </a:solidFill>
                <a:latin typeface="Calibri"/>
              </a:rPr>
              <a:t>or</a:t>
            </a:r>
            <a:r>
              <a:rPr lang="pt-BR" sz="1050" b="0" i="0" noProof="0" dirty="0">
                <a:solidFill>
                  <a:srgbClr val="1B3A5F"/>
                </a:solidFill>
                <a:latin typeface="Calibri"/>
              </a:rPr>
              <a:t>-</a:t>
            </a:r>
            <a:r>
              <a:rPr lang="pt-BR" sz="1050" b="0" i="0" noProof="0" dirty="0" err="1">
                <a:solidFill>
                  <a:srgbClr val="1B3A5F"/>
                </a:solidFill>
                <a:latin typeface="Calibri"/>
              </a:rPr>
              <a:t>Pay</a:t>
            </a:r>
            <a:r>
              <a:rPr lang="pt-BR" sz="1050" b="0" i="0" noProof="0" dirty="0">
                <a:solidFill>
                  <a:srgbClr val="1B3A5F"/>
                </a:solidFill>
                <a:latin typeface="Calibri"/>
              </a:rPr>
              <a:t> → Novas Ideias    ·    Base não-rentável → Coragem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859536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spc="200" noProof="0" dirty="0">
                <a:solidFill>
                  <a:srgbClr val="1B5894"/>
                </a:solidFill>
                <a:latin typeface="Calibri"/>
              </a:rPr>
              <a:t>CRUZAMENTO COM REGIÕES PRIORITÁRIAS DO PLANO DE EXPANSÃO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888796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365760" y="8979408"/>
            <a:ext cx="682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Sete praças prioritárias (A) com gargalo crítico: Crato, Belém, Fortaleza, Goiânia, Itajaí/Biguaçu/Guaramirim, Vitória, Teresina.  Quatro praças com Take-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or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-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Pay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&gt;&gt; movimentação real.  Cinco frentes onde a única alternativa é construir BATNA estrutural.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6012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Categorias do Plano de Expansão:  A = Regiões Prioritárias  ·  B = Defesa de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Share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  ·  C = Expansão Seletiva  ·  D = Sem foco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1 · Cruzamento Comercial × Diretor  ·  página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809F7533-3B73-3E1B-D27F-854706A3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2   ·   D I A G N Ó S T I C O   D A   M A L H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A malha ALE hoje — onde estamos operando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42 terminais · 13 cedentes · 57% próprio / 43% terceiros · diversificação aparente, concentrações específicas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14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A movimentação da ALE </a:t>
            </a:r>
            <a:r>
              <a:rPr lang="pt-BR" sz="1050" noProof="0" dirty="0">
                <a:solidFill>
                  <a:srgbClr val="FFFFFF"/>
                </a:solidFill>
                <a:latin typeface="Calibri"/>
              </a:rPr>
              <a:t>tem 57% concentrada em operação 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própria, com 13 cedentes terceiros complementares. Nenhum cedente individual responde por mais de 8%, mas a estrutura de contratos concentra vencimentos nos próximos 9 meses — o que torna 2026 um ano de exposição contratual relevante.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3345660" cy="3657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3456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spc="200" noProof="0" dirty="0">
                <a:solidFill>
                  <a:srgbClr val="FFFFFF"/>
                </a:solidFill>
                <a:latin typeface="Calibri"/>
              </a:rPr>
              <a:t>COMPOSIÇÃO DA MOVIMENTAÇÃO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3345660" cy="29260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Infra Própria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8500" y="3063240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57%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55848"/>
            <a:ext cx="33456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3355848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Ipiranga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8500" y="3355848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48456"/>
            <a:ext cx="3345660" cy="29260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8500" y="3648456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33456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" y="3941064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Ultracargo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8500" y="394106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33672"/>
            <a:ext cx="3345660" cy="29260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4233672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Oiltanking</a:t>
            </a:r>
            <a:endParaRPr lang="pt-BR" sz="10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8500" y="4233672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26280"/>
            <a:ext cx="33456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Temape</a:t>
            </a:r>
            <a:endParaRPr lang="pt-BR" sz="10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8500" y="4526280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18888"/>
            <a:ext cx="3345660" cy="29260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818888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Santos Brasil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8500" y="4818888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111496"/>
            <a:ext cx="33456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111496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Raízen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8500" y="5111496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04104"/>
            <a:ext cx="3345660" cy="29260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404104"/>
            <a:ext cx="234196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Outros (6 cedentes)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8500" y="540410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16%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9436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CONCENTRAÇÕES CRÍTICAS E LEITURA EXECUTIVA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2362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5" name="Rectangle 54"/>
          <p:cNvSpPr/>
          <p:nvPr/>
        </p:nvSpPr>
        <p:spPr>
          <a:xfrm>
            <a:off x="365760" y="6355080"/>
            <a:ext cx="54864" cy="5943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530352" y="6400800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Vibra concentra Crato + Belém + Fortaleza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64768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Sem BATNA geográfica nesses pontos · alavanca via </a:t>
            </a:r>
            <a:r>
              <a:rPr lang="pt-BR" sz="950" b="0" i="1" noProof="0" dirty="0" err="1">
                <a:solidFill>
                  <a:srgbClr val="6B6B6B"/>
                </a:solidFill>
                <a:latin typeface="Calibri"/>
              </a:rPr>
              <a:t>bundling</a:t>
            </a:r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 com Ipiranga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7013448"/>
            <a:ext cx="54864" cy="5943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530352" y="705916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Ipiranga: </a:t>
            </a:r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 consolida 3 praças em uma negociação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7306056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Belém + Cubatão + Betim · −R$3,8MM até dez/27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7671816"/>
            <a:ext cx="54864" cy="5943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530352" y="7717536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6 contratos vencem em 9 meses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7964424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Suape (Ultra), São Luís (Ultra), Vitória renegociação · janela de risco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8330184"/>
            <a:ext cx="54864" cy="5943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530352" y="8375904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Operadores únicos em 3 regiões prioritárias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862279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Crato (Vibra), Vitória (</a:t>
            </a:r>
            <a:r>
              <a:rPr lang="pt-BR" sz="950" b="0" i="1" noProof="0" dirty="0" err="1">
                <a:solidFill>
                  <a:srgbClr val="6B6B6B"/>
                </a:solidFill>
                <a:latin typeface="Calibri"/>
              </a:rPr>
              <a:t>Oiltank</a:t>
            </a:r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), Teresina (Granel)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960120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Fonte: Base de contratos ALE · maio/2026. Inclui terminais marítimos, fluviais, ferroviários e rodoviários · não inclui bases administrativas (cota Petrobras).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2 · A malha ALE hoje  ·  página 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0" name="Picture 25">
            <a:extLst>
              <a:ext uri="{FF2B5EF4-FFF2-40B4-BE49-F238E27FC236}">
                <a16:creationId xmlns:a16="http://schemas.microsoft.com/office/drawing/2014/main" id="{A04F25DA-AF2B-9B3D-27EE-D0160A37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2   ·   D I A G N Ó S T I C O   D A   M A L H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Capacidade × demanda — projeção 2026 →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Três zonas distintas: déficit estrutural, equilíbrio crítico e capacidade ociosa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601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cruzamento capacidade × demanda separa a malha em três zonas. A zona vermelha são praças onde a infraestrutura já é restritiva em 2026 e piora até 2030 — Vitória, Cabedelo, Itajaí, Fortaleza, Belém. A zona azul são posições com capital subutilizado — Caxias, SJRP, Brasília. Cada zona puxa um movimento diferente nos pilares.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2215200" cy="41148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078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DÉFICIT ESTRUTURAL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2215200" cy="2194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3232571"/>
            <a:ext cx="19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Demanda 2030 &gt; capacidade contratada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439155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Vitória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120" y="3439155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7,0 → 10,2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58611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Cabedelo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120" y="3658611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6,5 → 9,5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78067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Itajaí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4120" y="3878067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6,5 → 9,3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97523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Fortaleza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120" y="4097523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3,7 → 7,6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316979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Belém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4120" y="4316979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3,9 → 5,9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536435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Açailândia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20" y="4536435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4,8 → 6,8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755891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120" y="4755891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2,3 → 2,9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37760"/>
            <a:ext cx="2123760" cy="800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502920" y="5010912"/>
            <a:ext cx="19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1" noProof="0" dirty="0">
                <a:solidFill>
                  <a:srgbClr val="1B3A5F"/>
                </a:solidFill>
                <a:latin typeface="Calibri"/>
              </a:rPr>
              <a:t>Movimento: ampliação ou </a:t>
            </a:r>
            <a:r>
              <a:rPr lang="pt-BR" sz="850" b="1" i="1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850" b="1" i="1" noProof="0" dirty="0">
                <a:solidFill>
                  <a:srgbClr val="1B3A5F"/>
                </a:solidFill>
                <a:latin typeface="Calibri"/>
              </a:rPr>
              <a:t> · pilar Novos Negócios.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2400" y="2788920"/>
            <a:ext cx="2215200" cy="41148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2809560" y="2788920"/>
            <a:ext cx="2078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EQUILÍBRIO CRÍTICO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2400" y="3200400"/>
            <a:ext cx="2215200" cy="2194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2809560" y="3291840"/>
            <a:ext cx="2098776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Capacidade ≈ demanda · sem folga para pico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6992" y="3439161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Ipojuca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90760" y="3439161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14,0 → 14,2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6992" y="3658617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São Luís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0760" y="3658617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20,3 → 16,2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6992" y="3878073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Biguaçu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0760" y="3878073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1,4 → 2,8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6992" y="4097529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Guamaré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0760" y="4097529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50,1 → 13,2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6992" y="4316985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Goiânia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90760" y="4316985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61,3 → 19,2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6992" y="4536441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Paulínia Pool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90760" y="4536441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40,1 → 13,9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18120" y="4937760"/>
            <a:ext cx="2123760" cy="80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2809560" y="5010912"/>
            <a:ext cx="19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1" noProof="0" dirty="0">
                <a:solidFill>
                  <a:srgbClr val="1B3A5F"/>
                </a:solidFill>
                <a:latin typeface="Calibri"/>
              </a:rPr>
              <a:t>Movimento: renegociação tarifa · pilar Novas Ideias.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79040" y="2788920"/>
            <a:ext cx="2215200" cy="4114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116200" y="2788920"/>
            <a:ext cx="2078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CAPITAL OCIOSO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79040" y="3200400"/>
            <a:ext cx="2215200" cy="21945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5116200" y="3291840"/>
            <a:ext cx="19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Capacidade contratada &gt;&gt; demanda real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3632" y="3447623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D. Caxias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7400" y="3447623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63,2 → 34,8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3632" y="3667079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Guarulhos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7400" y="3667079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62,7 → 32,9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3632" y="3886535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SJRP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7400" y="3886535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18,9 → 4,2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43632" y="4105991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Brasília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7400" y="4105991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14,0 → 5,3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43632" y="4325447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Porto Nacional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7400" y="4325447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10,6 → 2,1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43632" y="4544903"/>
            <a:ext cx="1218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Montes Claros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7400" y="4544903"/>
            <a:ext cx="930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4,6 → 2,2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4760" y="4937760"/>
            <a:ext cx="2123760" cy="80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5116200" y="5010912"/>
            <a:ext cx="19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1" noProof="0" dirty="0">
                <a:solidFill>
                  <a:srgbClr val="1B3A5F"/>
                </a:solidFill>
                <a:latin typeface="Calibri"/>
              </a:rPr>
              <a:t>Movimento: redução / pool / cessão · pilar Novas Ideias + Coragem.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577840"/>
            <a:ext cx="682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Valores em mil m³ · capacidade contratada → demanda projetada 2030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9893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SÍNTESE EXECUTIVA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28192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8" name="Rectangle 67"/>
          <p:cNvSpPr/>
          <p:nvPr/>
        </p:nvSpPr>
        <p:spPr>
          <a:xfrm>
            <a:off x="365760" y="6446520"/>
            <a:ext cx="2184720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9" name="Rectangle 68"/>
          <p:cNvSpPr/>
          <p:nvPr/>
        </p:nvSpPr>
        <p:spPr>
          <a:xfrm>
            <a:off x="365760" y="6446520"/>
            <a:ext cx="73152" cy="16459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0" name="TextBox 69"/>
          <p:cNvSpPr txBox="1"/>
          <p:nvPr/>
        </p:nvSpPr>
        <p:spPr>
          <a:xfrm>
            <a:off x="548640" y="6583680"/>
            <a:ext cx="191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E61E2D"/>
                </a:solidFill>
                <a:latin typeface="Calibri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7315200"/>
            <a:ext cx="191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praças em déficit estrutural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7635240"/>
            <a:ext cx="191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ação ofensiva obrigatória até 2027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87640" y="6446520"/>
            <a:ext cx="2184720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4" name="Rectangle 73"/>
          <p:cNvSpPr/>
          <p:nvPr/>
        </p:nvSpPr>
        <p:spPr>
          <a:xfrm>
            <a:off x="2687640" y="6446520"/>
            <a:ext cx="73152" cy="16459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5" name="TextBox 74"/>
          <p:cNvSpPr txBox="1"/>
          <p:nvPr/>
        </p:nvSpPr>
        <p:spPr>
          <a:xfrm>
            <a:off x="2870520" y="6583680"/>
            <a:ext cx="191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E68A1A"/>
                </a:solidFill>
                <a:latin typeface="Calibri"/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70520" y="7315200"/>
            <a:ext cx="191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praças em equilíbrio crítico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70520" y="7635240"/>
            <a:ext cx="191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renegociação ou ampliação tática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09520" y="6446520"/>
            <a:ext cx="2184720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9" name="Rectangle 78"/>
          <p:cNvSpPr/>
          <p:nvPr/>
        </p:nvSpPr>
        <p:spPr>
          <a:xfrm>
            <a:off x="5009520" y="6446520"/>
            <a:ext cx="73152" cy="16459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5192400" y="6583680"/>
            <a:ext cx="191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3B95D3"/>
                </a:solidFill>
                <a:latin typeface="Calibri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92400" y="7315200"/>
            <a:ext cx="191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praças com capital ocioso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92400" y="7635240"/>
            <a:ext cx="191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pool, cessão, redução ou </a:t>
            </a:r>
            <a:r>
              <a:rPr lang="pt-BR" sz="950" b="0" i="1" noProof="0" dirty="0" err="1">
                <a:solidFill>
                  <a:srgbClr val="6B6B6B"/>
                </a:solidFill>
                <a:latin typeface="Calibri"/>
              </a:rPr>
              <a:t>phase</a:t>
            </a:r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-out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960120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Fonte: cruzamento Plano de Expansão Comercial × capacidade contratada ALE · projeção de demanda 2026-2030 calibrada por região e segmento.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2 · Capacidade × Demanda  ·  página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86" name="Picture 25">
            <a:extLst>
              <a:ext uri="{FF2B5EF4-FFF2-40B4-BE49-F238E27FC236}">
                <a16:creationId xmlns:a16="http://schemas.microsoft.com/office/drawing/2014/main" id="{8475CD8F-17A3-AD37-DB8A-A32C1916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2   ·   D I A G N Ó S T I C O   D A   M A L H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Matriz de urgência — quando agir, como agir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Cada gargalo da malha tem um movimento associado · urgência × complexidade orientam sequenciamento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601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Os 14 projetos do Plano Diretor 2026-2030 distribuem-se em quatro quadrantes. Alta urgência + baixa complexidade são execuções imediatas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BIDs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renegociações). Alta urgência + alta complexidade são movimentos estruturais que exigem capital e tempo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SPE). Os pilares deste book atravessam todos os quadrantes.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4087368"/>
            <a:ext cx="61061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ALTA</a:t>
            </a:r>
          </a:p>
          <a:p>
            <a:pPr algn="r"/>
            <a:r>
              <a:rPr lang="pt-BR" sz="900" b="1" dirty="0">
                <a:solidFill>
                  <a:srgbClr val="1B3A5F"/>
                </a:solidFill>
                <a:latin typeface="Calibri"/>
              </a:rPr>
              <a:t>URGÊNCIA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7068681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6B6B6B"/>
                </a:solidFill>
                <a:latin typeface="Calibri"/>
              </a:rPr>
              <a:t>BAIXA</a:t>
            </a:r>
          </a:p>
          <a:p>
            <a:pPr algn="r"/>
            <a:r>
              <a:rPr lang="pt-BR" sz="900" b="1" dirty="0">
                <a:solidFill>
                  <a:srgbClr val="1B3A5F"/>
                </a:solidFill>
              </a:rPr>
              <a:t>URGÊNCIA</a:t>
            </a:r>
            <a:endParaRPr lang="pt-BR" sz="900" b="1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8321040"/>
            <a:ext cx="1311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6B6B6B"/>
                </a:solidFill>
                <a:latin typeface="Calibri"/>
              </a:rPr>
              <a:t>BAIXA COMPLEXIDADE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8720" y="8321040"/>
            <a:ext cx="1311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ALTA COMPLEXIDADE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926080"/>
            <a:ext cx="3139920" cy="2651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3139920" cy="3657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286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EXECUTAR JÁ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37560"/>
            <a:ext cx="286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Alta urgência · Baixa complexidade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1E2D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675888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Suape — renovação Ultracargo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8678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1E2D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005072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São Luís — combo Granel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15968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1E2D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334256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Otamérica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— ampliação 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4515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1E2D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663440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Belém + Cubatão + Betim —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bundling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IPP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74336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1E2D"/>
                </a:solidFill>
                <a:latin typeface="Calibr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992624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Phase Out Uberaba — fase final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54320" y="2926080"/>
            <a:ext cx="3139920" cy="2651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4054320" y="2926080"/>
            <a:ext cx="3139920" cy="36576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191480" y="2926080"/>
            <a:ext cx="286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ESTRUTURAR AGORA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1480" y="3337560"/>
            <a:ext cx="286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Alta urgência · Alta complexidade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7200" y="36576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6928" y="3675888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Itajaí —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Grupo Ávila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7200" y="398678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6928" y="4005072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Caxias — venda EFEN (CADE)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" y="52578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7864" y="5276088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Açailândia/LEM — formalização ANP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867" y="4228931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595" y="4247219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Goiânia —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Nexta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50/50 +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landlord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24867" y="4558115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595" y="4576403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Vitória — SPE 3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majors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14400" y="5577840"/>
            <a:ext cx="3139920" cy="2651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Rectangle 42"/>
          <p:cNvSpPr/>
          <p:nvPr/>
        </p:nvSpPr>
        <p:spPr>
          <a:xfrm>
            <a:off x="914400" y="5577840"/>
            <a:ext cx="3139920" cy="36576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1051560" y="5577840"/>
            <a:ext cx="286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MONITORAR / OPORTUNISTA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989320"/>
            <a:ext cx="286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Baixa urgência · Baixa complexidade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30936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6327648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Santa Maria — Rede SIM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663854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008" y="6656832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Chapecó —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Maxissul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97280" y="6967728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7008" y="6986016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Crato — análise de viabilidade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729691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7008" y="7315200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Maceió — análise de viabilidade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4320" y="5577840"/>
            <a:ext cx="3139920" cy="2651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5" name="Rectangle 54"/>
          <p:cNvSpPr/>
          <p:nvPr/>
        </p:nvSpPr>
        <p:spPr>
          <a:xfrm>
            <a:off x="4054320" y="5577840"/>
            <a:ext cx="3139920" cy="3657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4191480" y="5577840"/>
            <a:ext cx="286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PLANEJAR ESTRUTURALMENTE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91480" y="5989320"/>
            <a:ext cx="286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Baixa urgência · Alta complexidade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18912" y="4834806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34595" y="4869011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Pecém — DISLUB (start 2027)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85525" y="660006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01208" y="6301232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Pool Paulínia + OPLA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91480" y="625551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1208" y="6630416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Vitória — Atlântica (sondagem)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759460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008" y="7612890"/>
            <a:ext cx="268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Uberlândia — RUMOS (giro)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8686800"/>
            <a:ext cx="6828480" cy="11887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548640" y="8851392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DOS QUADRANTES PARA OS 3 PILARES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9144000"/>
            <a:ext cx="646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Os movimentos ofensivos (Q1+Q2 superior) compõem o pilar Novos Negócios.   Os movimentos de maturação (Q3+Q1 inferior) compõem Novas Ideias.   Os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phase-outs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e análises de saída compõem Coragem.   A sequência do Bloco 3 segue exatamente essa lógica.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2 · Matriz de Urgência  ·  página 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1" name="Picture 25">
            <a:extLst>
              <a:ext uri="{FF2B5EF4-FFF2-40B4-BE49-F238E27FC236}">
                <a16:creationId xmlns:a16="http://schemas.microsoft.com/office/drawing/2014/main" id="{96931472-8A32-F0F0-83F3-98D29D4BF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00" y="9067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36576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3584448"/>
            <a:ext cx="7560000" cy="73152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300" noProof="0" dirty="0">
                <a:solidFill>
                  <a:srgbClr val="3B95D3"/>
                </a:solidFill>
                <a:latin typeface="Calibri"/>
              </a:rPr>
              <a:t>B L O C O   3   ·   O S   3   P I L A R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682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Novos Negócios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1" noProof="0" dirty="0">
                <a:solidFill>
                  <a:srgbClr val="C8D8EC"/>
                </a:solidFill>
                <a:latin typeface="Calibri"/>
              </a:rPr>
              <a:t>Movimentos ofensivos · 9 frentes que reorganizam a malha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097280" cy="45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73152" cy="146304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F9E5C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frentes em instrumentos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contratuais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717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107170" y="4023360"/>
            <a:ext cx="73152" cy="146304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24433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3B95D3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433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frentes em maturação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avançada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858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848580" y="4023360"/>
            <a:ext cx="73152" cy="14630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98574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B5894"/>
                </a:solidFill>
                <a:latin typeface="Calibri"/>
              </a:rPr>
              <a:t>R$ 12,6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574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NPV do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deal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Caxias-EFEN (10A)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999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589990" y="4023360"/>
            <a:ext cx="73152" cy="14630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72715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B5894"/>
                </a:solidFill>
                <a:latin typeface="Calibri"/>
              </a:rPr>
              <a:t>−R$ 3,8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15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economia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bundling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IPP até dez/27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9436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AS 9 FRENTES DO PILAR — POR ESTÁGIO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362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682848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400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Açailândia + 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6400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Corredor </a:t>
            </a:r>
            <a:r>
              <a:rPr lang="pt-BR" sz="900" b="0" i="1" noProof="0" dirty="0" err="1">
                <a:solidFill>
                  <a:srgbClr val="333333"/>
                </a:solidFill>
                <a:latin typeface="Calibri"/>
              </a:rPr>
              <a:t>Mapapito</a:t>
            </a:r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 · swap entregue · ANP em curso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4236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720840"/>
            <a:ext cx="6828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6720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720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Caxias I — EFEN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67208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Reciclagem de capital ocioso · NPV R$ 12,6 MM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674370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7040880"/>
            <a:ext cx="682848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02920" y="7040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7040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Caxias II — S10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7040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Dependência crítica · interligação direta no radar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706374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7360920"/>
            <a:ext cx="6828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02920" y="73609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7360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Belém + Cubatão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73609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Destrave tarifário via </a:t>
            </a:r>
            <a:r>
              <a:rPr lang="pt-BR" sz="900" b="0" i="1" noProof="0" dirty="0" err="1">
                <a:solidFill>
                  <a:srgbClr val="333333"/>
                </a:solidFill>
                <a:latin typeface="Calibri"/>
              </a:rPr>
              <a:t>bundle</a:t>
            </a:r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 IPP · −R$ 3,8 MM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738378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7680960"/>
            <a:ext cx="682848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502920" y="76809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76809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Goiânia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76809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Pool </a:t>
            </a:r>
            <a:r>
              <a:rPr lang="pt-BR" sz="900" b="0" i="1" noProof="0" dirty="0" err="1">
                <a:solidFill>
                  <a:srgbClr val="333333"/>
                </a:solidFill>
                <a:latin typeface="Calibri"/>
              </a:rPr>
              <a:t>Nexta</a:t>
            </a:r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 + 2 tanques 1.500 m³ próprios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770382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8001000"/>
            <a:ext cx="6828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502920" y="80010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8001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Vitória — SPE 3 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majors</a:t>
            </a:r>
            <a:endParaRPr lang="pt-BR" sz="10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383280" y="80010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Destrave estrutural via </a:t>
            </a:r>
            <a:r>
              <a:rPr lang="pt-BR" sz="900" b="0" i="1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 · ES prioritária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80238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8321040"/>
            <a:ext cx="682848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502920" y="83210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83210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Polo OPASC — Itajaí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8321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Solução </a:t>
            </a:r>
            <a:r>
              <a:rPr lang="pt-BR" sz="900" b="0" i="1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 · Grupo Ávila no foco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834390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8641080"/>
            <a:ext cx="6828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502920" y="8641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86410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RS — Santa Maria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86410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Entrada inorgânica sem CAPEX próprio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866394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8961120"/>
            <a:ext cx="682848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502920" y="8961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89611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Pecém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89611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333333"/>
                </a:solidFill>
                <a:latin typeface="Calibri"/>
              </a:rPr>
              <a:t>Dupla janela CE + suprimento NE · DISLUB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0" y="898398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 · Novos Negócios  ·  página 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4" name="Picture 25">
            <a:extLst>
              <a:ext uri="{FF2B5EF4-FFF2-40B4-BE49-F238E27FC236}">
                <a16:creationId xmlns:a16="http://schemas.microsoft.com/office/drawing/2014/main" id="{855C611E-8087-174B-13F6-2643E914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AÇAILÂNDIA · MA   +   LEM · 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Corredor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Mapapito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(MA + LEM/BA) — reposicionamento estrutural concluído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ALE reposicionada no eixo Norte-Nordeste · O caminho atual: swap espelhado 50% LEM → 11,8% Açailândia com Vibra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swap reposiciona a ALE no Corredor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Mapapito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sem impacto de caixa. A entrega física já está feita; o cronograma original (ANP em maio/26) ajustou-se à complexidade documental — a formalização avança após escrituração do terreno em Açailândia. Ganho contábil de +R$ 7,7 MM e residual de +R$ 4,8 MM permanecem capturados.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11,8%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Participação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Açailândia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Cedido em 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R$ 12,5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Estrutura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espelhada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Margem MA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no 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Vibra Energia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 financeira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Espelhada · sem caixa · ganho contábil +R$ 7,7 MM + residual +R$ 4,8 MM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5811456"/>
            <a:ext cx="256056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Pendência regulatória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896" y="5811456"/>
            <a:ext cx="39027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Protocolo ANP após conclusão da escrituração do terreno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177216"/>
            <a:ext cx="256056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Cronograma revisado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896" y="6177216"/>
            <a:ext cx="39027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Escrituração em curso · ANP esperada no 2º semestre/26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435" y="6812280"/>
            <a:ext cx="682913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542976"/>
            <a:ext cx="256056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896" y="6542976"/>
            <a:ext cx="39027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Açailândia é praça prioritária do Corredor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Mapapito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(MA)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908736"/>
            <a:ext cx="256056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896" y="6831791"/>
            <a:ext cx="39027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Ferrovia Açailândia-Barcarena (leilão 2026) abre rota alternativa à Carajás · INPASA Balsas/LEM reforça eixo etanol milho 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9253728"/>
            <a:ext cx="6462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da escrituração do terreno (Açailândia) · protocolo ANP. Sem novos marcos comerciais — frente entra em fase administrativa.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Açailândia/LEM  ·  página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7" name="Picture 25">
            <a:extLst>
              <a:ext uri="{FF2B5EF4-FFF2-40B4-BE49-F238E27FC236}">
                <a16:creationId xmlns:a16="http://schemas.microsoft.com/office/drawing/2014/main" id="{D8AA6784-48DE-9D26-5F90-B2EFB4C5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82069"/>
            <a:ext cx="4114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DUQUE DE CAXIAS · RJ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Caxias I — reciclagem de capital ocioso via pool com EFEN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monetização da folga estrutural (cap. 63,2 mil m³ × demanda 2030 de 34,8 mil m³) · O caminho atual: venda 6,4% para EFEN, NPV R$ 12,6 MM em 10A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Caxias opera hoje com capital subutilizado — capacidade 63,2 mil m³ frente a demanda 2030 de 34,8 mil m³. A venda de 6,4% para EFEN libera R$ 8 MM e cria um pool com </a:t>
            </a:r>
            <a:r>
              <a:rPr lang="pt-BR" sz="1050" noProof="0" dirty="0">
                <a:solidFill>
                  <a:srgbClr val="FFFFFF"/>
                </a:solidFill>
                <a:latin typeface="Calibri"/>
              </a:rPr>
              <a:t>dois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players, mantendo ALE como condômina. O contrato comercial está em fase de conclusão, e o protocolo CADE é o último marco antes do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closing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6,4%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Participação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vendida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R$ 8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Valor da venda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R$ 12,6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NPV 10A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(WACC 15%)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 err="1">
                <a:solidFill>
                  <a:srgbClr val="E61E2D"/>
                </a:solidFill>
                <a:latin typeface="Calibri"/>
              </a:rPr>
              <a:t>Ago</a:t>
            </a:r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/26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Closing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previsto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EFEN (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BP+Prumo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Capacidade Caxias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63,2 mil m³ · demanda 2030 de 34,8 mil m³ (folga estrutural)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Venda parcial + Termo de Ajuste do pool · ALE permanece condômina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contratual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Termo de Ajuste assinado · contrato comercial de produto em fase final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Pendência regulatória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Protocolo CADE (sem indicação de objeção)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RJ classificado como Defesa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capital ocioso justifica desinvestimento parcial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Fechamento do contrato comercial · protocolo CADE ·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closing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previsto para agosto/26. Caixa liberado financiará parte dos movimentos ofensivos do Bloco 3.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Caxias I (EFEN)  ·  página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4" name="Picture 25">
            <a:extLst>
              <a:ext uri="{FF2B5EF4-FFF2-40B4-BE49-F238E27FC236}">
                <a16:creationId xmlns:a16="http://schemas.microsoft.com/office/drawing/2014/main" id="{7FA32612-C0C7-A449-2FE2-8C9B82E4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DUQUE DE CAXIAS · RJ   (Caxias II)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Caxias II — dependência crítica de S10 e a janela de interligação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estrutural: interligação direta com refinaria S10 (duto próprio) · Hoje 100% via cessão de espaço Raízen + frete + armazenagem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Caxias tem capital ocioso (Caxias I) e simultaneamente um gargalo crítico de S10. A base não possui duto direto à refinaria de S10 — depende integralmente de contrato de cessão com Raízen, agregando frete + armazenagem. O duto atual interno é Marítimo + S500. Mesmo com o fim do S500 previsto pela Petrobras, o duto deve permanecer para Marítimo (produto estratégico para ALE). A solução estrutural — interligação direta com refinaria S10 — não está madura, mas precisa estar no radar do plano.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Dependência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cessão Raízen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Marítimo</a:t>
            </a:r>
          </a:p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+ S500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Duto atual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3921732" y="3246120"/>
            <a:ext cx="157681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 b="1" i="0" noProof="0" dirty="0">
                <a:solidFill>
                  <a:srgbClr val="E68A1A"/>
                </a:solidFill>
                <a:latin typeface="Calibri"/>
              </a:rPr>
              <a:t>S10 - R$ 95/m³ de Custo Agregado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3172" y="3827324"/>
            <a:ext cx="146709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900" i="1" noProof="0" dirty="0">
                <a:solidFill>
                  <a:srgbClr val="6B6B6B"/>
                </a:solidFill>
              </a:rPr>
              <a:t>Mov. Mês: 6 km³</a:t>
            </a:r>
            <a:endParaRPr lang="pt-BR" sz="900" i="1" noProof="0" dirty="0"/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Frete: R$ 60/m³</a:t>
            </a:r>
          </a:p>
          <a:p>
            <a:pPr algn="l"/>
            <a:r>
              <a:rPr lang="pt-BR" sz="900" noProof="0" dirty="0">
                <a:solidFill>
                  <a:srgbClr val="6B6B6B"/>
                </a:solidFill>
                <a:latin typeface="Calibri"/>
              </a:rPr>
              <a:t>Armazenagem: R$ 35/m³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  <a:p>
            <a:pPr algn="l"/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Interligação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direta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Solução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futura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Situação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S10 recebido 100% via cessão Raízen · sem alternativa de modal próprio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Custo adicional estrutural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Frete + armazenagem em terceiro · margem da molécula entregue impactada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Duto interno 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Operacional para Marítimo + S500 (descontinuação Petrobras em curso)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Fim do S500 — impacto duto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Duto Marítimo permanece (produto estratégico ALE) · S500 fora de operação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Solução estrutural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Interligação direta com refinaria S10 · ainda não madura · sem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owner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definido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RPBC Cubatão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BioQAV+HVO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(Petrobras · 2029+) · diesel renovável muda mix logístico SP-RJ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Manter no radar do plano · não há ação executiva no curto prazo · monitorar movimentos da Petrobras sobre cronograma de descontinuação S500 e impacto sobre cessão Raízen · explorar informalmente alternativas de interligação.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Caxias II (S10)  ·  página 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4" name="Picture 25">
            <a:extLst>
              <a:ext uri="{FF2B5EF4-FFF2-40B4-BE49-F238E27FC236}">
                <a16:creationId xmlns:a16="http://schemas.microsoft.com/office/drawing/2014/main" id="{583916CB-8B37-DE3F-019C-16AD1CDDF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BELÉM · PA   +   CUBATÃO ·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Belém + Cubatão — destrave tarifário via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bundle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cruzado com IPP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destravar tarifa Belém (mercado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Vibra+IPP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) e capital ocioso Cubatão · O caminho atual: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bundle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de 3 contratos com IPP (Belém + Cubatão + Betim), −31% no valor agregado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bundling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resolve simultaneamente três problemas: tarifa exorbitante em Belém (mercado concentrado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Vibra+IPP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), capital ocioso em Cubatão, e entrada nova em Betim sem precisar construir base. A consolidação numa única mesa de negociação com IPP capturou desconto cruzado de 31% no valor agregado das três praças.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6875" y="3246120"/>
            <a:ext cx="15588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−R$ 160 K/mês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Economia mês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R$ 105,73</a:t>
            </a:r>
          </a:p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→ 52,87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Belém: tarifa</a:t>
            </a:r>
          </a:p>
          <a:p>
            <a:pPr algn="l"/>
            <a:r>
              <a:rPr lang="pt-BR" sz="900" noProof="0" dirty="0">
                <a:solidFill>
                  <a:srgbClr val="6B6B6B"/>
                </a:solidFill>
                <a:latin typeface="Calibri"/>
              </a:rPr>
              <a:t>Mov. – 4,5 m³/mês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R$ 80,31</a:t>
            </a:r>
          </a:p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→ 45,00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Cubatão: tarifa</a:t>
            </a:r>
          </a:p>
          <a:p>
            <a:pPr algn="l"/>
            <a:r>
              <a:rPr lang="pt-BR" sz="900" noProof="0" dirty="0">
                <a:solidFill>
                  <a:srgbClr val="6B6B6B"/>
                </a:solidFill>
                <a:latin typeface="Calibri"/>
              </a:rPr>
              <a:t>Mov. – 4,0 m³/mês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Nova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contratação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Betim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Ipiranga (IPP)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Praças envolvidas no 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bundle</a:t>
            </a:r>
            <a:endParaRPr lang="pt-BR" sz="10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Belém (PA · prioritária NE) + Cubatão (SP) + Betim (MG · ver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28 — slide próprio)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Bundle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de 3 contratos com desconto cruzado · redução total 31% no valor agregado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interno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Aprovado pela Ipiranga · aprovado pela ALE · em redação das minutas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Pendência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Conclusão das minutas e assinatura dos contratos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RPBC Cubatão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BioQAV+HVO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(Petrobras · 2029+) impacta logística SP médio prazo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das minutas contratuais (três praças simultâneas) · assinatura dos contratos. Betim ganhou slide próprio (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28) com a solução estrutural de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revamp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hidráulico + automação.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Belém + Cubatão  ·  página 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4" name="Picture 25">
            <a:extLst>
              <a:ext uri="{FF2B5EF4-FFF2-40B4-BE49-F238E27FC236}">
                <a16:creationId xmlns:a16="http://schemas.microsoft.com/office/drawing/2014/main" id="{F4F63AE0-53EA-EFDB-C5EC-BBCFBA382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GOIÂNIA ·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Goiânia — solução estrutural composta (Pool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Nexta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+ 2 tanques de 1.500 m³)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destravar capacidade restrita + reorganizar mix interno · O caminho atual: Pool 50/50 com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Nexta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+ construção de 2 tanques próprios de 1.500 m³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Goiânia tem capacidade restrita para a projeção comercial em GO. A solução estrutural tem dois vetores complementares: (1) Pool 50/50 com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Nexta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— compartilha custo e libera tancagem sem CAPEX próprio integral; (2) Construção de 2 tanques próprios de 1.500 m³ — reorganiza mix interno e viabiliza swap S500↔Hidratado (TQ03↔TQ05) pós-conversão S10. Pool depende do locador; tanques dependem de aprovação interna do investimento.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50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Pool </a:t>
            </a:r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Nexta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2 × 1.500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Tanques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próprios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19,2 mil 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Locador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Dependência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 operacional (Pool)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Nexta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(Rede SIM)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 Pool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Compartilhamento OPEX e CAPEX · 50% para cada parte (Cenário 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Construção própria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2 tanques de 1.500 m³ · destrava capacidade e reorganiza mix interno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Premissa institucional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Conversão S500 → S10 abre swap interno TQ03↔TQ05 (capital eficiência)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Caminho crítico 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Aceite do locador para renegociar arrendamento atual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Granel Química Santa Helena/GO (terminal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rodo-ferroviário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2026) impacta dinâmica GO sudoeste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Estruturar modelo contratual definitivo do Pool · abrir tratativa com locador · iniciar viabilidade técnica/financeira dos 2 tanques de 1.500 m³ · decisão sobre swap S500↔Hidratado dependente da conversão para S10.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Goiânia (Pool + tanques)  ·  página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7FBE7E17-A238-8AB2-A054-E3246E30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VITÓRIA · 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Vitória — destrave estrutural via terminal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(SPE)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terminal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greenfield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multi-distribuidora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em ES (maior margem do plano: R$ 243/m³) · O caminho atual: SPE com Vibra + Raízen + IPP, NDA em assinatura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Vitória opera hoje em posição cativa com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Otamérica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/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Oiltank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— operador único, contrato até 2029, gap estrutural projetado de −365 m³/dia em pico até 2030. A SPE com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Vibra+Raízen+IPP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é a saída estrutural: terminal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com capacidade para múltiplas distribuidoras e modal marítimo. O NDA em assinatura abre formalmente a fase de discussão contratual.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Vibra · Raízen</a:t>
            </a:r>
          </a:p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· IPP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Parceiros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Start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operacional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R$ 243/m³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Margem ES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(maior do plano)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−365 m³/dia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Gap 2030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em pico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SPE em formação · Vibra Energia + Raízen + Ipiranga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Terminal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em ES · ALE como distribuidora condômina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atual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Conversa evoluiu para redação final do NDA · assinatura iminente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Próxima fase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Discussão do contrato de armazenagem futuro no terminal a ser construído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Horizonte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Start operacional 2028 · alivia gap estrutural projetado para 2030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ES = praça prioritária · maior rentabilidade do plano (R$ 243/m³)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717804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7178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71780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Blue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Terminals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TGL Vila Velha/ES (2H/2027 · R$ 340 MM · 16 tanques) — alternativa adicional 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Assinatura do NDA · início da discussão contratual com SPE · em paralelo, aceitar ampliação tática de grade com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(Bloco 3B) como ponte até 2028.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Vitória (SPE)  ·  página 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6" name="Picture 25">
            <a:extLst>
              <a:ext uri="{FF2B5EF4-FFF2-40B4-BE49-F238E27FC236}">
                <a16:creationId xmlns:a16="http://schemas.microsoft.com/office/drawing/2014/main" id="{80A86102-7D77-256D-EE85-F66DBA36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ITAJAÍ · SC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Polo OPASC — solução estrutural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necessária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terminal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greenfield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em Itajaí (polo OPASC = 81% gasolina SC) · O caminho atual: Grupo Ávila no foco · Stang preservada como referência (compliance bloqueado)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polo OPASC (Biguaçu + Itajaí + Guaramirim) responde por 81% do volume de gasolina de SC. Biguaçu frequentemente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tse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limita a cota dia Petrobras e transfere clientes para Itajaí. A estabilização do tanque de anidro em Biguaçu é operacional, não estrutural. 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Itajaí é a solução de longo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15.000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m³/mês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Movimentação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alvo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1.500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Parque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tancagem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Polo OPASC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% gasolina 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6B6B6B"/>
                </a:solidFill>
                <a:latin typeface="Calibri"/>
              </a:rPr>
              <a:t>406 m³</a:t>
            </a:r>
          </a:p>
          <a:p>
            <a:pPr algn="l"/>
            <a:r>
              <a:rPr lang="pt-BR" sz="1800" b="1" i="0" noProof="0" dirty="0">
                <a:solidFill>
                  <a:srgbClr val="6B6B6B"/>
                </a:solidFill>
                <a:latin typeface="Calibri"/>
              </a:rPr>
              <a:t>aprovados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Stang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(referência)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 (1ª possibilidade)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Grupo Ávila / Rede Galo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Configuração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modal rodoviário 1ª fase · possibilidade de interligação por duto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Próximo marco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Agenda das engenharias na 1ª quinzena de junho/26 (avaliação técnica)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B preservado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Stang — 406 m³ aprovados como referência · bloqueio compliance ativo (parecer Glencore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abr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/26)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Estabilização Biguaçu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Tanque de anidro voltou à operação · alívio operacional, não estrutural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SC é praça prioritária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3,7% · 788 postos no target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destrava captura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Avaliação técnica das engenharias em junho · paralelamente, validar minutas Biguaçu com novo cenário de bombeio · monitoramento jurídico trimestral da situação Stang (gatilho de reabertura).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Itajaí (Polo OPASC)  ·  página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7C96D9D1-8910-EBF3-998A-553753FA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SANTA MARIA · 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Rio Grande do Sul — entrada inorgânica sem CAPEX próprio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entrada em RS via cessão de espaço em terceiro (CAPEX mínimo) · O caminho atual: Rede SIM como contraparte (mesma do Pool Goiânia)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RS é praça onde o Plano de Expansão prevê crescimento inorgânico. Rede SIM dispõe de base nova em Santa Maria e propõe cessão de espaço com armazenagem dedicada. Mesma contraparte do projeto Goiânia–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Nexta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tornando-se parceira recorrente em pontos de capilaridade.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Phase-in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via cessão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Tipo de entrada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Mínimo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CAPEX próprio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Base nova</a:t>
            </a:r>
          </a:p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Rede 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Praça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Crescimento</a:t>
            </a:r>
          </a:p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inorgânico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RS classificação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Rede SIM (mesma do projeto Goiânia-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Nexta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Phase-in via cessão de armazenagem em base nova da contraparte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Pendente avaliação comercial · sem decisão estrutural neste momento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Padrão emergente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Rede SIM como parceira recorrente em capilaridade (GO + RS)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Aderência ao plano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RS = crescimento inorgânico no Plano de Expansão · entrada via terceiro é a tese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Validação do volume mínimo que justifique a economicidade da entrada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da avaliação comercial · definição do volume mínimo e tarifa · decisão sobre fechamento da cessão de espaço.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Santa Maria (RS)  ·  página 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EA049346-AE52-2AFD-B2F6-A0187BF2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PECÉM · 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Pecém — dupla janela estratégica no NE (CE + suprimento 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alternativa de entrada em CE + alternativa de suprimento NE · O caminho atual: proposta DISLUB recebida · NDA assinado · avaliação de viabilidade econômica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Pecém abre duas janelas simultâneas: alternativa de entrada em CE (hoje atendida por Fortaleza, alto custo Vibra) e alternativa de suprimento para a região hoje abastecida via Ipojuca/Cabedelo. A proposta DISLUB tem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compensável entre produtos, modal rodoviário + cabotagem com possibilidade futura de ferroviário. ALE inicia agora a avaliação de viabilidade econômica.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3.500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Tancagem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contratada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8.000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ToP</a:t>
            </a:r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 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R$ 78,00/m³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Preço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R$ 7,5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Custo anual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DISLUB · terminal marítimo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no Porto de Pecém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Produtos contratados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Diesel S10 (1.000) · Gasolina (1.500) · Anidro (300) · Hidratado (300)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BioD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(150)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Giro médio ponderado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2,29× (giros por produto: S10=2,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Gas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=2, Anidro/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Hid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=4,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BioD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=4)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Modal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Rodoviário + Cabotagem · possibilidade futura ferroviário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Prazo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10 anos (Jul/27 → Jul/37) · concessão do terminal 25 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Dupla janela estratégica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Alternativa a Fortaleza (CE) + alternativa de suprimento NE (Ipojuca/Cabedelo)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717804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7178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71780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Transnordestina (fase 1 PI→CE · 2027) + Hub H2V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Stolthaven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Pecém vira hub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multivetorial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Iniciar avaliação de viabilidade econômica · dimensionar impacto nas duas frentes simultaneamente (redução de custo em Fortaleza × suprimento NE) · NDA já assinado, decisão estrutural antes do start do terminal em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jul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/27.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3A · Novos Negócios · Pecém  ·  página 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6" name="Picture 25">
            <a:extLst>
              <a:ext uri="{FF2B5EF4-FFF2-40B4-BE49-F238E27FC236}">
                <a16:creationId xmlns:a16="http://schemas.microsoft.com/office/drawing/2014/main" id="{F039A6C2-2BDD-6FAF-0E93-13E14024B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36576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3584448"/>
            <a:ext cx="7560000" cy="73152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300" noProof="0" dirty="0">
                <a:solidFill>
                  <a:srgbClr val="3B95D3"/>
                </a:solidFill>
                <a:latin typeface="Calibri"/>
              </a:rPr>
              <a:t>B L O C O   3   ·   O S   3   P I L A R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682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Novas Ideias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1" noProof="0" dirty="0">
                <a:solidFill>
                  <a:srgbClr val="C8D8EC"/>
                </a:solidFill>
                <a:latin typeface="Calibri"/>
              </a:rPr>
              <a:t>Maturação, </a:t>
            </a:r>
            <a:r>
              <a:rPr lang="pt-BR" sz="1400" b="0" i="1" noProof="0" dirty="0" err="1">
                <a:solidFill>
                  <a:srgbClr val="C8D8EC"/>
                </a:solidFill>
                <a:latin typeface="Calibri"/>
              </a:rPr>
              <a:t>BIDs</a:t>
            </a:r>
            <a:r>
              <a:rPr lang="pt-BR" sz="1400" b="0" i="1" noProof="0" dirty="0">
                <a:solidFill>
                  <a:srgbClr val="C8D8EC"/>
                </a:solidFill>
                <a:latin typeface="Calibri"/>
              </a:rPr>
              <a:t>, renegociações e novas frentes · 13 movimentos contratuais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097280" cy="45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73152" cy="146304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F9E5C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BIDs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concluídos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ou em fechamento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717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107170" y="4023360"/>
            <a:ext cx="73152" cy="14630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24433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B5894"/>
                </a:solidFill>
                <a:latin typeface="Calibri"/>
              </a:rPr>
              <a:t>R$ 4,4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433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economia anual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consolidada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858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848580" y="4023360"/>
            <a:ext cx="73152" cy="146304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98574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E68A1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574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frentes em holding</a:t>
            </a:r>
          </a:p>
          <a:p>
            <a:pPr algn="ctr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stratégica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58999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589990" y="4023360"/>
            <a:ext cx="73152" cy="146304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72715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3B95D3"/>
                </a:solidFill>
                <a:latin typeface="Calibri"/>
              </a:rPr>
              <a:t>OPLA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15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novo BATNA real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do Pool Paulínia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9436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AS 13 FRENTES DO PILAR — POR ESTÁGIO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362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475488" y="640080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OPASC Biguaçu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64008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Estabilização operacional · ponte até Itajaí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40080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656832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475488" y="66568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65683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Chapecó — </a:t>
            </a:r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Maxissul</a:t>
            </a:r>
            <a:endParaRPr lang="pt-BR" sz="95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83280" y="6656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Captura SC fora do polo · cessão de espaço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665683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912864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475488" y="691286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91286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Combo MATOPIBA SL+PN+TER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691286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Granel · destrave cruzado · R$ 1,1 MM/ano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912864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7168896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75488" y="716889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71688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PE prioritária — Suape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716889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Ultracargo · −18% tarifa · alçada Conselho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7168896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7424928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475488" y="74249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74249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Paulínia — OPLA + Pool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74249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BATNA ferroviária · BID em curso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742492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7680960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475488" y="768096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76809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SJRP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76809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Ampliação estrutural exigida · pool em holding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76809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DÉFICIT CRÍT.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7936992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475488" y="793699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79369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Vitória — </a:t>
            </a:r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 (tático)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793699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Ampliação grade até SPE/Atlântica · R$ 1,3 MM/ano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793699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8193024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475488" y="819302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819302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Uberlândia — RUMOS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819302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Reposicionamento contratual · giro 2,5-3,5×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8193024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8449056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475488" y="844905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8449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Betim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844905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 err="1">
                <a:solidFill>
                  <a:srgbClr val="333333"/>
                </a:solidFill>
                <a:latin typeface="Calibri"/>
              </a:rPr>
              <a:t>Revamp</a:t>
            </a:r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 + automação · 90→140 km³/mês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0" y="8449056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8705088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2" name="TextBox 71"/>
          <p:cNvSpPr txBox="1"/>
          <p:nvPr/>
        </p:nvSpPr>
        <p:spPr>
          <a:xfrm>
            <a:off x="475488" y="870508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87050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Guarulhos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80" y="870508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Fortaleza posicional · opcionalidade parcerias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0" y="870508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8961120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475488" y="896112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89611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Cuiabá / Várzea Grande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89611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Pool hibernado · restrição regulatória MT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0" y="896112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9217152"/>
            <a:ext cx="6828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2" name="TextBox 81"/>
          <p:cNvSpPr txBox="1"/>
          <p:nvPr/>
        </p:nvSpPr>
        <p:spPr>
          <a:xfrm>
            <a:off x="475488" y="921715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9217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Guamaré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83280" y="92171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Pool IPP · perda estrutural −30% área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0" y="921715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9473184"/>
            <a:ext cx="6828480" cy="25603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7" name="TextBox 86"/>
          <p:cNvSpPr txBox="1"/>
          <p:nvPr/>
        </p:nvSpPr>
        <p:spPr>
          <a:xfrm>
            <a:off x="475488" y="947318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947318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Brasília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947318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333333"/>
                </a:solidFill>
                <a:latin typeface="Calibri"/>
              </a:rPr>
              <a:t>Sem alternativa · monitorar rentabilidade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943600" y="9473184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 · Novas Ideias  ·  página 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93" name="Picture 25">
            <a:extLst>
              <a:ext uri="{FF2B5EF4-FFF2-40B4-BE49-F238E27FC236}">
                <a16:creationId xmlns:a16="http://schemas.microsoft.com/office/drawing/2014/main" id="{AB46AD9F-4180-AFDA-A2B7-82CB6E94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BIGUAÇU · SC   (Polo OPASC)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OPASC SC — estabilização operacional como ponte até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Itajaí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estrutural: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greenfield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Itajaí (Bloco 3A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pág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16) · O caminho atual: validação de minutas com novo cenário de bombeio · risco Transpetro residual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polo OPASC (Biguaçu + Itajaí + Guaramirim) responde por 81% do volume de gasolina de SC. Em abril/26 a Transpetro restringira severamente a descarga de Anidro em Biguaçu, comprometendo os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bombeios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. O tanque voltou ao serviço e a operação ficou estável — mas o risco de nova restrição permanece. A solução estrutural continua sendo 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Itajaí (Bloco 3A ·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pág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15).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Polo OPASC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% gasolina SC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14.294</a:t>
            </a:r>
          </a:p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m³/mês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Movimentação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supera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Vs</a:t>
            </a:r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 projeção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−3,5%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Vs</a:t>
            </a:r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 projeção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Operadores no polo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Biguaçu (RDP) + Itajaí (RDP) + Guaramirim · com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cut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-off na Transpetro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Restrição original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Transpetro restringira descarga de Anidro em Biguaçu a partir de abril/26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 que mudou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Tanque de anidro retornou à operação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bombeios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estabilizados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 permanente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Nova restrição Transpetro pode acontecer · dependência exclusiva do duto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atual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Em validação de minutas com novos espaços, já considerando novo cenário de bombeio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Conexão estrutural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Solução de longo prazo = Itajaí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(absorve demanda + recebe importado)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Validar minutas com novos espaços · acompanhar Transpetro · monitorar avanço do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Itajaí como solução definitiva para o polo OPASC.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OPASC Biguaçu  ·  página 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190C6CC8-B97A-756F-9A13-94BC843E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CHAPECÓ · SC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Captura SC fora do polo OPASC — cessão de espaço como veículo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presença ALE em SC fora do gargalo OPASC · O caminho atual: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Maxissul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com tarifa e volume mínimo já definidos · em análise comercial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Chapecó complementa a captura de SC fora do polo OPASC, que hoje concentra 81% do volume estadual de gasolina. A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Maxissul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ofereceu cessão de espaço com tarifa e volume mínimo já definidos. A decisão depende da análise comercial sobre se o volume mínimo se justifica economicamente para o perfil de cliente Chapecó.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3,7%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SC: </a:t>
            </a:r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share</a:t>
            </a:r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-meta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projetado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788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Postos no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target 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Cessão</a:t>
            </a:r>
          </a:p>
          <a:p>
            <a:pPr algn="l"/>
            <a:r>
              <a:rPr lang="pt-BR" sz="1800" b="1" i="0" noProof="0" dirty="0">
                <a:solidFill>
                  <a:srgbClr val="1B5894"/>
                </a:solidFill>
                <a:latin typeface="Calibri"/>
              </a:rPr>
              <a:t>de espaço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Modelo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Captura SC</a:t>
            </a:r>
          </a:p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fora OPASC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Vinculação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Maxissul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(cedente local em Chapecó)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Cessão de espaço em base existente · tarifa e volume mínimo definidos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Em análise comercial do volume · falta validar economicidade da entrada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Aderência ao plano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SC = praça prioritária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3,7% · 788 postos no mercado-alvo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Diferencial estratégico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Captura geográfica adicional fora do polo OPASC (Itajaí/Biguaçu)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Volume mínimo pode não se justificar para perfil atual de clientes Chapecó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da análise comercial do volume · decisão sobre fechamento da cessão · se aprovado, integra com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Itajaí como cobertura SC completa.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Chapecó/</a:t>
            </a:r>
            <a:r>
              <a:rPr lang="pt-BR" sz="750" b="0" i="0" noProof="0" dirty="0" err="1">
                <a:solidFill>
                  <a:srgbClr val="6B6B6B"/>
                </a:solidFill>
                <a:latin typeface="Calibri"/>
              </a:rPr>
              <a:t>Maxissul</a:t>
            </a:r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  ·  página 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D9DDABD0-59A1-CCED-797D-9BA367DE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SÃO LUÍS · 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Combo MAPITO (SL + PN + Teresina) — destrave tarifário cruzado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capturar BATNA cruzada em três praças simultâneas · O caminho atual: cedente Granel · economia R$ 1,1 MM/ano · alçada Conselho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BID conduzido entre Granel e Ultracargo. Santos Brasil ficou fora por restrição contratual (multa R$ 10 MM). A proposta individual da Granel ficou atrás de Santos isolada (R$ 51,14), mas o desconto cruzado em três praças (SL + Porto Nacional + Teresina) supera o cenário Santos isolado em R$ 1,4 MM/ano. Recomendação: aceitar Granel pelo combo, não pelo BID individual.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R$ 58,65</a:t>
            </a:r>
          </a:p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→ 53,67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Tarifa efetiva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(atual → nova)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−8,5%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Redução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R$ 18,5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Valor 36 meses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R$ 1,1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Economia 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Cedente vencedor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Granel · combo São Luís + Porto Nacional + Teresina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Tarifa 1º giro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R$ 72,16 → 66,00 (−9%)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Tarifa 2º giro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R$ 21,20 → 33,00 (+56% · efeito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ToP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Take-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or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-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Pay</a:t>
            </a:r>
            <a:endParaRPr lang="pt-BR" sz="10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7.700 m³ → 10.395 m³ (+35%)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Combo cruzado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+R$ 1,4 MM/ano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vs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cenário Santos isolado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Pendência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Aprovação do Conselho · fechamento simultâneo das 3 praças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717804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7178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71780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TEMAPE Teresina/PI (terminal ferroviário · op. 2028) + Ultracargo Palmeirante/TO (op. set/25) reorganizam dinâmica MATOPIBA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Aprovação do Conselho · assinatura simultânea dos três contratos (SL + PN + Teresina) · Santos Brasil mantido (multa R$ 10 MM impede saída) como cedente principal.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Combo MATOPIBA  ·  página 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6" name="Picture 25">
            <a:extLst>
              <a:ext uri="{FF2B5EF4-FFF2-40B4-BE49-F238E27FC236}">
                <a16:creationId xmlns:a16="http://schemas.microsoft.com/office/drawing/2014/main" id="{51D8B498-9EB1-9B72-916C-832AC25AF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IPOJUCA · PE   (Suape)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PE prioritária — renovação tarifária em mercado saturado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capturar redução tarifária no único operador disponível · O caminho atual: Ultracargo única proposta no BID · −18% no 1º giro · alçada Conselho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BID com 4 operadores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Temape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Decal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Pandenor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Ultracargo) revelou saturação do mercado Suape — três operadores sem disponibilidade. Ultracargo apresentou única proposta, com redução de 18% na tarifa de 1º giro. Recomendação: aceitar Opção 1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fixo R$ 65). Risco mapeado: a entrada de Pecém (Bloco 3A ·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pág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17) pode roubar volume de Ipojuca.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R$ 78,89</a:t>
            </a:r>
          </a:p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→ 65,00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Tarifa 1º giro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(atual → nova)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−18%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Redução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R$ 8,4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Valor base 36m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~R$ 12,2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Com </a:t>
            </a:r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sobre-giro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Posição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Ultracargo 3.600 m³ (vence Jul/26) +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Temape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3.420 m³ (vence Jan/28)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Tarifa efetiva atual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R$ 53,71 · vol. médio 6.300 m³/mês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BID conduzido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4 operadores: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Temape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Decal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Pandenor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(sem disponibilidade) · Ultracargo única proposta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Opção 1 (recomendada)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ToP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Fixo · 1º giro R$ 65,00 · 2º giro R$ 39,00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ToP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3.600 m³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 mapeado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Início da operação Pecém (Jul/27) pode reduzir volume processado em Ipojuca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PE = praça prioritária · saturação de mercado limita BATNA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Aprovação do Conselho · fechamento Opção 1 (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ToP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fixo) · monitorar avanço Pecém para calibrar volume contratado nas renovações futuras.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Suape/Ultracargo  ·  página 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9F318D2E-D865-2D7B-7417-E4C4ECED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PAULÍNIA ·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Paulínia — BATNA ferroviária construída (OPLA) + Pool em holding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4692"/>
            <a:ext cx="68284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alternativa ferroviária para Centro-Oeste + descarga de importado e biocombustíveis · O caminho atual: OPLA via Grupo Ultra (BID em curso)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6828480" cy="109728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65541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A base da Torrão foi arrendada pela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Nexta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e ALE convidada a se retirar. A saída forçada virou janela estratégica: OPLA resolve três pontos de uma vez — alternativa ferroviária ao Pool, descarga de importado, rota para Centro-Oeste. Operação OPLA passa a ser a BATNA real do Pool de Paulínia (que permanece em holding, sem evolução das condôminas e da IPP).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TRÊS BENEFÍCIOS ESTRATÉGICOS DO OPLA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3872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2215200" cy="17830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73152" cy="17830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3B95D3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19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Alternativa ferroviária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1940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Reduz dependência do Pool de Paulínia · ferrovia disponível independentemente do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re-rateio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2400" y="3657600"/>
            <a:ext cx="2215200" cy="17830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2672400" y="3657600"/>
            <a:ext cx="73152" cy="17830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80956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3B95D3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9560" y="4206240"/>
            <a:ext cx="19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Descarga de importado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9560" y="4526280"/>
            <a:ext cx="1940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Restaura capacidade perdida com a saída da Torrão · operação importado preservada.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9040" y="3657600"/>
            <a:ext cx="2215200" cy="17830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4979040" y="3657600"/>
            <a:ext cx="73152" cy="17830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11620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3B95D3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6200" y="4206240"/>
            <a:ext cx="19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Rota para o Centro-Oeste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6200" y="4526280"/>
            <a:ext cx="1940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Abre canal de envio de importado para Rondonópolis, Cuiabá e Rio Verde · frete retorno possível.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692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POOL DE PAULÍNIA — DUAS FRENTES PARALELAS EM HOLDING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6188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Rectangle 29"/>
          <p:cNvSpPr/>
          <p:nvPr/>
        </p:nvSpPr>
        <p:spPr>
          <a:xfrm>
            <a:off x="365760" y="6126480"/>
            <a:ext cx="54864" cy="59436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530352" y="6172200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Re-rateio</a:t>
            </a:r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 do Pool ferroviário (Proposta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1908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Sem evolução · condôminas não demonstraram interesse no critério de movimentação histórica · ALE segue interessada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784848"/>
            <a:ext cx="54864" cy="59436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530352" y="683056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Pool com base rodoviária IPP (Proposta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7077456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IPP declinou no momento · tese estrutural preservada · sem contraparte engajada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7589520"/>
            <a:ext cx="6828480" cy="868680"/>
          </a:xfrm>
          <a:prstGeom prst="rect">
            <a:avLst/>
          </a:prstGeom>
          <a:solidFill>
            <a:srgbClr val="FD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Rectangle 36"/>
          <p:cNvSpPr/>
          <p:nvPr/>
        </p:nvSpPr>
        <p:spPr>
          <a:xfrm>
            <a:off x="365760" y="7589520"/>
            <a:ext cx="73152" cy="86868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548640" y="7699248"/>
            <a:ext cx="655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ATENÇÃO OPERACIONAL — JANELA DE 2 MESES SEM TANQUE DE GASOLINA NO OPLA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7973568"/>
            <a:ext cx="655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1B3A5F"/>
                </a:solidFill>
                <a:latin typeface="Calibri"/>
              </a:rPr>
              <a:t>Solução-ponte para Gasolina A é Ruff + Ipiranga durante a habilitação · operação ferroviária e demais produtos podem iniciar normalmente · gap S10 não é impactado.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8641080"/>
            <a:ext cx="6828480" cy="8686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548640" y="87508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9025128"/>
            <a:ext cx="646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Concluir BID com outros players em Paulínia · validar se OPLA é a melhor solução · acompanhar cronograma de habilitação do tanque de Gasolina · monitorar movimentos do Pool.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964692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SP é eixo crítico · Paulínia é nó logístico para o Centro-Oeste · ver Bloco 1 ·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pág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 5.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Paulínia (OPLA + Pool)  ·  página 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46" name="Picture 25">
            <a:extLst>
              <a:ext uri="{FF2B5EF4-FFF2-40B4-BE49-F238E27FC236}">
                <a16:creationId xmlns:a16="http://schemas.microsoft.com/office/drawing/2014/main" id="{0740B2FF-40CC-7445-16B4-83BE1A42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SÃO JOSÉ DO RIO PRETO ·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DÉFICIT 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SJRP — déficit crítico estrutural exige 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ampliação estrutural de capacidade · O caminho atual: Pool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IPP+Vibra+ALE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em holding · IPP condicionou avanço à Guarulhos (ALE não aceita)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SJRP é DÉFICIT CRÍTICO — não é frente em holding passivo, é praça que exige ação estrutural antes que a restrição comercial se torne irreversível. A formação de pool com IPP e Vibra é UMA das ações possíveis (atualmente em holding pela condicionante Guarulhos imposta pela IPP). Outras alternativas precisam ser exploradas em paralelo — ampliação própria, novo cedente ou negociação isolada com Vibra — porque a posição atual não pode continuar como está.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EFOP 2025 -R$ 47,20/m³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 atual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18,9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4,2 mil 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Necessária</a:t>
            </a:r>
          </a:p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em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estrutural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Tese estrutural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012471"/>
            <a:ext cx="3902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Sem ação até 2026, gargalo limita projeção comercial SP interior · não é cenário aceitável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455176"/>
            <a:ext cx="2560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atual (em holding)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Pool de 3 distribuidoras (IPP + Vibra + ALE) — IPP condicionou a Guarulhos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Posição ALE sobre o vínculo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Não aceita · tamanhos e relevâncias desiguais entre as duas praças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Alternativas a explorar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Ampliação própria · novo cedente local · negociação isolada com Vibra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 de inércia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Quanto mais tempo no holding, mais difícil reverter perda de competitividade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sem ligação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Tema 100% interno ALE · sem projetos de infraestrutura externos relevantes para SJRP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Abrir frentes alternativas ao Pool · não esperar movimento da IPP · estruturar análise de ampliação própria e contato com Vibra fora do pool · decisão executiva no 3º trimestre/26.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SJRP (déficit crítico)  ·  página 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728CD2F8-9ACB-7EE1-AE80-A3398533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VITÓRIA · 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Vitória — mitigação tática até destrave estrutural (SPE / Atlântica)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tática: ampliação de grade para cobrir gap até 2028 · O caminho atual: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Otamérica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grade 315 → 390 m³/dia · Atlântica em sondagem (sem NDA)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Vitória opera no limite da grade contratada.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Otamérica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oferece ampliação 315 → 390 m³/dia (+75 m³/dia, +R$ 110 k/mês, R$ 1,32 MM/ano). Cobre média 2026 com folga, mas não resolve picos nem o gap estrutural 2030 (−365 m³/dia em pico). Recomendação: aceitar — prêmio razoável pela previsibilidade contratual enquanto SPE (Bloco 3A ·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pág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14) e Atlântica não maturam. Atlântica permanece em sondagem informal, sem NDA.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315 → 390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m³/dia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Grade ampliada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R$ 1,32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Custo 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−365 m³/dia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Gap pico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R$ 243/m³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Margem ES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(maior do plano)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Posição cativa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Operador único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Otamérica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/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Oiltank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contrato vigente até 2029 · sem alternativa física curto prazo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Oferta na mesa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Ampliação grade 315 → 390 m³/dia (+75 · +2.250 m³/mês) · R$ 110 k/mês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 que resolve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Cobre média 2026 (gap −8 → +67 m³/dia) · reduz dependência da grade pública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 que NÃO resolve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Picos · gap estrutural 2030 (demanda média 340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vs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grade 390 · pico esperado ~680)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Atlântica (em holding)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Sondagem com dono em estágio informal · sem NDA · dependência: interesse do dono em vender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ES = praça prioritária · maior margem do plano (R$ 243/m³)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Decisão interna ALE sobre ampliação grade (negociação concluída) · em paralelo, avançar SPE 3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majors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· manter Atlântica como opcionalidade futura · solução estrutural só com SPE operacional em 2028.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Vitória/</a:t>
            </a:r>
            <a:r>
              <a:rPr lang="pt-BR" sz="750" b="0" i="0" noProof="0" dirty="0" err="1">
                <a:solidFill>
                  <a:srgbClr val="6B6B6B"/>
                </a:solidFill>
                <a:latin typeface="Calibri"/>
              </a:rPr>
              <a:t>Otamérica</a:t>
            </a:r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 (tático)  ·  página 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1511C384-3D6C-9AFF-C5A3-E8FD9DD89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UBERLÂNDIA · MG   (RUMOS)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Uberlândia — reposicionamento contratual (receber carteira Uberaba)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estrutura contratual viável para Uberlândia receber carteira migrada de Uberaba · O caminho atual: renegociação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ToP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com RUMOS · isolar o giro como única variável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Uberlândia é diferente de Maceió e Crato (Bloco 3C): aqui não se discute saída da praça, mas renegociação contratual com RUMOS. Como Uberaba está em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-out, Uberlândia ganha relevância estratégica — vai absorver a carteira migrada. A proposta atual de RUMOS (Take-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or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Pay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670 m³, giro 5,6×) é desfavorável.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Breakeven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em 4,43×. Estratégia: isolar o giro como única variável negociada, manter tancagem fixa, puxar para 2,5–3,5×.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670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Tancagem (fixa)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5,6×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Giro atual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proposto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4,43×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Breakeven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2,5-3,5×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Target 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RUMOS · operador logístico ferroviário em Uberlândia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Take-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or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Pay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670 m³ tancagem · giro como multiplicador do volume contratado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Proposta atual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Giro 5,6× · valor anual desfavorável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vs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alternativas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Breakeven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 modelado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4,43× · acima disso,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deal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entra em valor incremental negativo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Conexão com Coragem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Uberlândia absorve carteira de Uberaba (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-out · Bloco 3C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29)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Vantagem produto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R$ 20/m³ no preço de derivados (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Gas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A, S10, S500) · excluindo frete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Contraproposta ALE com giro 2,5-3,5× e tancagem inalterada · dimensionar economia anual em cenário-target · decisão final após convergência da contraparte (ou retirada da mesa).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Uberlândia/RUMOS  ·  página 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1CEFF5B2-3143-7C4D-A31D-6E1FE969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BETIM · MG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Betim — destrave de capacidade via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revamp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hidráulico + automação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estrutural: destravar teto de movimentação de Betim · O caminho atual: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revamp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hidráulico + projetos de automação no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pipe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· alvo 90 → 140 km³/mês (+55%)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Betim entra como nova contratação ALE via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bundle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IPP (Bloco 3A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pág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13), mas a alavanca real está dentro da própria base: 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revamp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hidráulico e os projetos de automação permitirão sair de um teto operacional atual de 90 km³/mês para 140 km³/mês — aumento de 55% na movimentação máxima sem CAPEX em nova tancagem. É destrave de capital existente, não construção de novo ativo.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90 km³/mês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Teto atual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140 km³/mês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Teto pós-</a:t>
            </a:r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revamp</a:t>
            </a:r>
            <a:endParaRPr lang="pt-BR" sz="900" b="0" i="0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+55%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Ganho de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 err="1">
                <a:solidFill>
                  <a:srgbClr val="3B95D3"/>
                </a:solidFill>
                <a:latin typeface="Calibri"/>
              </a:rPr>
              <a:t>Revamp</a:t>
            </a:r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 +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Automação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Tipo de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investimento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Solução estrutural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Revamp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hidráulico + projetos de automação no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pipe</a:t>
            </a:r>
            <a:endParaRPr lang="pt-BR" sz="10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Teto operacional atual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90 km³/mês — limita escala de movimentação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Teto pós-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revamp</a:t>
            </a:r>
            <a:endParaRPr lang="pt-BR" sz="10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140 km³/mês — destrava ambição comercial em MG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Conexão com 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 IPP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Betim entrou como nova contratação via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bundle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Belém+Cubatão+Betim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(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13)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Tipo de capital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CAPEX em ativos existentes · não constrói tanque novo · destrava capital empregado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sem ligação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Tema 100% interno ALE · solução de engenharia · sem dependência externa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Detalhamento técnico do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revamp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hidráulico · cronograma de execução · aprovação interna do CAPEX · sequenciamento com a entrada operacional via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IPP · acompanhar evolução da movimentação real vs. teto destravado.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Betim (</a:t>
            </a:r>
            <a:r>
              <a:rPr lang="pt-BR" sz="750" b="0" i="0" noProof="0" dirty="0" err="1">
                <a:solidFill>
                  <a:srgbClr val="6B6B6B"/>
                </a:solidFill>
                <a:latin typeface="Calibri"/>
              </a:rPr>
              <a:t>revamp</a:t>
            </a:r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 + automação)  ·  página 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C96E8141-C082-B751-0D79-52C7E8ED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GUARULHOS · 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Guarulhos — fortaleza posicional com opcionalidade de parcerias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solução: rentabilizar a fortaleza posicional via parcerias seletivas · O caminho atual: ALE vem sendo procurada por múltiplos players · avaliação caso a caso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Guarulhos é uma fortaleza da ALE — base com capacidade, localização privilegiada (eixo SP) e atratividade comprovada pelo mercado. Nos últimos meses, a ALE foi procurada por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Inpasa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, FS, DTC, Ipiranga e tradings menores como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Nimofast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e Midas. Cada aproximação é uma janela para parcerias que adicionam valor — seja por cessão de espaço, swap, ou serviços. O ativo está consolidado; a oportunidade é rentabilização incremental.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Fortaleza</a:t>
            </a:r>
          </a:p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posicional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Eixo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6+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Players que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procuraram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Rentabilizar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Tese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Posicionamento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Fortaleza ALE em SP · localização e capacidade que atraem aproximações de mercado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Contrapartes que procuraram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Inpasa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FS · DTC · Ipiranga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Nimofast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· Midas (tradings menores)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Tipo de oportunidade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Cessão de espaço · swap · operação conjunta · serviços de armazenagem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Postura 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Avaliação caso a caso · não há urgência de fechar · seletividade preserva valor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Conexão com SJRP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Guarulhos é a praça que IPP condicionou ao SJRP — ALE não aceita o vínculo (ver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25)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sem ligação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Sem projeto externo relevante · Santos STS08 bloqueado pelo TCU não impacta diretamente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Estruturar critério de avaliação das aproximações (margem incremental,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fit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operacional, exclusividade) · priorizar contrapartes que adicionem valor sem comprometer flexibilidade estratégica · não vincular Guarulhos a outras frentes (SJRP).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Guarulhos (fortaleza)  ·  página 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93D453E1-AD45-32A3-63AA-B23B7A41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3C514BB1-60E1-8486-31ED-41F1A274E385}"/>
              </a:ext>
            </a:extLst>
          </p:cNvPr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CUIABÁ / VÁRZEA GRANDE · 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Cuiabá / Várzea Grande — pool hibernado sob restrição regulatória 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desejada: sair do pool (sem uso) · O bloqueio atual: legislação MT exige comprovação de tancagem própria · consultas formais em curso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pool de Cuiabá/Várzea Grande está hibernado — ALE não usa operacionalmente. O caminho natural seria saída do pool, mas a legislação do Mato Grosso (única no país junto com MS) exige comprovação de tancagem própria no estado para operação. Sair do pool implicaria perder direito de operar em MT. A ALE já fez consultas formais ao estado solicitando alinhamento com o modelo do restante do país (cessão de espaço suficiente). Sem mudança regulatória, o pool permanece como custo de manutenção do direito de operar.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Hibernado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Uso operacional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Legislação</a:t>
            </a:r>
          </a:p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MT (e 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Restrição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Consultas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formais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Ação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Situação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Pool hibernado · ALE não utiliza operacionalmente · custo de manutenção do direito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Restrição regulatória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Legislação MT exige tancagem própria comprovada (mesmo modelo MS)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Modelo do restante do país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Cessão de espaço é suficiente · MT e MS são exceções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Ação 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Consultas formais ao estado solicitando alinhamento ao modelo nacional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Cenário desejado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Mudança regulatória permite saída do pool sem perder direito de operar em MT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FS Campo Novo + INPASA Nova Mutum/Rondonópolis + RRP Tapurah + FMT/Rumo MT reorganizam o estado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Acompanhar evolução das consultas formais · monitorar movimentações legislativas em MT e MS · não há ação executiva no curto prazo · frente entra em monitoramento regulatório com retomada imediata se a legislação mudar.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Cuiabá / Várzea Grande  ·  página 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6A8EB056-58B0-8A25-A41D-69398F24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GUAMARÉ · 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Guamaré — Pool IPP em perda estrutural de área de influência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questão estrutural: área de influência diminuindo · O caminho atual: monitorar e dimensionar · entrada do Pecém pode acelerar a perda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Guamaré tem perda estrutural de área de influência. Para a ALE, a movimentação caiu ~30% entre 2024 e 2026. Em 2026, 47,5% do RN é abastecido via vendas diretas de outros estados — Ipojuca (24%) e Cabedelo (20%) — quando esse número era 3,6% em 2022. A saída da Raízen da filial indica problema estrutural de mercado, não apenas ALE. A entrada operacional do Pecém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jul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/27) pode acelerar essa perda. A base entra em monitoramento ativo com dimensionamento de cenário de saída no horizonte do plano.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−30%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Movimentação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ALE 24→26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47,5%</a:t>
            </a:r>
          </a:p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6B6B6B"/>
                </a:solidFill>
                <a:latin typeface="Calibri"/>
              </a:rPr>
              <a:t>Abast</a:t>
            </a:r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. RN via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outros estados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3,6%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Mesmo dado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em 2022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Saiu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Raízen na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filial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Movimentação 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Queda de ~30% entre 2024 e 2026 · perda estrutural, não conjuntural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Abastecimento RN — distribuição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47,5% via outros estados (2026): Ipojuca 24% + Cabedelo 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Mesmo dado em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3,6% — salto reflete perda estrutural de competitividade Guamaré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Saída da Raízen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Sinal de problema estrutural de mercado, não apenas 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Ameaça adicional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Entrada operacional do Pecém em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jul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/27 pode acelerar perda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Guamaré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ligação direta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Pecém Parque Tancagem (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ago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/27 · Bloco 3A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18) + Transnordestina · redefinem dinâmica 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Dimensionar cenário de viabilidade da filial no horizonte 2027-2030 · cruzar com avanço Pecém · incluir Guamaré no Pipeline de Locais Não Rentáveis (Bloco 4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pág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41) se a tendência se confirmar · decisão estrutural ao longo de 2027.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Guamaré (Pool IPP)  ·  página 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6E1028E4-D1FD-FCC1-10B1-E3B35F7F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BRASÍLIA · 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Brasília — sem alternativa de armazenagem · monitoramento de rentabilidade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questão estrutural: não há opções de armazenagem na região · acompanhar rentabilidade e área de influência da filial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Brasília não tem opções de armazenagem disponíveis na região — não há cedente alternativo, não há base ALE adicional, não há terminal novo em horizonte visível. A operação atual é o que existe. A ação possível é acompanhamento contínuo da rentabilidade e da área de influência da filial. Se houver deterioração estrutural (similar ao caso Guamaré), a frente migra para análise de viabilidade no Bloco 3C. Por ora, monitoramento.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Não há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Alternativas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 armazenagem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Monitorar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Acompanhar</a:t>
            </a:r>
          </a:p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rentabilidade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Ação possível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Deterioração</a:t>
            </a:r>
          </a:p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estrutural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Próximo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gatilho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Diagnóstico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Sem opções de armazenagem na região · sem cedente alternativo no curto prazo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Posicionamento DF no plano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Reclassificado para Seletiva (era Defesa em 2024) · base mantida operacional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Variáveis a acompanhar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Rentabilidade · área de influência · custo unitário · movimento de concorrentes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Gatilho para reavaliação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Deterioração estrutural similar a Guamaré (perda de movimentação +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share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Frente migra para Coragem 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Indicadores apontarem inviabilidade econômica · análise de saída se justificar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Radar externo · sem ligação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Sem projeto externo relevante para DF · região sem dinâmica de infraestrutura prevista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Acompanhamento trimestral de rentabilidade e área de influência · estabelecer indicadores de alerta · sem ação executiva no curto prazo · base segue como observação ativa no plano.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3B · Novas Ideias · Brasília (monitoramento)  ·  página 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4EE3BAF3-CFD5-DDB6-332E-023FBE65A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36576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3584448"/>
            <a:ext cx="7560000" cy="73152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300" noProof="0" dirty="0">
                <a:solidFill>
                  <a:srgbClr val="3B95D3"/>
                </a:solidFill>
                <a:latin typeface="Calibri"/>
              </a:rPr>
              <a:t>B L O C O   3   ·   O S   3   P I L A R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682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Coragem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1" noProof="0" dirty="0">
                <a:solidFill>
                  <a:srgbClr val="C8D8EC"/>
                </a:solidFill>
                <a:latin typeface="Calibri"/>
              </a:rPr>
              <a:t>Identificação contínua de locais não rentáveis · </a:t>
            </a:r>
            <a:r>
              <a:rPr lang="pt-BR" sz="1400" b="0" i="1" noProof="0" dirty="0" err="1">
                <a:solidFill>
                  <a:srgbClr val="C8D8EC"/>
                </a:solidFill>
                <a:latin typeface="Calibri"/>
              </a:rPr>
              <a:t>phase-outs</a:t>
            </a:r>
            <a:r>
              <a:rPr lang="pt-BR" sz="1400" b="0" i="1" noProof="0" dirty="0">
                <a:solidFill>
                  <a:srgbClr val="C8D8EC"/>
                </a:solidFill>
                <a:latin typeface="Calibri"/>
              </a:rPr>
              <a:t> · capital reciclado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097280" cy="45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73152" cy="146304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F9E5C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phase-outs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em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execução ou fechados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717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107170" y="4023360"/>
            <a:ext cx="73152" cy="146304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24433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E61E2D"/>
                </a:solidFill>
                <a:latin typeface="Calibri"/>
              </a:rPr>
              <a:t>R$ 10,4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433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drenagem evitada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em 10 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858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848580" y="4023360"/>
            <a:ext cx="73152" cy="146304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98574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E68A1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574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filiais em estudo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de viabilidade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9990" y="4023360"/>
            <a:ext cx="160425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589990" y="4023360"/>
            <a:ext cx="73152" cy="14630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727150" y="425196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1B5894"/>
                </a:solidFill>
                <a:latin typeface="Calibr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150" y="4892040"/>
            <a:ext cx="13756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aberto ·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41</a:t>
            </a:r>
          </a:p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para próximos candidatos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9436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AS FRENTES DE CORAGEM — POR ESTÁGIO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362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682848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400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Phase Out Rio Grande · 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2211" y="64008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Fechado · operação encerrada · sem carteira ativa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455664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784848"/>
            <a:ext cx="6828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6784848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784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Phase Out Uberaba · MG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2211" y="678484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Fase final · migração de carteira para Uberlândia (60 km)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683971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7168896"/>
            <a:ext cx="682848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02920" y="7168896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7168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Phase Out Bahia-Democráticas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2211" y="7287823"/>
            <a:ext cx="30175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Itabuna × Jequié · análise comercial em curso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72237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7552944"/>
            <a:ext cx="6828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02920" y="7552944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7552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Impacto Consolidado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2211" y="755294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R$ 10,4 MM em 10 anos · capital reciclado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760780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7936992"/>
            <a:ext cx="682848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502920" y="793699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793699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Maceió · AL — em análise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92211" y="793699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Análise de viabilidade · IPP como alavanca via Paulínia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7991856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8321040"/>
            <a:ext cx="6828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502920" y="832104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832104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Crato · CE — em análise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92211" y="832104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S10 melhora mix · monopólio Vibra na região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8375904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8705088"/>
            <a:ext cx="682848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502920" y="8705088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870508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Acompanhamento Externo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92211" y="870508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Radar de infraestrutura · projetos sem ligação ALE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8759952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RADAR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9089136"/>
            <a:ext cx="6828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502920" y="9089136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B5894"/>
                </a:solidFill>
                <a:latin typeface="Calibri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908913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→ Pipeline · Bloco 4 · </a:t>
            </a:r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pág</a:t>
            </a:r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 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92211" y="908913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333333"/>
                </a:solidFill>
                <a:latin typeface="Calibri"/>
              </a:rPr>
              <a:t>Quadro consolidado · próximos candidatos a avaliar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914400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TESE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 · Coragem  ·  página 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68" name="Picture 25">
            <a:extLst>
              <a:ext uri="{FF2B5EF4-FFF2-40B4-BE49-F238E27FC236}">
                <a16:creationId xmlns:a16="http://schemas.microsoft.com/office/drawing/2014/main" id="{44AAA8BE-47A4-1DDE-DF67-365AB7DC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RIO GRANDE · 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Phase Out Rio Grande — operação encerrada conforme planejado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Margem negativa estrutural · sem carteira ativa relevante · custos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one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-off já dimensionados no NPV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Decisão de saída tomada com base em margem negativa estrutural e ausência de carteira ativa relevante. Não havia migração de clientes a planejar — Rio Grande era posição de capital ocioso sem retorno comercial. A operação foi encerrada conforme planejado; encerramento administrativo e descomissionamento em andamento.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5,4 mil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0,6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Capital ocioso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Fechado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Decisão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Aprovado por logística e financeiro · alçada 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Justificativa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Margem negativa estrutural · sem carteira ativa relevante para migração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Carteira migrada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Não havia carteira a migrar · decisão de saída pura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Custos </a:t>
            </a:r>
            <a:r>
              <a:rPr lang="pt-BR" sz="1000" b="1" i="0" noProof="0" dirty="0" err="1">
                <a:solidFill>
                  <a:srgbClr val="1B3A5F"/>
                </a:solidFill>
                <a:latin typeface="Calibri"/>
              </a:rPr>
              <a:t>one</a:t>
            </a:r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-off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Já dimensionados e contabilizados no NPV anterior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atual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Encerramento administrativo e descomissionamento em andamento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RS reclassificado para Seletiva (crescimento inorgânico) · Rio Grande não compõe a tese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do encerramento administrativo · descomissionamento físico · frente entra em fase puramente operacional, sem novos marcos comerciais.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Phase Out Rio Grande  ·  página 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DEC00D7A-D3EB-E96B-3D16-DEA5D9B47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UBERABA · MG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Phase Out Uberaba — fase final, migração para Uberlândia (60 km) em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Operação administrativa mantida para preservar cota Petrobras · descomissionamento físico autorizado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Uberaba é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 com migração de carteira. A 60 km de Uberlândia, a migração ocorre sem impacto operacional relevante para os clientes — volume sendo absorvido pela base vizinha. Detalhe importante: manteremos a operação administrativa de Uberaba mesmo após descomissionamento físico, para preservar a cota Petrobras (exigência regulatória).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1,2 mil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0,4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60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Distância para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Uberlândia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F9E5C"/>
                </a:solidFill>
                <a:latin typeface="Calibri"/>
              </a:rPr>
              <a:t>Fase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Decisão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Aprovado por logística e financeiro · alçada 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Base receptora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Uberlândia (60 km de Uberaba · mesmo eixo logístico)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Carteira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Migração em curso · volume sendo absorvido sem impacto operacional relevante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Operação administrativa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Mantida pós-descomissionamento físico para preservar cota Petrobras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atual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Em fase final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-out · desmobilização dos contratos remanescentes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MG = base não rentável no eixo Uberlândia · capital ocioso justifica concentração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out físico · desmobilização dos contratos remanescentes · Uberaba permanece como operação administrativa (cota Petrobras preservada).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Phase Out Uberaba  ·  página 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4C2D0BAB-1E9D-CE46-2D0E-D45E3B502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ITABUNA  OU  JEQUIÉ · 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Phase Out Bahia-Democráticas — decisão composta avança para fase de comunicação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Itabuna × Jequié · análise comercial em curso · estruturação operacional do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phase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-out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Capacidades e demandas similares (0,9 e 1,0 mil m³ · 0,2 mil m³ demanda 2030 ambas). Análise comercial em curso prepara a comunicação a clientes e a estruturação operacional para conclusão do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 das duas praças. Bahia é a única UF identificada exclusivamente em B2B no Plano de Expansão.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0,9 mil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Itabuna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1,0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Jequié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0,2 mil 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ambas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≈80%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Capital ocioso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Decisão pendente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089416"/>
            <a:ext cx="3902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Análise do Impacto Comercial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Capacidades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Itabuna 0,9 mil m³ · Jequié 1,0 mil m³ (similares)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Demandas 2030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0,2 mil m³ em ambas · capital ocioso ≈80% em qualquer cenário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Status atual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Em fase de análise comercial para comunicar clientes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Estruturação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Decisão composta orienta estruturação operacional do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BA = única UF exclusivamente em B2B · sem prioridade para postos REDE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Conclusão da análise comercial · decisão Itabuna × Jequié · comunicação a clientes · execução do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-out da praça selecionada.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Phase Out Bahia  ·  página 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0161E01E-D7D3-D550-0878-3651490D9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3 C   ·   C O R A G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Impacto consolidado dos </a:t>
            </a:r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phase-outs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— R$ 10,4 MM em 10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Visão financeira agregada · drenagem evitada por base · capital liberado para reinvestimento ofensivo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601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Os três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phase-outs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(Rio Grande, Uberaba, Bahia) somados representam R$ 10,4 MM de drenagem evitada em 10 anos. Não é só corte de custos: é capital reciclado para os movimentos do Bloco 3A — Caxias EFEN,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bundling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IPP,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Itajaí. Coragem financia Novos Negócios.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DRENAGEM EVITADA POR BASE — VISÃO 10 ANOS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2724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6828480" cy="3657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75488" y="32918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2918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UF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2918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2918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DEMANDA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9184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DRENAGEM (10A)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291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6828480" cy="4114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73152" cy="41148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475488" y="3657600"/>
            <a:ext cx="1536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Rio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657600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5894"/>
                </a:solidFill>
                <a:latin typeface="Calibri"/>
              </a:rPr>
              <a:t>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65760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5,4 mil 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65760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0,6 mil 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65760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E61E2D"/>
                </a:solidFill>
                <a:latin typeface="Calibri"/>
              </a:rPr>
              <a:t>R$ 4,2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3657600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1F9E5C"/>
                </a:solidFill>
                <a:latin typeface="Calibri"/>
              </a:rPr>
              <a:t>Fechado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80"/>
            <a:ext cx="682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73152" cy="41148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75488" y="4069080"/>
            <a:ext cx="1536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Uberaba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069080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5894"/>
                </a:solidFill>
                <a:latin typeface="Calibri"/>
              </a:rPr>
              <a:t>MG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406908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1,2 mil m³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06908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0,4 mil m³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406908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E61E2D"/>
                </a:solidFill>
                <a:latin typeface="Calibri"/>
              </a:rPr>
              <a:t>R$ 2,1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4069080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1F9E5C"/>
                </a:solidFill>
                <a:latin typeface="Calibri"/>
              </a:rPr>
              <a:t>Fase final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80560"/>
            <a:ext cx="6828480" cy="4114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Rectangle 34"/>
          <p:cNvSpPr/>
          <p:nvPr/>
        </p:nvSpPr>
        <p:spPr>
          <a:xfrm>
            <a:off x="365760" y="4480560"/>
            <a:ext cx="73152" cy="4114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475488" y="4609356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dirty="0">
                <a:solidFill>
                  <a:srgbClr val="1B3A5F"/>
                </a:solidFill>
                <a:latin typeface="Calibri"/>
              </a:rPr>
              <a:t>Jequié / Itabuna</a:t>
            </a:r>
            <a:endParaRPr lang="pt-BR" sz="10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21408" y="4480560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5894"/>
                </a:solidFill>
                <a:latin typeface="Calibri"/>
              </a:rPr>
              <a:t>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4328" y="448056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≈1,0 mil m³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48056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0,2 mil m³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6008" y="448056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E61E2D"/>
                </a:solidFill>
                <a:latin typeface="Calibri"/>
              </a:rPr>
              <a:t>R$ 1,9 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4480560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B95D3"/>
                </a:solidFill>
                <a:latin typeface="Calibri"/>
              </a:rPr>
              <a:t>Em decisão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92040"/>
            <a:ext cx="6828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Rectangle 42"/>
          <p:cNvSpPr/>
          <p:nvPr/>
        </p:nvSpPr>
        <p:spPr>
          <a:xfrm>
            <a:off x="365760" y="4892040"/>
            <a:ext cx="73152" cy="41148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475488" y="4892040"/>
            <a:ext cx="1536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Operação adm. Uberaba*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1408" y="4892040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5894"/>
                </a:solidFill>
                <a:latin typeface="Calibri"/>
              </a:rPr>
              <a:t>MG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24328" y="489204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0168" y="4892040"/>
            <a:ext cx="896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6008" y="4892040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E61E2D"/>
                </a:solidFill>
                <a:latin typeface="Calibri"/>
              </a:rPr>
              <a:t>Cota Petrobras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892040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1B5894"/>
                </a:solidFill>
                <a:latin typeface="Calibri"/>
              </a:rPr>
              <a:t>Mantida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303520"/>
            <a:ext cx="6828480" cy="4572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548640" y="53035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1" i="0" spc="200" noProof="0" dirty="0">
                <a:solidFill>
                  <a:srgbClr val="FFFFFF"/>
                </a:solidFill>
                <a:latin typeface="Calibri"/>
              </a:rPr>
              <a:t>TOTAL CONSOLIDADO (3 </a:t>
            </a:r>
            <a:r>
              <a:rPr lang="pt-BR" sz="1100" b="1" i="0" spc="200" noProof="0" dirty="0" err="1">
                <a:solidFill>
                  <a:srgbClr val="FFFFFF"/>
                </a:solidFill>
                <a:latin typeface="Calibri"/>
              </a:rPr>
              <a:t>phase-outs</a:t>
            </a:r>
            <a:r>
              <a:rPr lang="pt-BR" sz="1100" b="1" i="0" spc="200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3035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R$ 10,4 MM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5303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FFFFFF"/>
                </a:solidFill>
                <a:latin typeface="Calibri"/>
              </a:rPr>
              <a:t>drenagem 10A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26364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REINVESTIMENTO DIRECIONADO — CAPITAL RECICLADO PARA NOVOS NEGÓCIOS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55624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Rectangle 55"/>
          <p:cNvSpPr/>
          <p:nvPr/>
        </p:nvSpPr>
        <p:spPr>
          <a:xfrm>
            <a:off x="365760" y="6720840"/>
            <a:ext cx="54864" cy="5943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530352" y="6766560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Caxias / EFEN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701344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Venda 6,4% liberta R$ 8 MM · NPV R$ 12,6 MM em 10A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7379208"/>
            <a:ext cx="54864" cy="5943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530352" y="7424928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 IPP (3 praças)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" y="7671816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Economia −R$ 3,8 MM até dez/27 · efeito recorrente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8037576"/>
            <a:ext cx="54864" cy="5943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530352" y="8083296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 Itajaí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8330184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CAPEX para destrave estrutural do polo OPASC (SC prioritária)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8695944"/>
            <a:ext cx="54864" cy="5943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530352" y="8741664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Vitória SPE / </a:t>
            </a:r>
            <a:r>
              <a:rPr lang="pt-BR" sz="1050" b="1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endParaRPr lang="pt-BR" sz="105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30352" y="898855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R$ 1,32 MM/ano por previsibilidade contratual em praça com maior margem (R$ 243/m³)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950976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* A operação administrativa de Uberaba é mantida pós-descomissionamento físico para preservar a cota Petrobras (exigência regulatória).  Valores estimados com base em fluxo de drenagem observado nos últimos 12 meses · sensibilidade aos preços de derivados.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Impacto Consolidado  ·  página 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1" name="Picture 25">
            <a:extLst>
              <a:ext uri="{FF2B5EF4-FFF2-40B4-BE49-F238E27FC236}">
                <a16:creationId xmlns:a16="http://schemas.microsoft.com/office/drawing/2014/main" id="{EE1975E4-BD36-1462-1512-7F09A52D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MACEIÓ · 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Maceió — análise de saída × manutenção (IPP como possível alavanca)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estrutural: definir destino da filial · O caminho atual: análise de viabilidade em curso · IPP como única alavanca de BATNA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Maceió é alto custo unitário com Vibra como operador único. A análise de viabilidade da filial está em curso. IPP é o outro operador. Decisão do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 depende da análise de rentabilidade da filial.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0,9 mil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0,8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E61E2D"/>
                </a:solidFill>
                <a:latin typeface="Calibri"/>
              </a:rPr>
              <a:t>R$ 97/m³</a:t>
            </a:r>
            <a:endParaRPr lang="pt-BR" sz="1800" b="1" i="0" noProof="0" dirty="0">
              <a:solidFill>
                <a:srgbClr val="E61E2D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5740" y="3794760"/>
            <a:ext cx="132993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Tarifa média de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3B95D3"/>
                </a:solidFill>
                <a:latin typeface="Calibri"/>
              </a:rPr>
              <a:t>IPP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Alavanca</a:t>
            </a:r>
          </a:p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potencial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Operador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Vibra (alto custo unitário · sem BATNA geográfica imediata)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Capacidade × demanda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4924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0,9 mil m³ × 0,8 mil m³ demanda 2030 · equilíbrio crítico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Análise em curso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71500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Viabilidade da filial Maceió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-out × manutenção × ampliação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Alavanca IPP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8076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Único operador local sem contrato ALE · relação estabelecida via Paulínia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4652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AL = praça que requer análise dedicada · margem favorável compensa custo se houver volume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8122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6812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Risco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8122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Sem ação, Vibra mantém tarifa extraída pelo monopolista 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Concluir análise de viabilidade da filial · abrir conversa exploratória com IPP usando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como precedente · decisão composta: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-out ou ampliação com BATNA construída.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Maceió (em análise)  ·  página 38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F71494B2-A13F-D742-E8AF-212F0249F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CRATO · 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960" y="20116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EM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6828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Crato —reposicionamento via S10 pode alavancar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682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 solução estrutural: definir destino da filial · O caminho atual: dimensionar incremento de margem com S10 vs. monopólio Vibra sem BATNA viável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7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1"/>
            <a:ext cx="65541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Sem operador alternativo viável (alternativas técnicas existentes na malha exigiriam frete que neutraliza qualquer economia tarifária). A entrada de S10 no mix melhora a rentabilidade da filial e pode justificar manutenção. Decisão composta: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-out ou reposicionamento via S10.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11887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1B3A5F"/>
                </a:solidFill>
                <a:latin typeface="Calibri"/>
              </a:rPr>
              <a:t>3,9 mil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Capacidade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717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210717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29005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0,8 mil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005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Demanda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58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848580" y="3108960"/>
            <a:ext cx="73152" cy="1188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03146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1E2D"/>
                </a:solidFill>
                <a:latin typeface="Calibri"/>
              </a:rPr>
              <a:t>≈80%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146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Capital ocioso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990" y="3108960"/>
            <a:ext cx="1604250" cy="11887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589990" y="3108960"/>
            <a:ext cx="73152" cy="11887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772870" y="3246120"/>
            <a:ext cx="132993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E68A1A"/>
                </a:solidFill>
                <a:latin typeface="Calibri"/>
              </a:rPr>
              <a:t>Vibra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870" y="3794760"/>
            <a:ext cx="13299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B6B6B"/>
                </a:solidFill>
                <a:latin typeface="Calibri"/>
              </a:rPr>
              <a:t>Único operador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ESTRUTURA DO DEAL / SITUAÇÃO ATUAL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646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Operador único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83480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Vibra · sem BATNA geográfica viável dentro do raio econômico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" y="535940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Capacidade × demanda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359401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3,9 mil m³ × 0,8 mil m³ demanda 2030 · capital ocioso 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807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572516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Mix de produto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725161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Entrada de S10 melhora rentabilidade da filial · janela para manutenção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609092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Análise em curso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090921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Viabilidade da filial Crato ·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-out × reposicionamento via S10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5668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Plano de Expansão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6456681"/>
            <a:ext cx="390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CE promovida a Prioritária · Crato como ponto interior do estado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8869680"/>
            <a:ext cx="6828480" cy="8229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8979408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PRÓXIMOS PASSOS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9253728"/>
            <a:ext cx="646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Concluir análise de viabilidade · dimensionar incremento de margem com S10 · decisão composta: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-out (se margem permanecer negativa) ou reposicionamento (se S10 reverter).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9921240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Plano de Expansão Comercial: vinculação direta ao Bloco 1 · ver tipologia de gargalo · página 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Crato (em análise)  ·  página 39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3" name="Picture 25">
            <a:extLst>
              <a:ext uri="{FF2B5EF4-FFF2-40B4-BE49-F238E27FC236}">
                <a16:creationId xmlns:a16="http://schemas.microsoft.com/office/drawing/2014/main" id="{3B209771-CC9F-EB27-4057-C55A8E5C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3 C   ·   A C O M P A N H A M E N T O   E X T E R N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Radar externo — projetos sem ligação ALE direta, monitoramento 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Projetos do setor que não tocam bases mapeadas, mas podem alterar dinâmica competitiva · acompanhamento contínuo · sem ação imediata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Este slide cobre projetos de infraestrutura e tendências setoriais que não têm ligação direta com bases ou frentes ALE mapeadas neste book — mas que podem alterar a dinâmica competitiva nacional ou regional ao longo dos próximos anos. A lógica é monitoramento ativo: ALE acompanha, prepara respostas, mas não age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preemptivamente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até que haja evento concreto que justifique decisão.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PROJETOS EXTERNOS EM MONITORAMENTO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1868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6828480" cy="3657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75488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PROJETO / 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3832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HORIZONTE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383280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POR QUE MONITORAR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40"/>
            <a:ext cx="68284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73152" cy="5029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75488" y="374904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Raízen+Vibra</a:t>
            </a:r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 Santarém/PA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74904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Já operacional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749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Hub Arco Norte sob duopólio · ALE sem operação direta no 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682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73152" cy="5029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475488" y="425196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FIOL 2 — Leilão Concessão 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25196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E68A1A"/>
                </a:solidFill>
                <a:latin typeface="Calibri"/>
              </a:rPr>
              <a:t>Leilão </a:t>
            </a:r>
            <a:r>
              <a:rPr lang="pt-BR" sz="900" b="1" i="0" noProof="0" dirty="0" err="1">
                <a:solidFill>
                  <a:srgbClr val="E68A1A"/>
                </a:solidFill>
                <a:latin typeface="Calibri"/>
              </a:rPr>
              <a:t>ago</a:t>
            </a:r>
            <a:r>
              <a:rPr lang="pt-BR" sz="900" b="1" i="0" noProof="0" dirty="0">
                <a:solidFill>
                  <a:srgbClr val="E68A1A"/>
                </a:solidFill>
                <a:latin typeface="Calibri"/>
              </a:rPr>
              <a:t>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251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Liga BA ao corredor ferroviário · ALE em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phase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-out na BA · monitorar leilão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68284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73152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475488" y="475488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FIOL 3 — </a:t>
            </a:r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Barreiras→Mara</a:t>
            </a:r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 Rosa/GO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75488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6B6B6B"/>
                </a:solidFill>
                <a:latin typeface="Calibri"/>
              </a:rPr>
              <a:t>20+ anos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754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Extensão FIOL 2 · fecharia corredor BA-GO-MT · horizonte longo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57800"/>
            <a:ext cx="682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257800"/>
            <a:ext cx="73152" cy="5029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475488" y="525780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Santos STS08 — Bloqueado TCU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525780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E61E2D"/>
                </a:solidFill>
                <a:latin typeface="Calibri"/>
              </a:rPr>
              <a:t>Indefinido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257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Maior licitação granéis líquidos do país suspensa · ALE sem operação primária Santos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60720"/>
            <a:ext cx="68284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ectangle 35"/>
          <p:cNvSpPr/>
          <p:nvPr/>
        </p:nvSpPr>
        <p:spPr>
          <a:xfrm>
            <a:off x="365760" y="5760720"/>
            <a:ext cx="73152" cy="5029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475488" y="576072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Mandato E30 → E35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8688" y="576072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3B95D3"/>
                </a:solidFill>
                <a:latin typeface="Calibri"/>
              </a:rPr>
              <a:t>E30 vigente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7607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Etanol como produto central da mistura gasolina · impacto sistêmico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263640"/>
            <a:ext cx="682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Rectangle 40"/>
          <p:cNvSpPr/>
          <p:nvPr/>
        </p:nvSpPr>
        <p:spPr>
          <a:xfrm>
            <a:off x="365760" y="6263640"/>
            <a:ext cx="73152" cy="5029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75488" y="626364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Mandato Biodiesel B20 / B25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8688" y="626364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3B95D3"/>
                </a:solidFill>
                <a:latin typeface="Calibri"/>
              </a:rPr>
              <a:t>B20: 2030 · B25: 2035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62636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Dobra volume biodiesel · pressiona infraestrutura armazenagem B100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766560"/>
            <a:ext cx="68284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Rectangle 45"/>
          <p:cNvSpPr/>
          <p:nvPr/>
        </p:nvSpPr>
        <p:spPr>
          <a:xfrm>
            <a:off x="365760" y="6766560"/>
            <a:ext cx="73152" cy="5029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475488" y="676656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RPBC </a:t>
            </a:r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BioQAV</a:t>
            </a:r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 + HVO (Petrobras)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8688" y="676656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3B95D3"/>
                </a:solidFill>
                <a:latin typeface="Calibri"/>
              </a:rPr>
              <a:t>Op. 2029+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67665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16.000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bpd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diesel renovável e SAF · novo produto disputa espaço logístico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7269480"/>
            <a:ext cx="6828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Rectangle 50"/>
          <p:cNvSpPr/>
          <p:nvPr/>
        </p:nvSpPr>
        <p:spPr>
          <a:xfrm>
            <a:off x="365760" y="7269480"/>
            <a:ext cx="73152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475488" y="726948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Eletrificação frota leve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8688" y="7269480"/>
            <a:ext cx="987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6B6B6B"/>
                </a:solidFill>
                <a:latin typeface="Calibri"/>
              </a:rPr>
              <a:t>EPE 3,7mi </a:t>
            </a:r>
            <a:r>
              <a:rPr lang="pt-BR" sz="900" b="1" i="0" noProof="0" dirty="0" err="1">
                <a:solidFill>
                  <a:srgbClr val="6B6B6B"/>
                </a:solidFill>
                <a:latin typeface="Calibri"/>
              </a:rPr>
              <a:t>EVs</a:t>
            </a:r>
            <a:r>
              <a:rPr lang="pt-BR" sz="900" b="1" i="0" noProof="0" dirty="0">
                <a:solidFill>
                  <a:srgbClr val="6B6B6B"/>
                </a:solidFill>
                <a:latin typeface="Calibri"/>
              </a:rPr>
              <a:t> / 2035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72694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Impacto assimétrico · gasolina/etanol leve em redução gradual · diesel imune até 2040+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8412480"/>
            <a:ext cx="6828480" cy="11887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548640" y="8549640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PRINCÍPIO ORIENTADOR — MONITORAMENTO ATIVO, NÃO PASSIVO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8823960"/>
            <a:ext cx="646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Monitoramento ativo significa: (1) trimestralmente revisar status e gatilhos de cada item · (2) ter cenário-resposta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pré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-estruturado para cada projeto · (3) decisão de migrar item para ação concreta segue critério explícito (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ex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: leilão confirmado, lei publicada, operação iniciada). O objetivo é evitar surpresa estratégica — não construir sem necessidade.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973836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Fonte: Radar Estratégico de Infraestrutura — Combustíveis Líquidos no Brasil 2021-2046 · ANP · ANTT · ANTAQ · BNDES · Petrobras · imprensa especializada.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3C · Coragem · Acompanhamento Externo  ·  página 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61" name="Picture 25">
            <a:extLst>
              <a:ext uri="{FF2B5EF4-FFF2-40B4-BE49-F238E27FC236}">
                <a16:creationId xmlns:a16="http://schemas.microsoft.com/office/drawing/2014/main" id="{8808E674-EFBD-AD2E-5532-30657491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4   ·   P I P E L I N E   D E   C O R A G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Pipeline de Locais Não Rentáveis — processo contínuo, não evento isolado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Identificar, decidir, executar · revisão anual · pipeline aberto sinaliza disciplina permanente, não conjuntura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A tese central deste book: a malha ALE é viva. Identificar locais não rentáveis não é evento pontual, é processo contínuo. Quatro estágios estruturados — Concluído · Em decisão · Em estudo · Próximos candidatos. A coluna final permanece deliberadamente em aberto: novos candidatos serão identificados a cada ciclo de revisão da malha.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638540" cy="41148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75488" y="2926080"/>
            <a:ext cx="15013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CONCLUÍDO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638540" cy="39776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75488" y="3429000"/>
            <a:ext cx="14190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Phase-out fechado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794760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75488" y="3794760"/>
            <a:ext cx="45720" cy="68580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66928" y="3867912"/>
            <a:ext cx="1327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Rio Grande · 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14800"/>
            <a:ext cx="13276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Operação encerrada ·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5740" y="2926080"/>
            <a:ext cx="1638540" cy="4114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2205468" y="2926080"/>
            <a:ext cx="15013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EM EXECUÇÃO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740" y="3337560"/>
            <a:ext cx="1638540" cy="39776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205468" y="3429000"/>
            <a:ext cx="14190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Phase-out em fase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5468" y="3794760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2205468" y="3794760"/>
            <a:ext cx="45720" cy="6858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296908" y="3867912"/>
            <a:ext cx="1327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Uberaba · 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6908" y="4114800"/>
            <a:ext cx="13276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Migração para Uberlândia · 60 km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5468" y="4572000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2205468" y="4572000"/>
            <a:ext cx="45720" cy="6858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2296908" y="4645152"/>
            <a:ext cx="1327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Bahia · 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96908" y="4892040"/>
            <a:ext cx="13276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Decisão Itabuna OU Jequié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25720" y="2926080"/>
            <a:ext cx="1638540" cy="41148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935448" y="2926080"/>
            <a:ext cx="15013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EM ESTUDO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5720" y="3337560"/>
            <a:ext cx="1638540" cy="39776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3935448" y="3429000"/>
            <a:ext cx="14190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Análise de viabilidade em curso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5448" y="3794760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Rectangle 33"/>
          <p:cNvSpPr/>
          <p:nvPr/>
        </p:nvSpPr>
        <p:spPr>
          <a:xfrm>
            <a:off x="3935448" y="3794760"/>
            <a:ext cx="45720" cy="6858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4026888" y="3867912"/>
            <a:ext cx="1327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Maceió · 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6888" y="4114800"/>
            <a:ext cx="13276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Alavanca IPP via Paulínia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5448" y="4572000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Rectangle 37"/>
          <p:cNvSpPr/>
          <p:nvPr/>
        </p:nvSpPr>
        <p:spPr>
          <a:xfrm>
            <a:off x="3935448" y="4572000"/>
            <a:ext cx="45720" cy="6858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4026888" y="4645152"/>
            <a:ext cx="1327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3A5F"/>
                </a:solidFill>
                <a:latin typeface="Calibri"/>
              </a:rPr>
              <a:t>Crato · 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6888" y="4892040"/>
            <a:ext cx="13276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S10 melhora mix · monopólio Vibra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5700" y="2926080"/>
            <a:ext cx="1638540" cy="4114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665428" y="2926080"/>
            <a:ext cx="15013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PRÓXIMOS CANDIDATOS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55700" y="3337560"/>
            <a:ext cx="1638540" cy="39776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5665428" y="3429000"/>
            <a:ext cx="14190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A serem identificados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70466" y="3799332"/>
            <a:ext cx="141908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5761906" y="3865233"/>
            <a:ext cx="1327644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200" b="0" i="0" noProof="0" dirty="0">
                <a:solidFill>
                  <a:srgbClr val="CCCCCC"/>
                </a:solidFill>
                <a:latin typeface="Calibri"/>
              </a:rPr>
              <a:t>Ainda não definido. Análise será constante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498079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CRITÉRIOS DE IDENTIFICAÇÃO — QUANDO UM LOCAL ENTRA NO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7790687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Rectangle 51"/>
          <p:cNvSpPr/>
          <p:nvPr/>
        </p:nvSpPr>
        <p:spPr>
          <a:xfrm>
            <a:off x="365760" y="7909559"/>
            <a:ext cx="1604250" cy="12801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3" name="Rectangle 52"/>
          <p:cNvSpPr/>
          <p:nvPr/>
        </p:nvSpPr>
        <p:spPr>
          <a:xfrm>
            <a:off x="365760" y="7909559"/>
            <a:ext cx="54864" cy="12801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502920" y="8000999"/>
            <a:ext cx="13756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Margem negativa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8257031"/>
            <a:ext cx="137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estrutural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8531351"/>
            <a:ext cx="13756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333333"/>
                </a:solidFill>
                <a:latin typeface="Calibri"/>
              </a:rPr>
              <a:t>Filial opera no vermelho de forma persistente · não é conjuntura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7170" y="7909559"/>
            <a:ext cx="1604250" cy="12801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8" name="Rectangle 57"/>
          <p:cNvSpPr/>
          <p:nvPr/>
        </p:nvSpPr>
        <p:spPr>
          <a:xfrm>
            <a:off x="2107170" y="7909559"/>
            <a:ext cx="54864" cy="12801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2244330" y="8000999"/>
            <a:ext cx="13756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Capital ocioso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44330" y="8257031"/>
            <a:ext cx="137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significativo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4330" y="8531351"/>
            <a:ext cx="13756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333333"/>
                </a:solidFill>
                <a:latin typeface="Calibri"/>
              </a:rPr>
              <a:t>Capacidade contratada &gt;&gt; demanda projetada 2030 (&gt; 60% ociosa)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8580" y="7909559"/>
            <a:ext cx="1604250" cy="12801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3" name="Rectangle 62"/>
          <p:cNvSpPr/>
          <p:nvPr/>
        </p:nvSpPr>
        <p:spPr>
          <a:xfrm>
            <a:off x="3848580" y="7909559"/>
            <a:ext cx="54864" cy="12801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3985740" y="8000999"/>
            <a:ext cx="13756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Monopólio operador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85740" y="8257031"/>
            <a:ext cx="137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sem BATNA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85740" y="8531351"/>
            <a:ext cx="13756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333333"/>
                </a:solidFill>
                <a:latin typeface="Calibri"/>
              </a:rPr>
              <a:t>Único cedente local · sem alternativa geográfica economicamente viável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89990" y="7909559"/>
            <a:ext cx="1604250" cy="12801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8" name="Rectangle 67"/>
          <p:cNvSpPr/>
          <p:nvPr/>
        </p:nvSpPr>
        <p:spPr>
          <a:xfrm>
            <a:off x="5589990" y="7909559"/>
            <a:ext cx="54864" cy="128016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9" name="TextBox 68"/>
          <p:cNvSpPr txBox="1"/>
          <p:nvPr/>
        </p:nvSpPr>
        <p:spPr>
          <a:xfrm>
            <a:off x="5727150" y="8000999"/>
            <a:ext cx="13756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Demanda 2030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7150" y="8257031"/>
            <a:ext cx="137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1" noProof="0" dirty="0" err="1">
                <a:solidFill>
                  <a:srgbClr val="6B6B6B"/>
                </a:solidFill>
                <a:latin typeface="Calibri"/>
              </a:rPr>
              <a:t>vs</a:t>
            </a:r>
            <a:r>
              <a:rPr lang="pt-BR" sz="900" b="0" i="1" noProof="0" dirty="0">
                <a:solidFill>
                  <a:srgbClr val="6B6B6B"/>
                </a:solidFill>
                <a:latin typeface="Calibri"/>
              </a:rPr>
              <a:t> capacidade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27150" y="8531351"/>
            <a:ext cx="13756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333333"/>
                </a:solidFill>
                <a:latin typeface="Calibri"/>
              </a:rPr>
              <a:t>Projeção comercial não justifica o capital empregado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96469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▸ Pipeline </a:t>
            </a:r>
            <a:r>
              <a:rPr lang="pt-BR" sz="900" b="1" i="1" noProof="0" dirty="0" err="1">
                <a:solidFill>
                  <a:srgbClr val="1B3A5F"/>
                </a:solidFill>
                <a:latin typeface="Calibri"/>
              </a:rPr>
              <a:t>ciclado</a:t>
            </a:r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 anualmente · cruzamento com reclassificações do Plano de Expansão · decisão composta sempre apresentada com BATNA e capital reciclado dimensionados.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4 · Pipeline de Coragem  ·  página 41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5" name="Picture 25">
            <a:extLst>
              <a:ext uri="{FF2B5EF4-FFF2-40B4-BE49-F238E27FC236}">
                <a16:creationId xmlns:a16="http://schemas.microsoft.com/office/drawing/2014/main" id="{6C096776-B1F2-D8B0-D52D-6C361EFB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4   ·   M O N I T O R A M E N T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Monitoramento estratégico — bases próprias e tema setorial sob observação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Três frentes em monitoramento ativo sem ação executiva imediata · revisão trimestral · gatilhos pré-definidos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10058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Nem toda decisão exige ação no curto prazo. Esta página agrupa três frentes que ALE acompanha ativamente — base sob restrição regulatória (Cuiabá), base sem alternativa de armazenagem (Brasília) e tema regulatório-operacional setorial (fim do S500 pela Petrobras). Nenhuma das três tem ação executiva agora; todas têm gatilhos claros para reavaliação.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91440" cy="201168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673704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3127248"/>
            <a:ext cx="472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i="0" spc="150" noProof="0" dirty="0">
                <a:solidFill>
                  <a:srgbClr val="1B3A5F"/>
                </a:solidFill>
                <a:latin typeface="Calibri"/>
              </a:rPr>
              <a:t>CUIABÁ / VÁRZEA GRANDE · 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4080" y="315468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REGULATÓRIO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637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Pool hibernado sob restrição regulatória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9476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Pool hibernado · ALE não utiliza operacionalmente · custo de manutenção do direito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06908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Restrição: legislação MT/MS exige tancagem própria comprovada (modelo único no país)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4340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Ação em curso: consultas formais ao estado solicitando alinhamento ao modelo nacional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9028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1772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Gatilho: mudança regulatória permite saída imediata · revisão trimestral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91440" cy="201168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673704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" y="5276088"/>
            <a:ext cx="472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i="0" spc="150" noProof="0" dirty="0">
                <a:solidFill>
                  <a:srgbClr val="1B3A5F"/>
                </a:solidFill>
                <a:latin typeface="Calibri"/>
              </a:rPr>
              <a:t>BRASÍLIA · 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14079" y="5303520"/>
            <a:ext cx="1188395" cy="274320"/>
          </a:xfrm>
          <a:prstGeom prst="roundRect">
            <a:avLst>
              <a:gd name="adj" fmla="val 30000"/>
            </a:avLst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RENTABILIDADE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6371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Acompanhamento de rentabilidade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1616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94360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Sem opções de armazenagem na região · sem cedente alternativo no curto prazo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9048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21792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DF reclassificado para Seletiva no Plano de Expansão 2026 (era Defesa em 2024)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6480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49224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Variáveis acompanhadas: rentabilidade · área de influência · custo unitário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73912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76656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Gatilho: deterioração estrutural (similar Guamaré) · migra para Coragem se confirmar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7315200"/>
            <a:ext cx="91440" cy="201168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ectangle 35"/>
          <p:cNvSpPr/>
          <p:nvPr/>
        </p:nvSpPr>
        <p:spPr>
          <a:xfrm>
            <a:off x="457200" y="7315200"/>
            <a:ext cx="673704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7424928"/>
            <a:ext cx="472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1" i="0" spc="150" noProof="0" dirty="0">
                <a:solidFill>
                  <a:srgbClr val="1B3A5F"/>
                </a:solidFill>
                <a:latin typeface="Calibri"/>
              </a:rPr>
              <a:t>FIM DO S500 → S10 (Petrobras · tema setorial)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14080" y="74523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50" b="1" spc="200" noProof="0" dirty="0">
                <a:solidFill>
                  <a:srgbClr val="FFFFFF"/>
                </a:solidFill>
                <a:latin typeface="Calibri"/>
              </a:rPr>
              <a:t>SETORIAL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7726680"/>
            <a:ext cx="637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B6B6B"/>
                </a:solidFill>
                <a:latin typeface="Calibri"/>
              </a:rPr>
              <a:t>Descontinuação progressiva do S500 pela Petrobras · acompanhar sem ação estrutural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806500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5894"/>
                </a:solidFill>
                <a:latin typeface="Calibr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809244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Petrobras descontinua S500 progressivamente · S10 vira único produto diesel rodoviário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833932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5894"/>
                </a:solidFill>
                <a:latin typeface="Calibri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836676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Impacto direto ALE: contratos com clientes rurais · tancagem dedicada · duto Marítimo (Caxias)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861364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5894"/>
                </a:solidFill>
                <a:latin typeface="Calibri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864108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Duto Marítimo+S500 (Caxias) permanece para Marítimo após fim do S500 · ver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pág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8887968"/>
            <a:ext cx="137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B5894"/>
                </a:solidFill>
                <a:latin typeface="Calibri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8915400"/>
            <a:ext cx="618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Ação atual: nenhuma estrutural · acompanhar cronograma Petrobras + impacto comercial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9509760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1" noProof="0" dirty="0">
                <a:solidFill>
                  <a:srgbClr val="1B3A5F"/>
                </a:solidFill>
                <a:latin typeface="Calibri"/>
              </a:rPr>
              <a:t>▸ Monitoramento estratégico não é inação · é decisão consciente de não agir até que gatilhos pré-definidos sejam acionados.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4 · Monitoramento Estratégico  ·  página 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1" name="Picture 25">
            <a:extLst>
              <a:ext uri="{FF2B5EF4-FFF2-40B4-BE49-F238E27FC236}">
                <a16:creationId xmlns:a16="http://schemas.microsoft.com/office/drawing/2014/main" id="{04C6FD4C-F483-7CA0-CFDE-F2826B37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4   ·   S Í N T E S E   D A   M O V I M E N T A Ç Ã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12 evoluíram · 5 novos · 4 em holding — nenhuma frente em risco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Comparativo com a última reunião · 21 frentes em curso · ritmo equilibrado entre execução, oportunidade e paciência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14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ciclo desde a última reunião mostra equilíbrio: doze frentes avançaram materialmente, cinco oportunidades novas foram capturadas, e quatro frentes permanecem em holding aguardando movimento das contrapartes. Nenhuma frente está em situação de risco material — o plano avança em ritmo saudável.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2184720" cy="45720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spc="300" noProof="0" dirty="0">
                <a:solidFill>
                  <a:srgbClr val="FFFFFF"/>
                </a:solidFill>
                <a:latin typeface="Calibri"/>
              </a:rPr>
              <a:t>EVOLUÍDO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6080" y="28346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2200" b="1" i="0" noProof="0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218472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30352" y="34290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Phase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Outs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Rio Grande · Uberaba · Bahia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8503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Goiânia–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Nexta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(50/50 acordado)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94106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Açailândia / LEM (escrituração)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197096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15384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Caxias / EFEN (Termo de Ajuste)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453128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71416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Belém + Cubatão + Betim (minuta)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0916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8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OPASC Biguaçu · Vitória SPE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96519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F9E5C"/>
                </a:solidFill>
                <a:latin typeface="Calibri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Chapecó · São Luís Granel · Pecém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87640" y="2834640"/>
            <a:ext cx="2184720" cy="4572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2870520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spc="300" noProof="0" dirty="0">
                <a:solidFill>
                  <a:srgbClr val="FFFFFF"/>
                </a:solidFill>
                <a:latin typeface="Calibri"/>
              </a:rPr>
              <a:t>NOVO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7960" y="28346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2200" b="1" i="0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87640" y="3291840"/>
            <a:ext cx="218472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2852232" y="34290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1960" y="3447288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Saída Torrão → OPLA (BID em curso)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232" y="368503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1960" y="3703320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Itajaí — Grupo Ávila + Stang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232" y="394106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61960" y="3959352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Santa Maria — Rede SIM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232" y="4197096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61960" y="4215384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Vitória —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Otamérica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(renegociação)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232" y="4453128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3B95D3"/>
                </a:solidFill>
                <a:latin typeface="Calibr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1960" y="4471416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Suape — Ultracargo (renovação)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09520" y="2834640"/>
            <a:ext cx="2184720" cy="4572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192400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i="0" spc="300" noProof="0" dirty="0">
                <a:solidFill>
                  <a:srgbClr val="FFFFFF"/>
                </a:solidFill>
                <a:latin typeface="Calibri"/>
              </a:rPr>
              <a:t>EM HOLDING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9840" y="28346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2200" b="1" i="0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9520" y="3291840"/>
            <a:ext cx="2184720" cy="20116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174112" y="3429000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3840" y="3447288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Pool Paulínia —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re-rateio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(Proposta 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4112" y="3685032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3840" y="3703320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Pool Paulínia — IPP (Proposta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74112" y="3941064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3840" y="3959352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SJRP — Pool de 3 (IPP condicionou)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74112" y="4197096"/>
            <a:ext cx="91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E68A1A"/>
                </a:solidFill>
                <a:latin typeface="Calibr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3840" y="4215384"/>
            <a:ext cx="177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Vitória — Atlântica (sondagem)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57784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LEITURA EXECUTIVA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87044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5" name="Rectangle 54"/>
          <p:cNvSpPr/>
          <p:nvPr/>
        </p:nvSpPr>
        <p:spPr>
          <a:xfrm>
            <a:off x="365760" y="6035040"/>
            <a:ext cx="54864" cy="7772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530352" y="610819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Execução das frentes com contraparte definida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400800"/>
            <a:ext cx="664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12 evoluíram materialmente · ritmo saudável de fechamento contratual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903720"/>
            <a:ext cx="54864" cy="7772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530352" y="697687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Captura de oportunidades novas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7269480"/>
            <a:ext cx="664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5 frentes nasceram no período · destaque: OPLA como BATNA real do Pool Paulínia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7772400"/>
            <a:ext cx="54864" cy="7772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530352" y="784555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Paciência nas frentes em holding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8138160"/>
            <a:ext cx="664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4 frentes preservadas no radar · sem ação ofensiva sem movimento das contrapartes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8641080"/>
            <a:ext cx="54864" cy="7772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530352" y="8714232"/>
            <a:ext cx="664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noProof="0" dirty="0">
                <a:solidFill>
                  <a:srgbClr val="1B3A5F"/>
                </a:solidFill>
                <a:latin typeface="Calibri"/>
              </a:rPr>
              <a:t>Equilíbrio Coragem × Novos Negócios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9006840"/>
            <a:ext cx="664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Capital liberado dos </a:t>
            </a:r>
            <a:r>
              <a:rPr lang="pt-BR" sz="950" b="0" i="1" noProof="0" dirty="0" err="1">
                <a:solidFill>
                  <a:srgbClr val="6B6B6B"/>
                </a:solidFill>
                <a:latin typeface="Calibri"/>
              </a:rPr>
              <a:t>phase-outs</a:t>
            </a:r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 financia ofensivos (ver Bloco 3C · </a:t>
            </a:r>
            <a:r>
              <a:rPr lang="pt-BR" sz="950" b="0" i="1" noProof="0" dirty="0" err="1">
                <a:solidFill>
                  <a:srgbClr val="6B6B6B"/>
                </a:solidFill>
                <a:latin typeface="Calibri"/>
              </a:rPr>
              <a:t>pág</a:t>
            </a:r>
            <a:r>
              <a:rPr lang="pt-BR" sz="950" b="0" i="1" noProof="0" dirty="0">
                <a:solidFill>
                  <a:srgbClr val="6B6B6B"/>
                </a:solidFill>
                <a:latin typeface="Calibri"/>
              </a:rPr>
              <a:t> 31 · Impacto Consolidado)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96469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1" noProof="0" dirty="0">
                <a:solidFill>
                  <a:srgbClr val="1B3A5F"/>
                </a:solidFill>
                <a:latin typeface="Calibri"/>
              </a:rPr>
              <a:t>Plano avança em ritmo equilibrado · nenhuma frente em situação de risco material.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4 · Síntese da Movimentação  ·  página 43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0" name="Picture 25">
            <a:extLst>
              <a:ext uri="{FF2B5EF4-FFF2-40B4-BE49-F238E27FC236}">
                <a16:creationId xmlns:a16="http://schemas.microsoft.com/office/drawing/2014/main" id="{80C5A02F-E09F-6694-0FE4-63A719B85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4   ·   C A P I T A L   I N T E G R A D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Movimento de capital integrado — Coragem financia Novos Negócios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Balanço entradas × saídas · capital reciclado dos </a:t>
            </a:r>
            <a:r>
              <a:rPr lang="pt-BR" sz="1050" b="0" i="1" noProof="0" dirty="0" err="1">
                <a:solidFill>
                  <a:srgbClr val="6B6B6B"/>
                </a:solidFill>
                <a:latin typeface="Calibri"/>
              </a:rPr>
              <a:t>phase-outs</a:t>
            </a:r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 sustenta movimentos ofensivos no horizonte do plano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10515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Investimentos e desinvestimentos compõem balanço coerente. R$ 10,4 MM em drenagem evitada nos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phase-outs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(Bloco 3C) + R$ 8 MM da venda de Caxias para EFEN = caixa líquido para financiar Itajaí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),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bundling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IPP (3 praças) e ampliação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Otamérica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. O book demonstra que cada decisão dura tem contrapartida ofensiva — Coragem não é destruir, é reciclar.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BALANÇO DE CAPITAL — VISÃO INTEGRADA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1868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3345660" cy="3657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1627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▸ ENTRADAS DE CAPITAL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40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Caxias / EFEN — venda 6,4%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260" y="374904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R$ 8,0 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78224"/>
            <a:ext cx="33456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" y="4078224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Drenagem evitada · 3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phase-outs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(10A)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260" y="407822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R$ 10,4 MM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07408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Economia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bundling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IPP (até dez/27)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1260" y="4407408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−R$ 3,8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33456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548640" y="4736592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Combo Granel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SL+PN+Teresina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(3 anos)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1260" y="4736592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R$ 3,3 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65776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548640" y="5065776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Suape Ultracargo · com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sobre-giro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(36m)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1260" y="506577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R$ 12,2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94960"/>
            <a:ext cx="33456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NPV Caxias 10A (WACC 15%)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1260" y="53949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R$ 12,6 MM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8580" y="3383280"/>
            <a:ext cx="3345660" cy="36576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4031460" y="3383280"/>
            <a:ext cx="31627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FFFFFF"/>
                </a:solidFill>
                <a:latin typeface="Calibri"/>
              </a:rPr>
              <a:t>▸ APLICAÇÕES DE CAPITAL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8580" y="3749040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4031460" y="3749040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CAPEX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greenfield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Itajaí · 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2640" y="374904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a definir</a:t>
            </a: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5F17F69-7C08-96F9-8078-7C04044CB16C}"/>
              </a:ext>
            </a:extLst>
          </p:cNvPr>
          <p:cNvGrpSpPr/>
          <p:nvPr/>
        </p:nvGrpSpPr>
        <p:grpSpPr>
          <a:xfrm>
            <a:off x="366085" y="5724821"/>
            <a:ext cx="3345335" cy="324612"/>
            <a:chOff x="365760" y="5705856"/>
            <a:chExt cx="3345335" cy="324612"/>
          </a:xfrm>
        </p:grpSpPr>
        <p:sp>
          <p:nvSpPr>
            <p:cNvPr id="36" name="Rectangle 35"/>
            <p:cNvSpPr/>
            <p:nvPr/>
          </p:nvSpPr>
          <p:spPr>
            <a:xfrm>
              <a:off x="365760" y="5705856"/>
              <a:ext cx="3345335" cy="324612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8640" y="5795065"/>
              <a:ext cx="2341735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sz="950" b="0" i="0" noProof="0" dirty="0">
                  <a:solidFill>
                    <a:srgbClr val="333333"/>
                  </a:solidFill>
                  <a:latin typeface="Calibri"/>
                </a:rPr>
                <a:t>NPV Goiânia 18y 50/50 com </a:t>
              </a:r>
              <a:r>
                <a:rPr lang="pt-BR" sz="950" b="0" i="0" noProof="0" dirty="0" err="1">
                  <a:solidFill>
                    <a:srgbClr val="333333"/>
                  </a:solidFill>
                  <a:latin typeface="Calibri"/>
                </a:rPr>
                <a:t>Nexta</a:t>
              </a:r>
              <a:endParaRPr lang="pt-BR" sz="950" b="0" i="0" noProof="0" dirty="0">
                <a:solidFill>
                  <a:srgbClr val="333333"/>
                </a:solidFill>
                <a:latin typeface="Calibri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39820" y="5791218"/>
              <a:ext cx="1188605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pt-BR" sz="1000" b="1" i="0" noProof="0" dirty="0">
                  <a:solidFill>
                    <a:srgbClr val="1F9E5C"/>
                  </a:solidFill>
                  <a:latin typeface="Calibri"/>
                </a:rPr>
                <a:t>R$ 42,0 MM.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3848580" y="4407408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031460" y="4407408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Otamérica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· ampliação grade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2640" y="440740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R$ 1,3 MM/ano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8580" y="4736592"/>
            <a:ext cx="33456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4031460" y="4736592"/>
            <a:ext cx="234196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Pecém DISLUB ·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ToP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anual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22640" y="473659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R$ 7,5 MM/ano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8580" y="5065776"/>
            <a:ext cx="3345660" cy="32918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4031460" y="5157271"/>
            <a:ext cx="234196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Stang · contingência de planejamento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2640" y="506577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R$ 0 (sem execução)</a:t>
            </a:r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0DB6D60C-3959-9C89-33E5-3C765A9B4E13}"/>
              </a:ext>
            </a:extLst>
          </p:cNvPr>
          <p:cNvGrpSpPr/>
          <p:nvPr/>
        </p:nvGrpSpPr>
        <p:grpSpPr>
          <a:xfrm>
            <a:off x="3848580" y="4082813"/>
            <a:ext cx="3345660" cy="329184"/>
            <a:chOff x="3848580" y="5394960"/>
            <a:chExt cx="3345660" cy="329184"/>
          </a:xfrm>
        </p:grpSpPr>
        <p:sp>
          <p:nvSpPr>
            <p:cNvPr id="48" name="Rectangle 47"/>
            <p:cNvSpPr/>
            <p:nvPr/>
          </p:nvSpPr>
          <p:spPr>
            <a:xfrm>
              <a:off x="3848580" y="5394960"/>
              <a:ext cx="334566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31460" y="5394960"/>
              <a:ext cx="2341962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sz="950" b="0" i="0" noProof="0" dirty="0">
                  <a:solidFill>
                    <a:srgbClr val="333333"/>
                  </a:solidFill>
                  <a:latin typeface="Calibri"/>
                </a:rPr>
                <a:t>Santa Maria · </a:t>
              </a:r>
              <a:r>
                <a:rPr lang="pt-BR" sz="950" b="0" i="0" noProof="0" dirty="0" err="1">
                  <a:solidFill>
                    <a:srgbClr val="333333"/>
                  </a:solidFill>
                  <a:latin typeface="Calibri"/>
                </a:rPr>
                <a:t>phase</a:t>
              </a:r>
              <a:r>
                <a:rPr lang="pt-BR" sz="950" b="0" i="0" noProof="0" dirty="0">
                  <a:solidFill>
                    <a:srgbClr val="333333"/>
                  </a:solidFill>
                  <a:latin typeface="Calibri"/>
                </a:rPr>
                <a:t>-in Rede SIM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22640" y="5482608"/>
              <a:ext cx="118872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pt-BR" sz="1000" b="1" dirty="0">
                  <a:solidFill>
                    <a:srgbClr val="1B5894"/>
                  </a:solidFill>
                  <a:latin typeface="Calibri"/>
                </a:rPr>
                <a:t>Sem CAPEX</a:t>
              </a:r>
              <a:endParaRPr lang="pt-BR" sz="1000" b="1" i="0" noProof="0" dirty="0">
                <a:solidFill>
                  <a:srgbClr val="1B5894"/>
                </a:solidFill>
                <a:latin typeface="Calibri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365760" y="6858000"/>
            <a:ext cx="6828480" cy="11887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548640" y="6995160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TESE INTEGRADA — CAPITAL EM ROTAÇÃO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7269480"/>
            <a:ext cx="646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Capital liberado em Coragem (R$ 10,4 MM + R$ 8 MM Caxias = R$ 18,4 MM) excede aplicações recorrentes anuais (R$ 8,8 MM/ano em Pecém +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). NPV consolidado dos movimentos ofensivos (Caxias R$ 12,6 MM +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IPP economia recorrente) sustenta o caixa para os CAPEX estruturais (Itajaí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· Goiânia 50/50). Coragem é o motor financeiro do plano.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964692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Valores referenciais · não inclui CAPEX a definir após aprovação do Conselho · NPV calculado a WACC 15% (premissa ALE).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4 · Capital Integrado  ·  página 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57" name="Picture 25">
            <a:extLst>
              <a:ext uri="{FF2B5EF4-FFF2-40B4-BE49-F238E27FC236}">
                <a16:creationId xmlns:a16="http://schemas.microsoft.com/office/drawing/2014/main" id="{5C3B594F-D825-F5B5-E534-2A99F6130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4   ·   M A R C O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Marcos das próximas 6 a 8 semanas — o que precisa avançar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Quinze marcos críticos até a próxima reunião · dependências externas mapeadas (ANP, CADE, locadores, Conselho)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14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Os marcos abaixo são as agulhas que destravam o plano nas próximas semanas. Cinco são dependentes de aprovação interna (Conselho ALE), três dependem de órgãos externos (ANP, CADE), três dependem de contrapartes negociais, e os demais são execução administrativa. Cada marco tem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owner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e gatilho claros.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6828480" cy="41148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FRENTE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346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MARCO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DEPENDÊNCIA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4864" cy="310896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Açailândia / 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24612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Conclusão da escrituração · protocolo ANP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332318"/>
            <a:ext cx="1143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VIBRA + 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57016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365760" y="3557016"/>
            <a:ext cx="54864" cy="310896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02920" y="3557016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Caxias / EFEN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5570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Contrato comercial · protocolo 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643214"/>
            <a:ext cx="1143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67912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365760" y="3867912"/>
            <a:ext cx="54864" cy="310896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502920" y="386791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Belém + Cubatão + Betim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86791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Conclusão das minutas · assinatura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86791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3B95D3"/>
                </a:solidFill>
                <a:latin typeface="Calibri"/>
              </a:rPr>
              <a:t>IPP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78808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65760" y="4178808"/>
            <a:ext cx="54864" cy="310896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02920" y="417880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Goiânia – </a:t>
            </a:r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Nexta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88920" y="417880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Modelo de negócio · tratativa locador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17880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E68A1A"/>
                </a:solidFill>
                <a:latin typeface="Calibri"/>
              </a:rPr>
              <a:t>Locador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89704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Rectangle 33"/>
          <p:cNvSpPr/>
          <p:nvPr/>
        </p:nvSpPr>
        <p:spPr>
          <a:xfrm>
            <a:off x="365760" y="4489704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502920" y="4489704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Phase Out Uberaba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48970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Conclusão da migração para Uberlândia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48970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00600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Rectangle 38"/>
          <p:cNvSpPr/>
          <p:nvPr/>
        </p:nvSpPr>
        <p:spPr>
          <a:xfrm>
            <a:off x="365760" y="4800600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502920" y="480060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OPASC Biguaçu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480060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Validação minutas com novo cenário bombeio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80060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11496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Rectangle 43"/>
          <p:cNvSpPr/>
          <p:nvPr/>
        </p:nvSpPr>
        <p:spPr>
          <a:xfrm>
            <a:off x="365760" y="5111496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502920" y="5111496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Pecém — DISLUB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511149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Iniciar avaliação de viabilidade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11149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422392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9" name="Rectangle 48"/>
          <p:cNvSpPr/>
          <p:nvPr/>
        </p:nvSpPr>
        <p:spPr>
          <a:xfrm>
            <a:off x="365760" y="5422392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502920" y="542239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Saída Torrão → OPLA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542239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Avanço no BID · solução-ponte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Gas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42239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733288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4" name="Rectangle 53"/>
          <p:cNvSpPr/>
          <p:nvPr/>
        </p:nvSpPr>
        <p:spPr>
          <a:xfrm>
            <a:off x="365760" y="5733288"/>
            <a:ext cx="54864" cy="310896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502920" y="573328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Itajaí — Grupo Ávila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573328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Agenda das engenharias 1ª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quinz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junho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573328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3B95D3"/>
                </a:solidFill>
                <a:latin typeface="Calibri"/>
              </a:rPr>
              <a:t>Contraparte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44184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Rectangle 58"/>
          <p:cNvSpPr/>
          <p:nvPr/>
        </p:nvSpPr>
        <p:spPr>
          <a:xfrm>
            <a:off x="365760" y="6044184"/>
            <a:ext cx="54864" cy="310896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502920" y="6044184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Itajaí — Stang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8920" y="604418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Aprovar 406 m³ como referência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604418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Conselho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355080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Rectangle 63"/>
          <p:cNvSpPr/>
          <p:nvPr/>
        </p:nvSpPr>
        <p:spPr>
          <a:xfrm>
            <a:off x="365760" y="6355080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502920" y="635508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Santa Maria — Rede SIM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88920" y="635508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Conclusão da avaliação comercial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60" y="635508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6665976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9" name="Rectangle 68"/>
          <p:cNvSpPr/>
          <p:nvPr/>
        </p:nvSpPr>
        <p:spPr>
          <a:xfrm>
            <a:off x="365760" y="6665976"/>
            <a:ext cx="54864" cy="310896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0" name="TextBox 69"/>
          <p:cNvSpPr txBox="1"/>
          <p:nvPr/>
        </p:nvSpPr>
        <p:spPr>
          <a:xfrm>
            <a:off x="502920" y="6665976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Vitória — </a:t>
            </a:r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88920" y="666597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Aceite ampliação grade (R$ 110 k/mês)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0760" y="666597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Conselho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976872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4" name="Rectangle 73"/>
          <p:cNvSpPr/>
          <p:nvPr/>
        </p:nvSpPr>
        <p:spPr>
          <a:xfrm>
            <a:off x="365760" y="6976872"/>
            <a:ext cx="54864" cy="310896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5" name="TextBox 74"/>
          <p:cNvSpPr txBox="1"/>
          <p:nvPr/>
        </p:nvSpPr>
        <p:spPr>
          <a:xfrm>
            <a:off x="502920" y="697687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São Luís — Granel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8920" y="697687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Aprovação Conselho · combo SL+PN+TER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80760" y="697687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Conselho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7287768"/>
            <a:ext cx="6828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9" name="Rectangle 78"/>
          <p:cNvSpPr/>
          <p:nvPr/>
        </p:nvSpPr>
        <p:spPr>
          <a:xfrm>
            <a:off x="365760" y="7287768"/>
            <a:ext cx="54864" cy="310896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502920" y="728776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Suape — Ultracargo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728776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Aprovação Conselho · Opção 1 </a:t>
            </a:r>
            <a:r>
              <a:rPr lang="pt-BR" sz="900" b="0" i="0" noProof="0" dirty="0" err="1">
                <a:solidFill>
                  <a:srgbClr val="333333"/>
                </a:solidFill>
                <a:latin typeface="Calibri"/>
              </a:rPr>
              <a:t>ToP</a:t>
            </a:r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 fixo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80760" y="728776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5894"/>
                </a:solidFill>
                <a:latin typeface="Calibri"/>
              </a:rPr>
              <a:t>Conselho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7598664"/>
            <a:ext cx="6828480" cy="31089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4" name="Rectangle 83"/>
          <p:cNvSpPr/>
          <p:nvPr/>
        </p:nvSpPr>
        <p:spPr>
          <a:xfrm>
            <a:off x="365760" y="7598664"/>
            <a:ext cx="54864" cy="310896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5" name="TextBox 84"/>
          <p:cNvSpPr txBox="1"/>
          <p:nvPr/>
        </p:nvSpPr>
        <p:spPr>
          <a:xfrm>
            <a:off x="502920" y="7598664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Phase Out Bahia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88920" y="759866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333333"/>
                </a:solidFill>
                <a:latin typeface="Calibri"/>
              </a:rPr>
              <a:t>Análise comercial · decisão I × J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759866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F9E5C"/>
                </a:solidFill>
                <a:latin typeface="Calibri"/>
              </a:rPr>
              <a:t>Interna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86868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TIPOS DE DEPENDÊNCIA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897940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0" name="Rectangle 89"/>
          <p:cNvSpPr/>
          <p:nvPr/>
        </p:nvSpPr>
        <p:spPr>
          <a:xfrm>
            <a:off x="365760" y="9144000"/>
            <a:ext cx="91440" cy="50292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1" name="TextBox 90"/>
          <p:cNvSpPr txBox="1"/>
          <p:nvPr/>
        </p:nvSpPr>
        <p:spPr>
          <a:xfrm>
            <a:off x="530352" y="9144000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Interna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9400032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Execução ALE · sem dependência externa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1456" y="9144000"/>
            <a:ext cx="91440" cy="5029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4" name="TextBox 93"/>
          <p:cNvSpPr txBox="1"/>
          <p:nvPr/>
        </p:nvSpPr>
        <p:spPr>
          <a:xfrm>
            <a:off x="1896048" y="9144000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Conselho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96048" y="9400032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Aprovação por alçada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97152" y="9144000"/>
            <a:ext cx="91440" cy="50292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7" name="TextBox 96"/>
          <p:cNvSpPr txBox="1"/>
          <p:nvPr/>
        </p:nvSpPr>
        <p:spPr>
          <a:xfrm>
            <a:off x="3261744" y="9144000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Contraparte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61744" y="9400032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Movimento da outra parte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462848" y="9144000"/>
            <a:ext cx="91440" cy="50292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0" name="TextBox 99"/>
          <p:cNvSpPr txBox="1"/>
          <p:nvPr/>
        </p:nvSpPr>
        <p:spPr>
          <a:xfrm>
            <a:off x="4627440" y="9144000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Locador / Externa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27440" y="9400032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Aceite jurídico-imobiliário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28544" y="9144000"/>
            <a:ext cx="91440" cy="50292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3136" y="9144000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ANP / CADE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93136" y="9400032"/>
            <a:ext cx="1109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Protocolo regulatório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4 · Marcos das Próximas Semanas  ·  página 45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107" name="Picture 25">
            <a:extLst>
              <a:ext uri="{FF2B5EF4-FFF2-40B4-BE49-F238E27FC236}">
                <a16:creationId xmlns:a16="http://schemas.microsoft.com/office/drawing/2014/main" id="{C972A992-5A55-7AFF-33A8-1B2A4AD45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5   ·   V I S Ã O   2 0 3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A ALE em 2030 — malha consolidada após o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Antes × Depois · indicadores agregados que sintetizam a transformação da malha de armazenagem ALE no horizonte 2026-2030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14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 plano transforma a malha em três dimensões: capacidade certa nas praças certas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+ pools +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phase-outs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), custo unitário reduzido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BIDs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+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bundling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), e posição competitiva nas praças prioritárias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BATNAs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construídas, monopólios destravados). Esta página resume a transformação em indicadores agregados.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INDICADORES AGREGADOS · ALE HOJE × ALE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2724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6828480" cy="3657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918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HOJE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918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META (2030)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91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00" b="1" i="0" spc="150" noProof="0" dirty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Volume total movimentado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576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Base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576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+42%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6576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Δ +42%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 err="1">
                <a:solidFill>
                  <a:srgbClr val="1B3A5F"/>
                </a:solidFill>
                <a:latin typeface="Calibri"/>
              </a:rPr>
              <a:t>Share</a:t>
            </a:r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 nacional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0233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2,2%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0233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3,0%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0233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+0,8 </a:t>
            </a:r>
            <a:r>
              <a:rPr lang="pt-BR" sz="1000" b="1" i="0" noProof="0" dirty="0" err="1">
                <a:solidFill>
                  <a:srgbClr val="1F9E5C"/>
                </a:solidFill>
                <a:latin typeface="Calibri"/>
              </a:rPr>
              <a:t>p.p</a:t>
            </a:r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Capacidade total contratada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3891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≈420 mil m³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3891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Otimizada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3891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3B95D3"/>
                </a:solidFill>
                <a:latin typeface="Calibri"/>
              </a:rPr>
              <a:t>−15% ociosidade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75488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Bases ociosas / não rentáveis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7548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4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incl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. estudo)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7548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7548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E61E2D"/>
                </a:solidFill>
                <a:latin typeface="Calibri"/>
              </a:rPr>
              <a:t>−100%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12064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02920" y="51206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Operadores únicos em prioritárias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1206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3 (Crato, Vitória, Teresina)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1206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12064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E68A1A"/>
                </a:solidFill>
                <a:latin typeface="Calibri"/>
              </a:rPr>
              <a:t>−66%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86400"/>
            <a:ext cx="6828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02920" y="54864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Volume B2B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4864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Base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4864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+56%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5486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Δ +56%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852160"/>
            <a:ext cx="682848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502920" y="58521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B3A5F"/>
                </a:solidFill>
                <a:latin typeface="Calibri"/>
              </a:rPr>
              <a:t>Postos REDE/ano (média)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58521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+150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8521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B5894"/>
                </a:solidFill>
                <a:latin typeface="Calibri"/>
              </a:rPr>
              <a:t>+200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8521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1F9E5C"/>
                </a:solidFill>
                <a:latin typeface="Calibri"/>
              </a:rPr>
              <a:t>+33%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7772400"/>
            <a:ext cx="6828480" cy="14173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548640" y="7909560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TRANSFORMAÇÃO EM TRÊS DIMENSÕES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8183880"/>
            <a:ext cx="646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1. CAPACIDADE —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Itajaí destrava SC · pools de escala reduzem capital ocioso ·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phase-outs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eliminam capital improdutivo.</a:t>
            </a:r>
          </a:p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2. CUSTO —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BIDs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renegociados (Suape −18%, São Luís −8,5%) ·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bundling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IPP (−R$3,8 MM até 2027) · ampliações táticas com previsibilidade contratual.</a:t>
            </a:r>
          </a:p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3. POSIÇÃO COMPETITIVA —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BATNAs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construídas onde havia monopólio (OPLA em Paulínia, SPE em Vitória) · Pecém como dupla janela no NE · capilaridade RS/GO via Rede SIM.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5 · Visão ALE 2030  ·  página 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1" name="Picture 25">
            <a:extLst>
              <a:ext uri="{FF2B5EF4-FFF2-40B4-BE49-F238E27FC236}">
                <a16:creationId xmlns:a16="http://schemas.microsoft.com/office/drawing/2014/main" id="{8C8DB071-BB40-C62D-3510-A3A7EC16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3152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E61E2D"/>
                </a:solidFill>
                <a:latin typeface="Calibri"/>
              </a:rPr>
              <a:t>B L O C O   5   ·   R O A D M A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682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noProof="0" dirty="0" err="1">
                <a:solidFill>
                  <a:srgbClr val="1B3A5F"/>
                </a:solidFill>
                <a:latin typeface="Calibri"/>
              </a:rPr>
              <a:t>Roadmap</a:t>
            </a:r>
            <a:r>
              <a:rPr lang="pt-BR" sz="2000" b="1" i="0" noProof="0" dirty="0">
                <a:solidFill>
                  <a:srgbClr val="1B3A5F"/>
                </a:solidFill>
                <a:latin typeface="Calibri"/>
              </a:rPr>
              <a:t> de decisões 2026 → 2028 — gatilhos por trimestre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682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1" noProof="0" dirty="0">
                <a:solidFill>
                  <a:srgbClr val="6B6B6B"/>
                </a:solidFill>
                <a:latin typeface="Calibri"/>
              </a:rPr>
              <a:t>Visão consolidada das decisões CEO/Conselho · dependências externas (ANP, CADE) · marcos contratuais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28480" cy="96012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50" b="1" i="0" spc="200" noProof="0" dirty="0">
                <a:solidFill>
                  <a:srgbClr val="FFFFFF"/>
                </a:solidFill>
                <a:latin typeface="Calibri"/>
              </a:rP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655416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Os próximos 24 meses concentram as decisões estruturantes do plano. Cinco janelas críticas: 2T/26 (aprovações Conselho), 3T/26 (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closings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CADE/ANP), 4T/26 (avaliações Pecém), 1T/27 (formalização </a:t>
            </a:r>
            <a:r>
              <a:rPr lang="pt-BR" sz="1050" b="0" i="0" noProof="0" dirty="0" err="1">
                <a:solidFill>
                  <a:srgbClr val="FFFFFF"/>
                </a:solidFill>
                <a:latin typeface="Calibri"/>
              </a:rPr>
              <a:t>greenfield</a:t>
            </a:r>
            <a:r>
              <a:rPr lang="pt-BR" sz="1050" b="0" i="0" noProof="0" dirty="0">
                <a:solidFill>
                  <a:srgbClr val="FFFFFF"/>
                </a:solidFill>
                <a:latin typeface="Calibri"/>
              </a:rPr>
              <a:t> Itajaí), e 3T/27 (start Pecém + reposicionamento NE). A linha do tempo abaixo mostra o gatilho de cada marco.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5894"/>
                </a:solidFill>
                <a:latin typeface="Calibri"/>
              </a:rPr>
              <a:t>LINHA DO TEMPO — DECISÕES 2026 →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18688"/>
            <a:ext cx="682848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6828480" cy="914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861648" y="4041648"/>
            <a:ext cx="146304" cy="237744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1F9E5C"/>
                </a:solidFill>
                <a:latin typeface="Calibri"/>
              </a:rPr>
              <a:t>2T/26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Maio - </a:t>
            </a:r>
            <a:r>
              <a:rPr lang="pt-BR" sz="850" b="0" i="1" noProof="0" dirty="0" err="1">
                <a:solidFill>
                  <a:srgbClr val="6B6B6B"/>
                </a:solidFill>
                <a:latin typeface="Calibri"/>
              </a:rPr>
              <a:t>Jun</a:t>
            </a:r>
            <a:endParaRPr lang="pt-BR" sz="850" b="0" i="1" noProof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319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393192" y="4434840"/>
            <a:ext cx="54864" cy="320040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Aprovação Conselho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85270"/>
            <a:ext cx="955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Suape · São Luís 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Açailândia/LEM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Escrituração · protocolo ANP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9728" y="4041648"/>
            <a:ext cx="146304" cy="237744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150384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3B95D3"/>
                </a:solidFill>
                <a:latin typeface="Calibri"/>
              </a:rPr>
              <a:t>3T/26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384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Jul -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3127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Rectangle 24"/>
          <p:cNvSpPr/>
          <p:nvPr/>
        </p:nvSpPr>
        <p:spPr>
          <a:xfrm>
            <a:off x="1531272" y="4434840"/>
            <a:ext cx="54864" cy="320040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64100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Closing</a:t>
            </a:r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 CADE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1000" y="488527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Caxias/EFEN —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Ago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100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Phase Out Uberaba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100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Conclusão · operação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adm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 mantida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1000" y="609904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Belém + Cubatão + Betim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1000" y="635508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Assinatura das minutas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7808" y="4041648"/>
            <a:ext cx="146304" cy="237744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264192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E68A1A"/>
                </a:solidFill>
                <a:latin typeface="Calibri"/>
              </a:rPr>
              <a:t>4T/26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192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Out - Dez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935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ectangle 35"/>
          <p:cNvSpPr/>
          <p:nvPr/>
        </p:nvSpPr>
        <p:spPr>
          <a:xfrm>
            <a:off x="2669352" y="4434840"/>
            <a:ext cx="54864" cy="320040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277908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Pecém DISLUB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080" y="488527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Conclusão avaliação viabilidade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08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Phase Out Bahia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908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Decisão Itabuna × Jequié · execução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9080" y="609904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Itajaí — engenharias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9080" y="635508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Avaliação técnica Grupo Ávila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5888" y="4041648"/>
            <a:ext cx="146304" cy="237744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378000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1B5894"/>
                </a:solidFill>
                <a:latin typeface="Calibri"/>
              </a:rPr>
              <a:t>1T/27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000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Jan - Mar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0743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Rectangle 46"/>
          <p:cNvSpPr/>
          <p:nvPr/>
        </p:nvSpPr>
        <p:spPr>
          <a:xfrm>
            <a:off x="3807432" y="4434840"/>
            <a:ext cx="54864" cy="320040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391716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Itajaí · </a:t>
            </a:r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17160" y="488527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Formalização instrumento contratual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1716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Goiânia · </a:t>
            </a:r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Nexta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1716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Tratativa locador · modelo definido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3968" y="4041648"/>
            <a:ext cx="146304" cy="237744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491808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E61E2D"/>
                </a:solidFill>
                <a:latin typeface="Calibri"/>
              </a:rPr>
              <a:t>2T-4T/27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808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 err="1">
                <a:solidFill>
                  <a:srgbClr val="6B6B6B"/>
                </a:solidFill>
                <a:latin typeface="Calibri"/>
              </a:rPr>
              <a:t>Abr</a:t>
            </a:r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 - Dez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4551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6" name="Rectangle 55"/>
          <p:cNvSpPr/>
          <p:nvPr/>
        </p:nvSpPr>
        <p:spPr>
          <a:xfrm>
            <a:off x="4945512" y="4434840"/>
            <a:ext cx="54864" cy="320040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505524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Maceió + Crato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55240" y="488527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Decisão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phase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-out × manutenção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524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Pecém · start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524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Operacional · Jul/27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52048" y="4041648"/>
            <a:ext cx="146304" cy="237744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6056160" y="3383280"/>
            <a:ext cx="1138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1B3A5F"/>
                </a:solidFill>
                <a:latin typeface="Calibri"/>
              </a:rPr>
              <a:t>2028+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6160" y="3657600"/>
            <a:ext cx="1138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850" b="0" i="1" noProof="0" dirty="0">
                <a:solidFill>
                  <a:srgbClr val="6B6B6B"/>
                </a:solidFill>
                <a:latin typeface="Calibri"/>
              </a:rPr>
              <a:t>Visão 2030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3592" y="4434840"/>
            <a:ext cx="1083216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Rectangle 64"/>
          <p:cNvSpPr/>
          <p:nvPr/>
        </p:nvSpPr>
        <p:spPr>
          <a:xfrm>
            <a:off x="6083592" y="4434840"/>
            <a:ext cx="54864" cy="32004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6193320" y="454456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Vitória · SPE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3320" y="4885270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Terminal </a:t>
            </a:r>
            <a:r>
              <a:rPr lang="pt-BR" sz="800" b="0" i="1" noProof="0" dirty="0" err="1">
                <a:solidFill>
                  <a:srgbClr val="6B6B6B"/>
                </a:solidFill>
                <a:latin typeface="Calibri"/>
              </a:rPr>
              <a:t>greenfield</a:t>
            </a:r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 operacional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3320" y="5321808"/>
            <a:ext cx="95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Pipeline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3320" y="5542451"/>
            <a:ext cx="95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Próximos candidatos · revisão anual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8183879"/>
            <a:ext cx="6828480" cy="105156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1" name="TextBox 70"/>
          <p:cNvSpPr txBox="1"/>
          <p:nvPr/>
        </p:nvSpPr>
        <p:spPr>
          <a:xfrm>
            <a:off x="548640" y="8321039"/>
            <a:ext cx="646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i="0" spc="200" noProof="0" dirty="0">
                <a:solidFill>
                  <a:srgbClr val="1B3A5F"/>
                </a:solidFill>
                <a:latin typeface="Calibri"/>
              </a:rPr>
              <a:t>▸ CINCO JANELAS CRÍTICAS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8595359"/>
            <a:ext cx="646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2T/26: aprovações Conselho destravam fechamentos · 3T/26: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closings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regulatórios (CADE, ANP) · 4T/26: viabilidade Pecém + execução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phase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-out Bahia · 1T/27: formalização Itajaí </a:t>
            </a:r>
            <a:r>
              <a:rPr lang="pt-BR" sz="1000" b="0" i="0" noProof="0" dirty="0" err="1">
                <a:solidFill>
                  <a:srgbClr val="1B3A5F"/>
                </a:solidFill>
                <a:latin typeface="Calibri"/>
              </a:rPr>
              <a:t>greenfield</a:t>
            </a:r>
            <a:r>
              <a:rPr lang="pt-BR" sz="1000" b="0" i="0" noProof="0" dirty="0">
                <a:solidFill>
                  <a:srgbClr val="1B3A5F"/>
                </a:solidFill>
                <a:latin typeface="Calibri"/>
              </a:rPr>
              <a:t> · 2T-4T/27: ciclo decisório Maceió/Crato + start operacional Pecém.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0371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Bloco 5 · </a:t>
            </a:r>
            <a:r>
              <a:rPr lang="pt-BR" sz="750" b="0" i="0" noProof="0" dirty="0" err="1">
                <a:solidFill>
                  <a:srgbClr val="6B6B6B"/>
                </a:solidFill>
                <a:latin typeface="Calibri"/>
              </a:rPr>
              <a:t>Roadmap</a:t>
            </a:r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 por Trimestre  ·  página 47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22240" y="103719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750" b="0" i="0" noProof="0" dirty="0">
                <a:solidFill>
                  <a:srgbClr val="6B6B6B"/>
                </a:solidFill>
                <a:latin typeface="Calibri"/>
              </a:rPr>
              <a:t>Confidencial · DSTL · Maio/2026</a:t>
            </a:r>
          </a:p>
        </p:txBody>
      </p:sp>
      <p:pic>
        <p:nvPicPr>
          <p:cNvPr id="75" name="Picture 25">
            <a:extLst>
              <a:ext uri="{FF2B5EF4-FFF2-40B4-BE49-F238E27FC236}">
                <a16:creationId xmlns:a16="http://schemas.microsoft.com/office/drawing/2014/main" id="{BB7E3D1C-B530-B415-EFC0-1D277C8E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6" y="10334236"/>
            <a:ext cx="1188720" cy="321568"/>
          </a:xfrm>
          <a:prstGeom prst="rect">
            <a:avLst/>
          </a:prstGeom>
        </p:spPr>
      </p:pic>
      <p:sp>
        <p:nvSpPr>
          <p:cNvPr id="76" name="TextBox 16">
            <a:extLst>
              <a:ext uri="{FF2B5EF4-FFF2-40B4-BE49-F238E27FC236}">
                <a16:creationId xmlns:a16="http://schemas.microsoft.com/office/drawing/2014/main" id="{42E148D6-9E3C-E5EE-71B2-CBF562339094}"/>
              </a:ext>
            </a:extLst>
          </p:cNvPr>
          <p:cNvSpPr txBox="1"/>
          <p:nvPr/>
        </p:nvSpPr>
        <p:spPr>
          <a:xfrm>
            <a:off x="502920" y="5975604"/>
            <a:ext cx="95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noProof="0" dirty="0">
                <a:solidFill>
                  <a:srgbClr val="1B3A5F"/>
                </a:solidFill>
                <a:latin typeface="Calibri"/>
              </a:rPr>
              <a:t>Vitória - </a:t>
            </a:r>
            <a:r>
              <a:rPr lang="pt-BR" sz="900" b="1" i="0" noProof="0" dirty="0" err="1">
                <a:solidFill>
                  <a:srgbClr val="1B3A5F"/>
                </a:solidFill>
                <a:latin typeface="Calibri"/>
              </a:rPr>
              <a:t>Otamérica</a:t>
            </a:r>
            <a:endParaRPr lang="pt-BR" sz="900" b="1" i="0" noProof="0" dirty="0">
              <a:solidFill>
                <a:srgbClr val="1B3A5F"/>
              </a:solidFill>
              <a:latin typeface="Calibri"/>
            </a:endParaRP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92C4043A-FCA7-4A0B-6C86-DCEF24D89327}"/>
              </a:ext>
            </a:extLst>
          </p:cNvPr>
          <p:cNvSpPr txBox="1"/>
          <p:nvPr/>
        </p:nvSpPr>
        <p:spPr>
          <a:xfrm>
            <a:off x="502920" y="6355080"/>
            <a:ext cx="95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800" b="0" i="1" noProof="0" dirty="0">
                <a:solidFill>
                  <a:srgbClr val="6B6B6B"/>
                </a:solidFill>
                <a:latin typeface="Calibri"/>
              </a:rPr>
              <a:t>Ampliação Operacional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9144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7132320"/>
            <a:ext cx="7560000" cy="548640"/>
          </a:xfrm>
          <a:prstGeom prst="rect">
            <a:avLst/>
          </a:prstGeom>
          <a:solidFill>
            <a:srgbClr val="1B5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1" i="0" spc="200" noProof="0" dirty="0">
                <a:solidFill>
                  <a:srgbClr val="3B95D3"/>
                </a:solidFill>
                <a:latin typeface="Calibri"/>
              </a:rPr>
              <a:t>PLANO DIRETOR DE INFRAESTRUTURA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682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plano avança em ritmo equilibrado.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6828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FFFFFF"/>
                </a:solidFill>
                <a:latin typeface="Calibri"/>
              </a:rPr>
              <a:t>Execução, ritmo e oportunidade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6828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200" b="1" i="0" noProof="0" dirty="0">
                <a:solidFill>
                  <a:srgbClr val="C8D8EC"/>
                </a:solidFill>
                <a:latin typeface="Calibri"/>
              </a:rPr>
              <a:t>compõem o ciclo da malha logística da 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5600" y="4754880"/>
            <a:ext cx="1828800" cy="45720"/>
          </a:xfrm>
          <a:prstGeom prst="rect">
            <a:avLst/>
          </a:prstGeom>
          <a:solidFill>
            <a:srgbClr val="E6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365760" y="5212080"/>
            <a:ext cx="2154240" cy="822960"/>
          </a:xfrm>
          <a:prstGeom prst="rect">
            <a:avLst/>
          </a:prstGeom>
          <a:solidFill>
            <a:srgbClr val="1F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5303520"/>
            <a:ext cx="215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spc="300" noProof="0" dirty="0">
                <a:solidFill>
                  <a:srgbClr val="FFFFFF"/>
                </a:solidFill>
                <a:latin typeface="Calibri"/>
              </a:rPr>
              <a:t>NOVOS NEGÓCIOS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23560"/>
            <a:ext cx="215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9 frentes ofensivas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2880" y="5212080"/>
            <a:ext cx="2154240" cy="822960"/>
          </a:xfrm>
          <a:prstGeom prst="rect">
            <a:avLst/>
          </a:prstGeom>
          <a:solidFill>
            <a:srgbClr val="3B9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702880" y="5303520"/>
            <a:ext cx="215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spc="300" noProof="0" dirty="0">
                <a:solidFill>
                  <a:srgbClr val="FFFFFF"/>
                </a:solidFill>
                <a:latin typeface="Calibri"/>
              </a:rPr>
              <a:t>NOVAS IDEIAS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2880" y="5623560"/>
            <a:ext cx="215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13 frentes em maturação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5212080"/>
            <a:ext cx="2154240" cy="822960"/>
          </a:xfrm>
          <a:prstGeom prst="rect">
            <a:avLst/>
          </a:prstGeom>
          <a:solidFill>
            <a:srgbClr val="E6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040000" y="5303520"/>
            <a:ext cx="215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100" b="1" i="0" spc="300" noProof="0" dirty="0">
                <a:solidFill>
                  <a:srgbClr val="FFFFFF"/>
                </a:solidFill>
                <a:latin typeface="Calibri"/>
              </a:rPr>
              <a:t>CORAGEM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5623560"/>
            <a:ext cx="215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FFFFFF"/>
                </a:solidFill>
                <a:latin typeface="Calibri"/>
              </a:rPr>
              <a:t>Pipeline contínuo de não rentáveis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9098280"/>
            <a:ext cx="682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200" b="1" i="0" spc="400" noProof="0" dirty="0">
                <a:solidFill>
                  <a:srgbClr val="3B95D3"/>
                </a:solidFill>
                <a:latin typeface="Calibri"/>
              </a:rPr>
              <a:t>I N F R A E S T R U T U R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9692640"/>
            <a:ext cx="6828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C8D8EC"/>
                </a:solidFill>
                <a:latin typeface="Calibri"/>
              </a:rPr>
              <a:t>Maio / 2026  ·  Confidencial  ·  DSTL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9985248"/>
            <a:ext cx="682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200" b="0" i="1" noProof="0" dirty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pic>
        <p:nvPicPr>
          <p:cNvPr id="24" name="Picture 25">
            <a:extLst>
              <a:ext uri="{FF2B5EF4-FFF2-40B4-BE49-F238E27FC236}">
                <a16:creationId xmlns:a16="http://schemas.microsoft.com/office/drawing/2014/main" id="{128A1395-C4EC-CCFA-B91C-030E2B9C9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91" y="7845552"/>
            <a:ext cx="2985011" cy="807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14317</Words>
  <Application>Microsoft Office PowerPoint</Application>
  <PresentationFormat>Personalizar</PresentationFormat>
  <Paragraphs>1874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Mendes, Rodrigo (Sao Paulo - BR)</cp:lastModifiedBy>
  <cp:revision>16</cp:revision>
  <dcterms:created xsi:type="dcterms:W3CDTF">2013-01-27T09:14:16Z</dcterms:created>
  <dcterms:modified xsi:type="dcterms:W3CDTF">2026-05-27T14:41:36Z</dcterms:modified>
  <cp:category/>
</cp:coreProperties>
</file>